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>
            <a:extLst>
              <a:ext uri="{FF2B5EF4-FFF2-40B4-BE49-F238E27FC236}">
                <a16:creationId xmlns:a16="http://schemas.microsoft.com/office/drawing/2014/main" id="{C54833D1-39DE-3036-8F4F-45BB466727BC}"/>
              </a:ext>
            </a:extLst>
          </p:cNvPr>
          <p:cNvSpPr/>
          <p:nvPr/>
        </p:nvSpPr>
        <p:spPr>
          <a:xfrm>
            <a:off x="7979630" y="1313430"/>
            <a:ext cx="3913373" cy="28663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tIns="365760" rtlCol="0" anchor="t" anchorCtr="0"/>
          <a:lstStyle/>
          <a:p>
            <a:pPr marL="0" marR="0" lvl="0" indent="0" algn="l" defTabSz="121898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60000"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"/>
                <a:ea typeface="ＭＳ Ｐゴシック"/>
                <a:cs typeface="Helvetica"/>
              </a:rPr>
              <a:t>Unified and friendly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SemiBold"/>
                <a:ea typeface="ＭＳ Ｐゴシック"/>
                <a:cs typeface="Helvetica"/>
              </a:rPr>
              <a:t>Partner experience</a:t>
            </a:r>
          </a:p>
          <a:p>
            <a:pPr marL="0" marR="0" lvl="0" indent="0" algn="l" defTabSz="121898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60000"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SemiBold"/>
                <a:ea typeface="ＭＳ Ｐゴシック"/>
                <a:cs typeface="Helvetica"/>
              </a:rPr>
              <a:t>Increased business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"/>
                <a:ea typeface="ＭＳ Ｐゴシック"/>
                <a:cs typeface="Helvetica"/>
              </a:rPr>
              <a:t>via Partner network</a:t>
            </a:r>
          </a:p>
          <a:p>
            <a:pPr marL="0" marR="0" lvl="0" indent="0" algn="l" defTabSz="121898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60000"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"/>
                <a:ea typeface="ＭＳ Ｐゴシック"/>
                <a:cs typeface="Helvetica"/>
              </a:rPr>
              <a:t>Reduced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SemiBold"/>
                <a:ea typeface="ＭＳ Ｐゴシック"/>
                <a:cs typeface="Helvetica"/>
              </a:rPr>
              <a:t>delays and inaccuracies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"/>
                <a:ea typeface="ＭＳ Ｐゴシック"/>
                <a:cs typeface="Helvetica"/>
              </a:rPr>
              <a:t>in payments and accruals</a:t>
            </a:r>
          </a:p>
          <a:p>
            <a:pPr marL="0" marR="0" lvl="0" indent="0" algn="l" defTabSz="121898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60000"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"/>
                <a:ea typeface="ＭＳ Ｐゴシック"/>
                <a:cs typeface="Helvetica"/>
              </a:rPr>
              <a:t>Reduced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SemiBold"/>
                <a:ea typeface="ＭＳ Ｐゴシック"/>
                <a:cs typeface="Helvetica"/>
              </a:rPr>
              <a:t>operational cost and increased scalability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388EF0-553C-F882-F910-CE15624E98C6}"/>
              </a:ext>
            </a:extLst>
          </p:cNvPr>
          <p:cNvSpPr txBox="1"/>
          <p:nvPr/>
        </p:nvSpPr>
        <p:spPr>
          <a:xfrm>
            <a:off x="533376" y="261860"/>
            <a:ext cx="6583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 SemiBold"/>
                <a:ea typeface="+mn-ea"/>
                <a:cs typeface="Poppins SemiBold" panose="00000700000000000000" pitchFamily="2" charset="0"/>
              </a:rPr>
              <a:t>Data Engineering Solution</a:t>
            </a:r>
            <a:endParaRPr kumimoji="0" lang="en-IN" sz="2800" b="1" i="0" u="none" strike="noStrike" kern="1200" cap="none" spc="0" normalizeH="0" baseline="0" noProof="0">
              <a:ln>
                <a:noFill/>
              </a:ln>
              <a:solidFill>
                <a:srgbClr val="24255B"/>
              </a:solidFill>
              <a:effectLst/>
              <a:uLnTx/>
              <a:uFillTx/>
              <a:latin typeface="Poppins SemiBold"/>
              <a:ea typeface="+mn-ea"/>
              <a:cs typeface="Poppins SemiBold" panose="00000700000000000000" pitchFamily="2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66BA24D-3DB2-F805-B188-E08F18E2C851}"/>
              </a:ext>
            </a:extLst>
          </p:cNvPr>
          <p:cNvCxnSpPr/>
          <p:nvPr/>
        </p:nvCxnSpPr>
        <p:spPr>
          <a:xfrm>
            <a:off x="492475" y="243840"/>
            <a:ext cx="0" cy="559260"/>
          </a:xfrm>
          <a:prstGeom prst="line">
            <a:avLst/>
          </a:prstGeom>
          <a:ln w="57150">
            <a:solidFill>
              <a:srgbClr val="DB5D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C19108A-E0E8-2E32-8AA3-45967D3FADC4}"/>
              </a:ext>
            </a:extLst>
          </p:cNvPr>
          <p:cNvSpPr/>
          <p:nvPr/>
        </p:nvSpPr>
        <p:spPr>
          <a:xfrm>
            <a:off x="472214" y="973730"/>
            <a:ext cx="7111893" cy="956142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78862-6E71-4D02-0CE7-CAE830D5432C}"/>
              </a:ext>
            </a:extLst>
          </p:cNvPr>
          <p:cNvSpPr txBox="1"/>
          <p:nvPr/>
        </p:nvSpPr>
        <p:spPr>
          <a:xfrm>
            <a:off x="472214" y="1048294"/>
            <a:ext cx="71118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"/>
                <a:ea typeface="+mn-ea"/>
                <a:cs typeface="Calibri" panose="020F0502020204030204" pitchFamily="34" charset="0"/>
              </a:rPr>
              <a:t>Project Overview: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"/>
                <a:ea typeface="+mn-ea"/>
                <a:cs typeface="+mn-cs"/>
              </a:rPr>
              <a:t>A leading technology company faced several challenges in automating the rebate and payment process for VIP Annuity partners and automating the accruals for finance forecasting. The client was looking for a partner with expertise in data engineering solutions to automate partner rebates, payments, and accruals for finance forecasting. 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88934F5-5031-A0A1-6592-858EBC3898EE}"/>
              </a:ext>
            </a:extLst>
          </p:cNvPr>
          <p:cNvGrpSpPr/>
          <p:nvPr/>
        </p:nvGrpSpPr>
        <p:grpSpPr>
          <a:xfrm>
            <a:off x="7738109" y="973730"/>
            <a:ext cx="2979921" cy="658812"/>
            <a:chOff x="7555266" y="1214168"/>
            <a:chExt cx="2979921" cy="658812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88866856-EC47-D956-BC9F-9AA5F9CBA51D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752B2F7-8E64-BE46-ACB9-495CECBDC188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3B3859-C647-9ED5-8B94-894C83F3CCEF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 VALUE DELIVERED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348E487-F2E0-6C59-1F9D-244CD6EC67D4}"/>
              </a:ext>
            </a:extLst>
          </p:cNvPr>
          <p:cNvSpPr/>
          <p:nvPr/>
        </p:nvSpPr>
        <p:spPr bwMode="auto">
          <a:xfrm>
            <a:off x="7979874" y="4698255"/>
            <a:ext cx="3913129" cy="178337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86B9D8-B0FE-CDD7-E71A-16B3A33DEBE5}"/>
              </a:ext>
            </a:extLst>
          </p:cNvPr>
          <p:cNvGrpSpPr/>
          <p:nvPr/>
        </p:nvGrpSpPr>
        <p:grpSpPr>
          <a:xfrm>
            <a:off x="7738108" y="4337544"/>
            <a:ext cx="2979921" cy="658812"/>
            <a:chOff x="7555266" y="1214168"/>
            <a:chExt cx="2979921" cy="658812"/>
          </a:xfrm>
        </p:grpSpPr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0EE5DDDC-00B9-531D-25AC-64029CCC0427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ight Triangle 19">
              <a:extLst>
                <a:ext uri="{FF2B5EF4-FFF2-40B4-BE49-F238E27FC236}">
                  <a16:creationId xmlns:a16="http://schemas.microsoft.com/office/drawing/2014/main" id="{50BA9752-25AD-041D-0B62-781421595E0C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524D2D-8217-7C16-DF10-230B59011AB0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"/>
                  <a:ea typeface="+mn-ea"/>
                  <a:cs typeface="+mn-cs"/>
                </a:rPr>
                <a:t>TOOLS UTILIZED 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C7DFE4E-AEE0-4825-95E0-649C92F9479E}"/>
              </a:ext>
            </a:extLst>
          </p:cNvPr>
          <p:cNvSpPr/>
          <p:nvPr/>
        </p:nvSpPr>
        <p:spPr>
          <a:xfrm>
            <a:off x="4078960" y="2900336"/>
            <a:ext cx="3505147" cy="121737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Develop a robust data integration process to consolidate data from multiple sources into a single data repository/data warehouse using 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AWS glue, Redshift 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which is designed to accommodate the specific requirements of the rebate computation process.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0F612A-83EF-A5CD-CB60-48FCEC603798}"/>
              </a:ext>
            </a:extLst>
          </p:cNvPr>
          <p:cNvSpPr/>
          <p:nvPr/>
        </p:nvSpPr>
        <p:spPr>
          <a:xfrm>
            <a:off x="448778" y="2900335"/>
            <a:ext cx="3505147" cy="121737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Establish a data governance framework to ensure that the data used for rebate computation is accurate, consistent, and trustworthy.</a:t>
            </a:r>
          </a:p>
        </p:txBody>
      </p:sp>
      <p:pic>
        <p:nvPicPr>
          <p:cNvPr id="25" name="Picture 24" descr="Text&#10;&#10;Description automatically generated">
            <a:extLst>
              <a:ext uri="{FF2B5EF4-FFF2-40B4-BE49-F238E27FC236}">
                <a16:creationId xmlns:a16="http://schemas.microsoft.com/office/drawing/2014/main" id="{DB860D95-D79D-0635-012D-7441037BDC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74" b="23655"/>
          <a:stretch/>
        </p:blipFill>
        <p:spPr>
          <a:xfrm>
            <a:off x="9706473" y="5789310"/>
            <a:ext cx="1337992" cy="53658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3EF9C6A-6F27-DA78-7BC1-94DAC2015651}"/>
              </a:ext>
            </a:extLst>
          </p:cNvPr>
          <p:cNvSpPr/>
          <p:nvPr/>
        </p:nvSpPr>
        <p:spPr>
          <a:xfrm>
            <a:off x="4073986" y="4750252"/>
            <a:ext cx="3505147" cy="178337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Integrate various sources of data for the enriched data to be stored in Amazon Redshift as the single source of truth for all partner and rebate-related data using 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 AWS 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Athena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to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analyze the data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 enabling consumption by various other systems 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Utilized Tableau to provide insights into the data  supporting business decision-making.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84C934-EF11-3F27-17B9-E4E3ADCD61B7}"/>
              </a:ext>
            </a:extLst>
          </p:cNvPr>
          <p:cNvSpPr/>
          <p:nvPr/>
        </p:nvSpPr>
        <p:spPr>
          <a:xfrm>
            <a:off x="443804" y="4750251"/>
            <a:ext cx="3505147" cy="178337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Implement a data quality monitoring process using 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AWS Cloud watch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to ensure that the data is of high quality and meets the necessary standards for accuracy and completeness.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The process includes the identification and correction of data anomalies, inconsistencies, and errors.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A7B8BE-2C80-547C-6222-6708F04CDA9E}"/>
              </a:ext>
            </a:extLst>
          </p:cNvPr>
          <p:cNvSpPr txBox="1"/>
          <p:nvPr/>
        </p:nvSpPr>
        <p:spPr>
          <a:xfrm>
            <a:off x="442805" y="1978748"/>
            <a:ext cx="3094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RELANTO’S INVOLVEMENT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1DBA921-8F6B-CEA2-A213-5774E2A5A8AE}"/>
              </a:ext>
            </a:extLst>
          </p:cNvPr>
          <p:cNvGrpSpPr/>
          <p:nvPr/>
        </p:nvGrpSpPr>
        <p:grpSpPr>
          <a:xfrm>
            <a:off x="448534" y="2327621"/>
            <a:ext cx="3505147" cy="506676"/>
            <a:chOff x="377675" y="2790487"/>
            <a:chExt cx="3075565" cy="506676"/>
          </a:xfrm>
        </p:grpSpPr>
        <p:sp>
          <p:nvSpPr>
            <p:cNvPr id="59" name="Pentagon 43">
              <a:extLst>
                <a:ext uri="{FF2B5EF4-FFF2-40B4-BE49-F238E27FC236}">
                  <a16:creationId xmlns:a16="http://schemas.microsoft.com/office/drawing/2014/main" id="{8259B0BB-B300-48D6-7915-B90A3730159C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0" name="Pentagon 42">
              <a:extLst>
                <a:ext uri="{FF2B5EF4-FFF2-40B4-BE49-F238E27FC236}">
                  <a16:creationId xmlns:a16="http://schemas.microsoft.com/office/drawing/2014/main" id="{C2073903-097B-F065-3FBE-181AB57BEE8D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Pentagon 40">
              <a:extLst>
                <a:ext uri="{FF2B5EF4-FFF2-40B4-BE49-F238E27FC236}">
                  <a16:creationId xmlns:a16="http://schemas.microsoft.com/office/drawing/2014/main" id="{927F3F68-C72C-D3A2-3490-19C44BC160C5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Data Governance Framework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Calibri" panose="020F050202020403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BFA1927-ADD4-5CFF-F1E7-BECBF0B95D66}"/>
              </a:ext>
            </a:extLst>
          </p:cNvPr>
          <p:cNvGrpSpPr/>
          <p:nvPr/>
        </p:nvGrpSpPr>
        <p:grpSpPr>
          <a:xfrm>
            <a:off x="4078960" y="2327621"/>
            <a:ext cx="3505147" cy="506676"/>
            <a:chOff x="4602706" y="2803376"/>
            <a:chExt cx="3075565" cy="506676"/>
          </a:xfrm>
        </p:grpSpPr>
        <p:sp>
          <p:nvSpPr>
            <p:cNvPr id="63" name="Pentagon 43">
              <a:extLst>
                <a:ext uri="{FF2B5EF4-FFF2-40B4-BE49-F238E27FC236}">
                  <a16:creationId xmlns:a16="http://schemas.microsoft.com/office/drawing/2014/main" id="{40D6541C-C910-1ECF-D80A-A9CDA58EDD0A}"/>
                </a:ext>
              </a:extLst>
            </p:cNvPr>
            <p:cNvSpPr/>
            <p:nvPr/>
          </p:nvSpPr>
          <p:spPr>
            <a:xfrm>
              <a:off x="4784520" y="2803376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Pentagon 42">
              <a:extLst>
                <a:ext uri="{FF2B5EF4-FFF2-40B4-BE49-F238E27FC236}">
                  <a16:creationId xmlns:a16="http://schemas.microsoft.com/office/drawing/2014/main" id="{0367C6F3-12BE-CDE8-C467-CDDA953C73B4}"/>
                </a:ext>
              </a:extLst>
            </p:cNvPr>
            <p:cNvSpPr/>
            <p:nvPr/>
          </p:nvSpPr>
          <p:spPr>
            <a:xfrm>
              <a:off x="4693613" y="280366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5" name="Pentagon 40">
              <a:extLst>
                <a:ext uri="{FF2B5EF4-FFF2-40B4-BE49-F238E27FC236}">
                  <a16:creationId xmlns:a16="http://schemas.microsoft.com/office/drawing/2014/main" id="{DE8EE708-DC75-2D16-6B77-26B04712A37E}"/>
                </a:ext>
              </a:extLst>
            </p:cNvPr>
            <p:cNvSpPr/>
            <p:nvPr/>
          </p:nvSpPr>
          <p:spPr>
            <a:xfrm>
              <a:off x="4602706" y="2803951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Data Integration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3C350BA-F8C1-21C5-63F2-8B60F21953F3}"/>
              </a:ext>
            </a:extLst>
          </p:cNvPr>
          <p:cNvGrpSpPr/>
          <p:nvPr/>
        </p:nvGrpSpPr>
        <p:grpSpPr>
          <a:xfrm>
            <a:off x="448465" y="4179816"/>
            <a:ext cx="3505147" cy="506676"/>
            <a:chOff x="377675" y="2790487"/>
            <a:chExt cx="3075565" cy="506676"/>
          </a:xfrm>
        </p:grpSpPr>
        <p:sp>
          <p:nvSpPr>
            <p:cNvPr id="67" name="Pentagon 43">
              <a:extLst>
                <a:ext uri="{FF2B5EF4-FFF2-40B4-BE49-F238E27FC236}">
                  <a16:creationId xmlns:a16="http://schemas.microsoft.com/office/drawing/2014/main" id="{29D2AD15-A6EF-B6E9-198C-A8FFD1DF72E4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8" name="Pentagon 42">
              <a:extLst>
                <a:ext uri="{FF2B5EF4-FFF2-40B4-BE49-F238E27FC236}">
                  <a16:creationId xmlns:a16="http://schemas.microsoft.com/office/drawing/2014/main" id="{B9C7D73E-1EC6-16B9-8383-477F85DB59E1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9" name="Pentagon 40">
              <a:extLst>
                <a:ext uri="{FF2B5EF4-FFF2-40B4-BE49-F238E27FC236}">
                  <a16:creationId xmlns:a16="http://schemas.microsoft.com/office/drawing/2014/main" id="{3E60C21C-D125-4B5C-5255-F7EFFE11759D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Data Quality Monitoring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773652C-63CD-F188-5E5C-A198D144A851}"/>
              </a:ext>
            </a:extLst>
          </p:cNvPr>
          <p:cNvGrpSpPr/>
          <p:nvPr/>
        </p:nvGrpSpPr>
        <p:grpSpPr>
          <a:xfrm>
            <a:off x="4078960" y="4179816"/>
            <a:ext cx="3500173" cy="506676"/>
            <a:chOff x="4602706" y="2803376"/>
            <a:chExt cx="3075565" cy="506676"/>
          </a:xfrm>
        </p:grpSpPr>
        <p:sp>
          <p:nvSpPr>
            <p:cNvPr id="71" name="Pentagon 43">
              <a:extLst>
                <a:ext uri="{FF2B5EF4-FFF2-40B4-BE49-F238E27FC236}">
                  <a16:creationId xmlns:a16="http://schemas.microsoft.com/office/drawing/2014/main" id="{855E6789-E82D-8452-F817-EA3AFA3C508F}"/>
                </a:ext>
              </a:extLst>
            </p:cNvPr>
            <p:cNvSpPr/>
            <p:nvPr/>
          </p:nvSpPr>
          <p:spPr>
            <a:xfrm>
              <a:off x="4784520" y="2803376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Pentagon 42">
              <a:extLst>
                <a:ext uri="{FF2B5EF4-FFF2-40B4-BE49-F238E27FC236}">
                  <a16:creationId xmlns:a16="http://schemas.microsoft.com/office/drawing/2014/main" id="{C43F3AFB-A349-421D-2AE4-30B030030239}"/>
                </a:ext>
              </a:extLst>
            </p:cNvPr>
            <p:cNvSpPr/>
            <p:nvPr/>
          </p:nvSpPr>
          <p:spPr>
            <a:xfrm>
              <a:off x="4693613" y="280366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Pentagon 40">
              <a:extLst>
                <a:ext uri="{FF2B5EF4-FFF2-40B4-BE49-F238E27FC236}">
                  <a16:creationId xmlns:a16="http://schemas.microsoft.com/office/drawing/2014/main" id="{CB06BD91-0C1D-D012-7824-B60B81CBF196}"/>
                </a:ext>
              </a:extLst>
            </p:cNvPr>
            <p:cNvSpPr/>
            <p:nvPr/>
          </p:nvSpPr>
          <p:spPr>
            <a:xfrm>
              <a:off x="4602706" y="2803951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Rebate Computation</a:t>
              </a:r>
            </a:p>
          </p:txBody>
        </p:sp>
      </p:grpSp>
      <p:pic>
        <p:nvPicPr>
          <p:cNvPr id="79" name="Graphic 78">
            <a:extLst>
              <a:ext uri="{FF2B5EF4-FFF2-40B4-BE49-F238E27FC236}">
                <a16:creationId xmlns:a16="http://schemas.microsoft.com/office/drawing/2014/main" id="{7FC1B402-2F4B-F0E0-B9F5-A08EF5DD2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646" y="1494026"/>
            <a:ext cx="653999" cy="653999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A2032984-FE39-916E-2246-AF3A52C878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2231" y="2076751"/>
            <a:ext cx="745048" cy="745048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4FEB5371-FF66-187F-816B-5CAC4A8879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79630" y="2661129"/>
            <a:ext cx="787207" cy="787207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58811446-047C-4697-3F16-18A539373E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2231" y="3286547"/>
            <a:ext cx="745048" cy="745048"/>
          </a:xfrm>
          <a:prstGeom prst="rect">
            <a:avLst/>
          </a:prstGeom>
        </p:spPr>
      </p:pic>
      <p:pic>
        <p:nvPicPr>
          <p:cNvPr id="4" name="Picture 4" descr="AWS Glue AWS Compute, 58% OFF">
            <a:extLst>
              <a:ext uri="{FF2B5EF4-FFF2-40B4-BE49-F238E27FC236}">
                <a16:creationId xmlns:a16="http://schemas.microsoft.com/office/drawing/2014/main" id="{8A77E41C-43EA-073F-DAA9-CB945ED6FF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9" t="11294" r="30546" b="22541"/>
          <a:stretch/>
        </p:blipFill>
        <p:spPr bwMode="auto">
          <a:xfrm>
            <a:off x="8160784" y="4918160"/>
            <a:ext cx="606053" cy="826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Toric + Amazon Redshift | Data Integration">
            <a:extLst>
              <a:ext uri="{FF2B5EF4-FFF2-40B4-BE49-F238E27FC236}">
                <a16:creationId xmlns:a16="http://schemas.microsoft.com/office/drawing/2014/main" id="{DEDF20D6-B407-AEEA-DB24-8643D52FB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6" t="11420" r="4549" b="13221"/>
          <a:stretch/>
        </p:blipFill>
        <p:spPr bwMode="auto">
          <a:xfrm>
            <a:off x="9008603" y="5022488"/>
            <a:ext cx="1276209" cy="53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42EBCF-7F35-16AB-E4C9-069C3406A9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7077" y="5803094"/>
            <a:ext cx="1285668" cy="522803"/>
          </a:xfrm>
          <a:prstGeom prst="rect">
            <a:avLst/>
          </a:prstGeom>
        </p:spPr>
      </p:pic>
      <p:pic>
        <p:nvPicPr>
          <p:cNvPr id="3076" name="Picture 4" descr="AWS CloudWatch Online Test to Assess &amp; Hire AWS Developer">
            <a:extLst>
              <a:ext uri="{FF2B5EF4-FFF2-40B4-BE49-F238E27FC236}">
                <a16:creationId xmlns:a16="http://schemas.microsoft.com/office/drawing/2014/main" id="{922DF823-1221-6608-C979-5230CDA29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270" y="4974671"/>
            <a:ext cx="830879" cy="76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