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4AFFE631-1954-759E-ACAF-68BF8D234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562" y="210311"/>
            <a:ext cx="10052329" cy="701553"/>
          </a:xfrm>
        </p:spPr>
        <p:txBody>
          <a:bodyPr>
            <a:noAutofit/>
          </a:bodyPr>
          <a:lstStyle/>
          <a:p>
            <a:r>
              <a:rPr lang="en-IN" sz="2400" dirty="0"/>
              <a:t>E</a:t>
            </a:r>
            <a:r>
              <a:rPr lang="en-US" sz="2400" dirty="0" err="1"/>
              <a:t>nhancing</a:t>
            </a:r>
            <a:r>
              <a:rPr lang="en-US" sz="2400" dirty="0"/>
              <a:t> Data Management Efficiency with Automation &amp; AI</a:t>
            </a:r>
            <a:endParaRPr lang="en-IN" sz="24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91A48BB-2493-1F48-6641-E00E36E22FAC}"/>
              </a:ext>
            </a:extLst>
          </p:cNvPr>
          <p:cNvSpPr/>
          <p:nvPr/>
        </p:nvSpPr>
        <p:spPr>
          <a:xfrm>
            <a:off x="467272" y="2304040"/>
            <a:ext cx="3570722" cy="3880529"/>
          </a:xfrm>
          <a:prstGeom prst="roundRect">
            <a:avLst>
              <a:gd name="adj" fmla="val 1173"/>
            </a:avLst>
          </a:prstGeom>
          <a:solidFill>
            <a:srgbClr val="F1F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marR="0" lvl="0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Poppins"/>
                <a:ea typeface="Calibri" panose="020F0502020204030204" pitchFamily="34" charset="0"/>
                <a:cs typeface="Poppins"/>
              </a:rPr>
              <a:t>Data Quality Issues: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Poppins"/>
                <a:ea typeface="Calibri" panose="020F0502020204030204" pitchFamily="34" charset="0"/>
                <a:cs typeface="Poppins"/>
              </a:rPr>
              <a:t> Inconsistent, duplicate, and missing data led to inaccurate risk models and unreliable insights. Traditional data cleansing methods were reactive, slowing down analytics and decision-making.</a:t>
            </a:r>
          </a:p>
          <a:p>
            <a:pPr marL="171450" marR="0" lvl="0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Poppins"/>
              <a:ea typeface="Calibri" panose="020F0502020204030204" pitchFamily="34" charset="0"/>
              <a:cs typeface="Poppin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Poppins"/>
                <a:ea typeface="Calibri" panose="020F0502020204030204" pitchFamily="34" charset="0"/>
                <a:cs typeface="Poppins"/>
              </a:rPr>
              <a:t>Siloed &amp; Inefficient Data Access: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Poppins"/>
                <a:ea typeface="Calibri" panose="020F0502020204030204" pitchFamily="34" charset="0"/>
                <a:cs typeface="Poppins"/>
              </a:rPr>
              <a:t>Business users faced delays in accessing governed datasets, slowing AI and analytics adoption. Role-based access controls were manually configured, increasing security risks.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Poppins"/>
              <a:ea typeface="Calibri" panose="020F0502020204030204" pitchFamily="34" charset="0"/>
              <a:cs typeface="Poppin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Poppins"/>
                <a:ea typeface="Calibri" panose="020F0502020204030204" pitchFamily="34" charset="0"/>
                <a:cs typeface="Poppins"/>
              </a:rPr>
              <a:t>Operational Inefficiency: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Poppins"/>
                <a:ea typeface="Calibri" panose="020F0502020204030204" pitchFamily="34" charset="0"/>
                <a:cs typeface="Poppins"/>
              </a:rPr>
              <a:t> Data teams spent excessive time building ad-hoc pipelines instead of focusing on innovation. Compliance reporting required extensive manual efforts, increasing operational costs.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D6F25D1-C936-5AC0-8CDA-B10D6475BE78}"/>
              </a:ext>
            </a:extLst>
          </p:cNvPr>
          <p:cNvSpPr/>
          <p:nvPr/>
        </p:nvSpPr>
        <p:spPr>
          <a:xfrm>
            <a:off x="4137482" y="2296311"/>
            <a:ext cx="3976577" cy="3889336"/>
          </a:xfrm>
          <a:prstGeom prst="roundRect">
            <a:avLst>
              <a:gd name="adj" fmla="val 1203"/>
            </a:avLst>
          </a:prstGeom>
          <a:solidFill>
            <a:srgbClr val="F1F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marR="0" lvl="0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Deployed AI-driven anomaly detection using Great Expectations &amp; Talend to auto-flag missing or incorrect data.</a:t>
            </a:r>
          </a:p>
          <a:p>
            <a:pPr marL="171450" marR="0" lvl="0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Poppins"/>
              <a:ea typeface="+mn-lt"/>
              <a:cs typeface="Poppin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Used ML-powered data profiling to enforce data validation rules and detect duplicate entries.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Poppins"/>
              <a:ea typeface="+mn-lt"/>
              <a:cs typeface="Poppin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Developed template-based pipelines in Terraform &amp; Snowflake to accelerate onboarding of new datasets.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Enabled Data Mesh architecture to allow teams to self-serve governed datasets securely.</a:t>
            </a:r>
          </a:p>
          <a:p>
            <a:pPr marL="171450" marR="0" lvl="0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Deployed AI-driven audit logs to track data lineage, ensuring full transparency for regulators.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7024A1C-FA40-2763-8715-5C609BD78A11}"/>
              </a:ext>
            </a:extLst>
          </p:cNvPr>
          <p:cNvSpPr/>
          <p:nvPr/>
        </p:nvSpPr>
        <p:spPr>
          <a:xfrm>
            <a:off x="8801245" y="2512970"/>
            <a:ext cx="640080" cy="64008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F9B9EA5-B9DD-1247-8C05-30DE19307FCF}"/>
              </a:ext>
            </a:extLst>
          </p:cNvPr>
          <p:cNvSpPr/>
          <p:nvPr/>
        </p:nvSpPr>
        <p:spPr>
          <a:xfrm>
            <a:off x="8787597" y="3615735"/>
            <a:ext cx="640080" cy="64008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5FDC39A-C61D-CF63-E711-0CFCC0B60AD6}"/>
              </a:ext>
            </a:extLst>
          </p:cNvPr>
          <p:cNvSpPr/>
          <p:nvPr/>
        </p:nvSpPr>
        <p:spPr>
          <a:xfrm>
            <a:off x="8801245" y="4218894"/>
            <a:ext cx="640080" cy="64008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F99AF00-2ABC-4E2F-48A2-A6D093D87C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2032" y="1483817"/>
            <a:ext cx="393700" cy="4572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840DE69-D718-AD9E-C6EE-CE63E37869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7105" y="2618830"/>
            <a:ext cx="450850" cy="45085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0234290-2553-7CDE-BC3B-31A705748F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0150" y="3684542"/>
            <a:ext cx="437464" cy="524957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E765B161-AD4E-9808-C4A0-E2383A3EB8F0}"/>
              </a:ext>
            </a:extLst>
          </p:cNvPr>
          <p:cNvSpPr/>
          <p:nvPr/>
        </p:nvSpPr>
        <p:spPr bwMode="auto">
          <a:xfrm>
            <a:off x="8410316" y="1320754"/>
            <a:ext cx="3487448" cy="27978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52A1153-731E-C145-3CA5-8E543BC717B5}"/>
              </a:ext>
            </a:extLst>
          </p:cNvPr>
          <p:cNvGrpSpPr/>
          <p:nvPr/>
        </p:nvGrpSpPr>
        <p:grpSpPr>
          <a:xfrm>
            <a:off x="8168548" y="960041"/>
            <a:ext cx="2979921" cy="658812"/>
            <a:chOff x="7555266" y="1214168"/>
            <a:chExt cx="2979921" cy="658812"/>
          </a:xfrm>
        </p:grpSpPr>
        <p:sp>
          <p:nvSpPr>
            <p:cNvPr id="32" name="Right Triangle 31">
              <a:extLst>
                <a:ext uri="{FF2B5EF4-FFF2-40B4-BE49-F238E27FC236}">
                  <a16:creationId xmlns:a16="http://schemas.microsoft.com/office/drawing/2014/main" id="{9D3ADEE1-16B3-741D-7748-ACE686C3247C}"/>
                </a:ext>
              </a:extLst>
            </p:cNvPr>
            <p:cNvSpPr/>
            <p:nvPr/>
          </p:nvSpPr>
          <p:spPr bwMode="auto">
            <a:xfrm>
              <a:off x="10287623" y="1224031"/>
              <a:ext cx="247564" cy="350848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Right Triangle 32">
              <a:extLst>
                <a:ext uri="{FF2B5EF4-FFF2-40B4-BE49-F238E27FC236}">
                  <a16:creationId xmlns:a16="http://schemas.microsoft.com/office/drawing/2014/main" id="{D212B23E-9ACA-5CE0-F151-32D35F88B4FC}"/>
                </a:ext>
              </a:extLst>
            </p:cNvPr>
            <p:cNvSpPr/>
            <p:nvPr/>
          </p:nvSpPr>
          <p:spPr bwMode="auto">
            <a:xfrm rot="10800000">
              <a:off x="7555266" y="1683704"/>
              <a:ext cx="247564" cy="189276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9694669-5B47-F956-5F20-6C33051A1BFE}"/>
                </a:ext>
              </a:extLst>
            </p:cNvPr>
            <p:cNvSpPr/>
            <p:nvPr/>
          </p:nvSpPr>
          <p:spPr bwMode="auto">
            <a:xfrm>
              <a:off x="7555266" y="1214168"/>
              <a:ext cx="2732357" cy="469537"/>
            </a:xfrm>
            <a:prstGeom prst="rect">
              <a:avLst/>
            </a:prstGeom>
            <a:solidFill>
              <a:srgbClr val="39C1BF"/>
            </a:solidFill>
            <a:ln w="9525">
              <a:noFill/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 Value Delivered</a:t>
              </a: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+mn-cs"/>
              </a:endParaRPr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F03C214E-4CE6-8C9E-823F-1C9DB6FEDEE6}"/>
              </a:ext>
            </a:extLst>
          </p:cNvPr>
          <p:cNvSpPr/>
          <p:nvPr/>
        </p:nvSpPr>
        <p:spPr>
          <a:xfrm>
            <a:off x="467272" y="938034"/>
            <a:ext cx="7646787" cy="675999"/>
          </a:xfrm>
          <a:prstGeom prst="rect">
            <a:avLst/>
          </a:prstGeom>
          <a:solidFill>
            <a:srgbClr val="002E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rtlCol="0" anchor="t" anchorCtr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Calibri"/>
              </a:rPr>
              <a:t>Project Overview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Calibri"/>
              </a:rPr>
              <a:t>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A leading hi-tech organization wanted to s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treamline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 data management, improve data quality, and enable AI-driven decision-making through automation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/>
              <a:ea typeface="+mn-lt"/>
              <a:cs typeface="Poppin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77C5270-CE80-E238-11CF-1FF10463CB00}"/>
              </a:ext>
            </a:extLst>
          </p:cNvPr>
          <p:cNvGrpSpPr/>
          <p:nvPr/>
        </p:nvGrpSpPr>
        <p:grpSpPr>
          <a:xfrm>
            <a:off x="4143849" y="1785896"/>
            <a:ext cx="3976577" cy="506676"/>
            <a:chOff x="4602706" y="2803376"/>
            <a:chExt cx="3075565" cy="506676"/>
          </a:xfrm>
        </p:grpSpPr>
        <p:sp>
          <p:nvSpPr>
            <p:cNvPr id="42" name="Pentagon 43">
              <a:extLst>
                <a:ext uri="{FF2B5EF4-FFF2-40B4-BE49-F238E27FC236}">
                  <a16:creationId xmlns:a16="http://schemas.microsoft.com/office/drawing/2014/main" id="{D33651A3-3147-7882-B1F6-C8268B6C4EA1}"/>
                </a:ext>
              </a:extLst>
            </p:cNvPr>
            <p:cNvSpPr/>
            <p:nvPr/>
          </p:nvSpPr>
          <p:spPr>
            <a:xfrm>
              <a:off x="4784520" y="2803376"/>
              <a:ext cx="2893751" cy="506101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3" name="Pentagon 42">
              <a:extLst>
                <a:ext uri="{FF2B5EF4-FFF2-40B4-BE49-F238E27FC236}">
                  <a16:creationId xmlns:a16="http://schemas.microsoft.com/office/drawing/2014/main" id="{16BB7651-41C1-4E42-C8E5-723EB9E55936}"/>
                </a:ext>
              </a:extLst>
            </p:cNvPr>
            <p:cNvSpPr/>
            <p:nvPr/>
          </p:nvSpPr>
          <p:spPr>
            <a:xfrm>
              <a:off x="4693613" y="2803664"/>
              <a:ext cx="2893751" cy="506101"/>
            </a:xfrm>
            <a:prstGeom prst="roundRect">
              <a:avLst/>
            </a:prstGeom>
            <a:solidFill>
              <a:srgbClr val="002E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4" name="Pentagon 40">
              <a:extLst>
                <a:ext uri="{FF2B5EF4-FFF2-40B4-BE49-F238E27FC236}">
                  <a16:creationId xmlns:a16="http://schemas.microsoft.com/office/drawing/2014/main" id="{84EB82E5-0764-D219-58B6-69019CD0515D}"/>
                </a:ext>
              </a:extLst>
            </p:cNvPr>
            <p:cNvSpPr/>
            <p:nvPr/>
          </p:nvSpPr>
          <p:spPr>
            <a:xfrm>
              <a:off x="4602706" y="2803951"/>
              <a:ext cx="2893751" cy="506101"/>
            </a:xfrm>
            <a:prstGeom prst="roundRect">
              <a:avLst/>
            </a:prstGeom>
            <a:solidFill>
              <a:srgbClr val="9DC3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2E87"/>
                  </a:solidFill>
                  <a:effectLst/>
                  <a:uLnTx/>
                  <a:uFillTx/>
                  <a:latin typeface="Poppins SemiBold"/>
                  <a:ea typeface="+mn-ea"/>
                  <a:cs typeface="+mn-cs"/>
                </a:rPr>
                <a:t>Approach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 SemiBold"/>
                <a:ea typeface="+mn-ea"/>
                <a:cs typeface="+mn-cs"/>
              </a:endParaRP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1B788E7E-F07F-E747-4C33-3EA22E63D96D}"/>
              </a:ext>
            </a:extLst>
          </p:cNvPr>
          <p:cNvSpPr txBox="1"/>
          <p:nvPr/>
        </p:nvSpPr>
        <p:spPr>
          <a:xfrm>
            <a:off x="9146565" y="1709690"/>
            <a:ext cx="263275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70% improvement in data quality issues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40% increase in compliance efficiency	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</a:b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Stronger security and access control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30% Reduction in Operational costs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EE7A756-F65B-D033-8299-C6D23BEEA7F1}"/>
              </a:ext>
            </a:extLst>
          </p:cNvPr>
          <p:cNvSpPr/>
          <p:nvPr/>
        </p:nvSpPr>
        <p:spPr bwMode="auto">
          <a:xfrm>
            <a:off x="8373237" y="4491726"/>
            <a:ext cx="3487448" cy="171525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6E7FD9E-84F0-8049-08F9-AC8C0DE441D9}"/>
              </a:ext>
            </a:extLst>
          </p:cNvPr>
          <p:cNvGrpSpPr/>
          <p:nvPr/>
        </p:nvGrpSpPr>
        <p:grpSpPr>
          <a:xfrm>
            <a:off x="8213547" y="4239113"/>
            <a:ext cx="2979921" cy="658812"/>
            <a:chOff x="7555266" y="1214168"/>
            <a:chExt cx="2979921" cy="658812"/>
          </a:xfrm>
        </p:grpSpPr>
        <p:sp>
          <p:nvSpPr>
            <p:cNvPr id="53" name="Right Triangle 52">
              <a:extLst>
                <a:ext uri="{FF2B5EF4-FFF2-40B4-BE49-F238E27FC236}">
                  <a16:creationId xmlns:a16="http://schemas.microsoft.com/office/drawing/2014/main" id="{1FE8E4DB-5D95-B724-B5A1-BC5300F6D70A}"/>
                </a:ext>
              </a:extLst>
            </p:cNvPr>
            <p:cNvSpPr/>
            <p:nvPr/>
          </p:nvSpPr>
          <p:spPr bwMode="auto">
            <a:xfrm>
              <a:off x="10287623" y="1224031"/>
              <a:ext cx="247564" cy="350848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Right Triangle 53">
              <a:extLst>
                <a:ext uri="{FF2B5EF4-FFF2-40B4-BE49-F238E27FC236}">
                  <a16:creationId xmlns:a16="http://schemas.microsoft.com/office/drawing/2014/main" id="{DFA23BB6-A360-BCE1-CF4D-33BB9313120A}"/>
                </a:ext>
              </a:extLst>
            </p:cNvPr>
            <p:cNvSpPr/>
            <p:nvPr/>
          </p:nvSpPr>
          <p:spPr bwMode="auto">
            <a:xfrm rot="10800000">
              <a:off x="7555266" y="1683704"/>
              <a:ext cx="247564" cy="189276"/>
            </a:xfrm>
            <a:prstGeom prst="rtTriangle">
              <a:avLst/>
            </a:prstGeom>
            <a:solidFill>
              <a:srgbClr val="28888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5058F40-9659-5B59-6958-D5CCFEAE4135}"/>
                </a:ext>
              </a:extLst>
            </p:cNvPr>
            <p:cNvSpPr/>
            <p:nvPr/>
          </p:nvSpPr>
          <p:spPr bwMode="auto">
            <a:xfrm>
              <a:off x="7555266" y="1214168"/>
              <a:ext cx="2732357" cy="469537"/>
            </a:xfrm>
            <a:prstGeom prst="rect">
              <a:avLst/>
            </a:prstGeom>
            <a:solidFill>
              <a:srgbClr val="39C1BF"/>
            </a:solidFill>
            <a:ln w="9525">
              <a:noFill/>
              <a:round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oppins"/>
                  <a:ea typeface="+mn-ea"/>
                  <a:cs typeface="+mn-cs"/>
                </a:rPr>
                <a:t>Tools Utilized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AF31DF5-117E-D3B0-7B47-F85062573684}"/>
              </a:ext>
            </a:extLst>
          </p:cNvPr>
          <p:cNvGrpSpPr/>
          <p:nvPr/>
        </p:nvGrpSpPr>
        <p:grpSpPr>
          <a:xfrm>
            <a:off x="472164" y="1785896"/>
            <a:ext cx="3565830" cy="506676"/>
            <a:chOff x="377675" y="2790487"/>
            <a:chExt cx="3075565" cy="506676"/>
          </a:xfrm>
        </p:grpSpPr>
        <p:sp>
          <p:nvSpPr>
            <p:cNvPr id="17" name="Pentagon 43">
              <a:extLst>
                <a:ext uri="{FF2B5EF4-FFF2-40B4-BE49-F238E27FC236}">
                  <a16:creationId xmlns:a16="http://schemas.microsoft.com/office/drawing/2014/main" id="{C6843284-4057-C730-B17F-B3E3C91C0FCC}"/>
                </a:ext>
              </a:extLst>
            </p:cNvPr>
            <p:cNvSpPr/>
            <p:nvPr/>
          </p:nvSpPr>
          <p:spPr>
            <a:xfrm>
              <a:off x="559489" y="2790487"/>
              <a:ext cx="2893751" cy="506101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" name="Pentagon 42">
              <a:extLst>
                <a:ext uri="{FF2B5EF4-FFF2-40B4-BE49-F238E27FC236}">
                  <a16:creationId xmlns:a16="http://schemas.microsoft.com/office/drawing/2014/main" id="{2FE8D151-3C3D-2B69-FAAB-34E280378E63}"/>
                </a:ext>
              </a:extLst>
            </p:cNvPr>
            <p:cNvSpPr/>
            <p:nvPr/>
          </p:nvSpPr>
          <p:spPr>
            <a:xfrm>
              <a:off x="468582" y="2790775"/>
              <a:ext cx="2893751" cy="506101"/>
            </a:xfrm>
            <a:prstGeom prst="roundRect">
              <a:avLst/>
            </a:prstGeom>
            <a:solidFill>
              <a:srgbClr val="002E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9" name="Pentagon 40">
              <a:extLst>
                <a:ext uri="{FF2B5EF4-FFF2-40B4-BE49-F238E27FC236}">
                  <a16:creationId xmlns:a16="http://schemas.microsoft.com/office/drawing/2014/main" id="{16326CE8-CAFA-4A0D-FA5E-0112E289F9E5}"/>
                </a:ext>
              </a:extLst>
            </p:cNvPr>
            <p:cNvSpPr/>
            <p:nvPr/>
          </p:nvSpPr>
          <p:spPr>
            <a:xfrm>
              <a:off x="377675" y="2791062"/>
              <a:ext cx="2893751" cy="506101"/>
            </a:xfrm>
            <a:prstGeom prst="roundRect">
              <a:avLst/>
            </a:prstGeom>
            <a:solidFill>
              <a:srgbClr val="9DC3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2E87"/>
                  </a:solidFill>
                  <a:effectLst/>
                  <a:uLnTx/>
                  <a:uFillTx/>
                  <a:latin typeface="Poppins SemiBold"/>
                  <a:ea typeface="+mn-ea"/>
                  <a:cs typeface="+mn-cs"/>
                </a:rPr>
                <a:t>Challenges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2E87"/>
                </a:solidFill>
                <a:effectLst/>
                <a:uLnTx/>
                <a:uFillTx/>
                <a:latin typeface="Poppins SemiBold"/>
                <a:ea typeface="+mn-ea"/>
                <a:cs typeface="+mn-cs"/>
              </a:endParaRPr>
            </a:p>
          </p:txBody>
        </p:sp>
      </p:grpSp>
      <p:pic>
        <p:nvPicPr>
          <p:cNvPr id="9" name="Graphic 8">
            <a:extLst>
              <a:ext uri="{FF2B5EF4-FFF2-40B4-BE49-F238E27FC236}">
                <a16:creationId xmlns:a16="http://schemas.microsoft.com/office/drawing/2014/main" id="{8B912CF0-A096-3429-2ED4-E15B0C18B8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97998" y="1614033"/>
            <a:ext cx="598796" cy="598796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7B05B75-A5E2-6A2A-57E6-3A91914DF9A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11939" y="2162413"/>
            <a:ext cx="632307" cy="63230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1C34A5B-9BF5-8748-7F18-C3453030222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08052" y="3468110"/>
            <a:ext cx="640080" cy="64008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33037C3-B1D7-D864-0906-29EBE2E29E4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480746" y="2671091"/>
            <a:ext cx="679866" cy="67986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3B1850F-F2BE-F1C5-08B2-86C580A1F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93098" y="5008214"/>
            <a:ext cx="1183342" cy="457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CB35890-5C31-0E58-9184-9037036E37A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336458" y="5024092"/>
            <a:ext cx="1025754" cy="374795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4806CA0-8FC7-2820-ACB4-51CDE73CA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62868" y="5604306"/>
            <a:ext cx="1457432" cy="382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45AF66BC-3DC6-E8BE-B380-651AA34E6D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79718" y="5632396"/>
            <a:ext cx="1423101" cy="340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