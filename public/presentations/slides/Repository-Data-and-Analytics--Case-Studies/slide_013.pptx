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>
            <a:extLst>
              <a:ext uri="{FF2B5EF4-FFF2-40B4-BE49-F238E27FC236}">
                <a16:creationId xmlns:a16="http://schemas.microsoft.com/office/drawing/2014/main" id="{D4AE1157-7BA7-2C85-6452-7078988BF6D2}"/>
              </a:ext>
            </a:extLst>
          </p:cNvPr>
          <p:cNvSpPr/>
          <p:nvPr/>
        </p:nvSpPr>
        <p:spPr>
          <a:xfrm>
            <a:off x="451524" y="895793"/>
            <a:ext cx="11413440" cy="698993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4BE18-72D2-7CC7-0C7F-3DEC6E8DA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8" y="257992"/>
            <a:ext cx="8244381" cy="559260"/>
          </a:xfrm>
        </p:spPr>
        <p:txBody>
          <a:bodyPr>
            <a:noAutofit/>
          </a:bodyPr>
          <a:lstStyle/>
          <a:p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lang="en-US" b="1">
                <a:latin typeface="Poppins SemiBold"/>
                <a:ea typeface="+mn-ea"/>
                <a:cs typeface="Poppins SemiBold" panose="00000700000000000000" pitchFamily="2" charset="0"/>
              </a:rPr>
              <a:t>Data and Cloud Migration </a:t>
            </a:r>
            <a:br>
              <a:rPr kumimoji="0" lang="en-US" sz="2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F2CE9-30B8-26E9-04AF-8504DBCDD489}"/>
              </a:ext>
            </a:extLst>
          </p:cNvPr>
          <p:cNvSpPr/>
          <p:nvPr/>
        </p:nvSpPr>
        <p:spPr>
          <a:xfrm>
            <a:off x="435621" y="4873249"/>
            <a:ext cx="3505147" cy="1573451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B07707-F65A-6614-361A-668D655E5A3E}"/>
              </a:ext>
            </a:extLst>
          </p:cNvPr>
          <p:cNvSpPr/>
          <p:nvPr/>
        </p:nvSpPr>
        <p:spPr>
          <a:xfrm>
            <a:off x="4044246" y="4873249"/>
            <a:ext cx="3505147" cy="1573451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6F55B-FDE2-038E-5CBB-646EF2CDF27F}"/>
              </a:ext>
            </a:extLst>
          </p:cNvPr>
          <p:cNvSpPr txBox="1"/>
          <p:nvPr/>
        </p:nvSpPr>
        <p:spPr>
          <a:xfrm>
            <a:off x="466927" y="918087"/>
            <a:ext cx="1102107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Business Context: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The client was utilizing a data-intensive application with complex workflows and operations. They were facing several challenges due to the increasing demand for transactions, which required scalable and high-performance solutions. To support future use cases, improve performance, and increase scalability, the client was looking for a reliable partner to help them migrate the system to the cloud.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459FDD-1A41-DB01-26FE-E7A7D858D495}"/>
              </a:ext>
            </a:extLst>
          </p:cNvPr>
          <p:cNvSpPr/>
          <p:nvPr/>
        </p:nvSpPr>
        <p:spPr>
          <a:xfrm>
            <a:off x="448066" y="2608389"/>
            <a:ext cx="3505147" cy="1656723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B3374-CDDE-E419-8F14-7E3F836697DA}"/>
              </a:ext>
            </a:extLst>
          </p:cNvPr>
          <p:cNvSpPr/>
          <p:nvPr/>
        </p:nvSpPr>
        <p:spPr>
          <a:xfrm>
            <a:off x="4056691" y="2608389"/>
            <a:ext cx="3505147" cy="1656723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73308-8041-2EFB-C592-2A99E0007FE9}"/>
              </a:ext>
            </a:extLst>
          </p:cNvPr>
          <p:cNvSpPr txBox="1"/>
          <p:nvPr/>
        </p:nvSpPr>
        <p:spPr>
          <a:xfrm>
            <a:off x="367884" y="1645836"/>
            <a:ext cx="3759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RELANTO’S INVOLVEMENT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53D34B-5136-306F-6112-28C2743FBF84}"/>
              </a:ext>
            </a:extLst>
          </p:cNvPr>
          <p:cNvGrpSpPr/>
          <p:nvPr/>
        </p:nvGrpSpPr>
        <p:grpSpPr>
          <a:xfrm>
            <a:off x="448066" y="2100809"/>
            <a:ext cx="3502998" cy="449413"/>
            <a:chOff x="402326" y="2251814"/>
            <a:chExt cx="3075565" cy="506101"/>
          </a:xfrm>
        </p:grpSpPr>
        <p:sp>
          <p:nvSpPr>
            <p:cNvPr id="9" name="Pentagon 43">
              <a:extLst>
                <a:ext uri="{FF2B5EF4-FFF2-40B4-BE49-F238E27FC236}">
                  <a16:creationId xmlns:a16="http://schemas.microsoft.com/office/drawing/2014/main" id="{86D6FCA0-C24B-736C-ABDF-8EDA1681B1D8}"/>
                </a:ext>
              </a:extLst>
            </p:cNvPr>
            <p:cNvSpPr/>
            <p:nvPr/>
          </p:nvSpPr>
          <p:spPr>
            <a:xfrm>
              <a:off x="584140" y="2251814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Pentagon 42">
              <a:extLst>
                <a:ext uri="{FF2B5EF4-FFF2-40B4-BE49-F238E27FC236}">
                  <a16:creationId xmlns:a16="http://schemas.microsoft.com/office/drawing/2014/main" id="{738D67DF-57EE-C3BE-1935-D0A2CD780CBF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Pentagon 40">
              <a:extLst>
                <a:ext uri="{FF2B5EF4-FFF2-40B4-BE49-F238E27FC236}">
                  <a16:creationId xmlns:a16="http://schemas.microsoft.com/office/drawing/2014/main" id="{2401F5B1-C1F5-366B-C67A-81EEB9BA4B06}"/>
                </a:ext>
              </a:extLst>
            </p:cNvPr>
            <p:cNvSpPr/>
            <p:nvPr/>
          </p:nvSpPr>
          <p:spPr>
            <a:xfrm>
              <a:off x="402326" y="2251814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A502CB6-48E6-0CBC-72A3-49550FB5F36D}"/>
              </a:ext>
            </a:extLst>
          </p:cNvPr>
          <p:cNvSpPr txBox="1"/>
          <p:nvPr/>
        </p:nvSpPr>
        <p:spPr>
          <a:xfrm>
            <a:off x="1062435" y="2161796"/>
            <a:ext cx="2276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Database System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2E87"/>
              </a:solidFill>
              <a:effectLst/>
              <a:uLnTx/>
              <a:uFillTx/>
              <a:latin typeface="Poppins Semi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B7328D-EE7C-2511-C0BD-E4E674100EB5}"/>
              </a:ext>
            </a:extLst>
          </p:cNvPr>
          <p:cNvSpPr txBox="1"/>
          <p:nvPr/>
        </p:nvSpPr>
        <p:spPr>
          <a:xfrm>
            <a:off x="448065" y="2660458"/>
            <a:ext cx="350004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Implement a robust and reliable database using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AWS RDS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system to transfer all the data from the on-premises databases to the new Postgres databases on AWS which improves data management and ensures that the application's data is re-stored securely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This migration ensures data consistency and accuracy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E535B0-59B2-1DED-4D68-ECEE34537143}"/>
              </a:ext>
            </a:extLst>
          </p:cNvPr>
          <p:cNvGrpSpPr/>
          <p:nvPr/>
        </p:nvGrpSpPr>
        <p:grpSpPr>
          <a:xfrm>
            <a:off x="448065" y="4355273"/>
            <a:ext cx="3500039" cy="449413"/>
            <a:chOff x="402326" y="2251814"/>
            <a:chExt cx="3075565" cy="506101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471DA9DD-E83F-7C15-A96B-100C4EAEB6C1}"/>
                </a:ext>
              </a:extLst>
            </p:cNvPr>
            <p:cNvSpPr/>
            <p:nvPr/>
          </p:nvSpPr>
          <p:spPr>
            <a:xfrm>
              <a:off x="584139" y="2251814"/>
              <a:ext cx="2893752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1C21402E-B2C7-AD79-53C3-C1F045293F98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FC84258F-3849-2BD1-A5D7-2B28CFF5C355}"/>
                </a:ext>
              </a:extLst>
            </p:cNvPr>
            <p:cNvSpPr/>
            <p:nvPr/>
          </p:nvSpPr>
          <p:spPr>
            <a:xfrm>
              <a:off x="402326" y="2251814"/>
              <a:ext cx="2893752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D7E95F6-85DC-7E0B-91C0-E0E87E311EAA}"/>
              </a:ext>
            </a:extLst>
          </p:cNvPr>
          <p:cNvSpPr txBox="1"/>
          <p:nvPr/>
        </p:nvSpPr>
        <p:spPr>
          <a:xfrm>
            <a:off x="466927" y="4911699"/>
            <a:ext cx="345628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Host the UI on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AWS S3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which is designed to deliver high-performance web applications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D1C22-9954-FE96-A2AA-7542394CC803}"/>
              </a:ext>
            </a:extLst>
          </p:cNvPr>
          <p:cNvSpPr txBox="1"/>
          <p:nvPr/>
        </p:nvSpPr>
        <p:spPr>
          <a:xfrm>
            <a:off x="1476236" y="4436413"/>
            <a:ext cx="1423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UI Hosting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019D2E7-7976-9DE3-EBE4-D3E6889600DA}"/>
              </a:ext>
            </a:extLst>
          </p:cNvPr>
          <p:cNvGrpSpPr/>
          <p:nvPr/>
        </p:nvGrpSpPr>
        <p:grpSpPr>
          <a:xfrm>
            <a:off x="4054370" y="2118175"/>
            <a:ext cx="3495023" cy="449413"/>
            <a:chOff x="402326" y="2251814"/>
            <a:chExt cx="3075565" cy="506101"/>
          </a:xfrm>
        </p:grpSpPr>
        <p:sp>
          <p:nvSpPr>
            <p:cNvPr id="27" name="Pentagon 43">
              <a:extLst>
                <a:ext uri="{FF2B5EF4-FFF2-40B4-BE49-F238E27FC236}">
                  <a16:creationId xmlns:a16="http://schemas.microsoft.com/office/drawing/2014/main" id="{1FA581E7-B315-D25F-4EF1-ACF466A36843}"/>
                </a:ext>
              </a:extLst>
            </p:cNvPr>
            <p:cNvSpPr/>
            <p:nvPr/>
          </p:nvSpPr>
          <p:spPr>
            <a:xfrm>
              <a:off x="584140" y="2251814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Pentagon 42">
              <a:extLst>
                <a:ext uri="{FF2B5EF4-FFF2-40B4-BE49-F238E27FC236}">
                  <a16:creationId xmlns:a16="http://schemas.microsoft.com/office/drawing/2014/main" id="{41C950D1-1395-CAC2-7A98-FEA0051D9F53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Pentagon 40">
              <a:extLst>
                <a:ext uri="{FF2B5EF4-FFF2-40B4-BE49-F238E27FC236}">
                  <a16:creationId xmlns:a16="http://schemas.microsoft.com/office/drawing/2014/main" id="{F335C379-32A1-77BE-2BE8-059F6A49800D}"/>
                </a:ext>
              </a:extLst>
            </p:cNvPr>
            <p:cNvSpPr/>
            <p:nvPr/>
          </p:nvSpPr>
          <p:spPr>
            <a:xfrm>
              <a:off x="402326" y="2251814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262C44-7FB7-838A-E167-43655E59347B}"/>
              </a:ext>
            </a:extLst>
          </p:cNvPr>
          <p:cNvSpPr txBox="1"/>
          <p:nvPr/>
        </p:nvSpPr>
        <p:spPr>
          <a:xfrm>
            <a:off x="4533991" y="2200683"/>
            <a:ext cx="2550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Migration to Cloud Hub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1AD613-A78B-0AEF-3587-04027419157C}"/>
              </a:ext>
            </a:extLst>
          </p:cNvPr>
          <p:cNvSpPr txBox="1"/>
          <p:nvPr/>
        </p:nvSpPr>
        <p:spPr>
          <a:xfrm>
            <a:off x="4056691" y="2660458"/>
            <a:ext cx="3505147" cy="13166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All the on-prem MuleSoft APIs are migrated to Cloud Hub leveraging the latest MuleSoft version to scale the application and support more transactions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Integrate with the Salesforce Cloud Platform and Heroku to ensure seamless data flow between systems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0F291D9-938B-EA3B-C1DF-F7023D121CF6}"/>
              </a:ext>
            </a:extLst>
          </p:cNvPr>
          <p:cNvGrpSpPr/>
          <p:nvPr/>
        </p:nvGrpSpPr>
        <p:grpSpPr>
          <a:xfrm>
            <a:off x="4054369" y="4351607"/>
            <a:ext cx="3495023" cy="449413"/>
            <a:chOff x="402326" y="2251814"/>
            <a:chExt cx="3075565" cy="506101"/>
          </a:xfrm>
        </p:grpSpPr>
        <p:sp>
          <p:nvSpPr>
            <p:cNvPr id="33" name="Pentagon 43">
              <a:extLst>
                <a:ext uri="{FF2B5EF4-FFF2-40B4-BE49-F238E27FC236}">
                  <a16:creationId xmlns:a16="http://schemas.microsoft.com/office/drawing/2014/main" id="{94EFD65B-E4BC-BB0D-3427-05F09AE5CEE4}"/>
                </a:ext>
              </a:extLst>
            </p:cNvPr>
            <p:cNvSpPr/>
            <p:nvPr/>
          </p:nvSpPr>
          <p:spPr>
            <a:xfrm>
              <a:off x="584140" y="2251814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4" name="Pentagon 42">
              <a:extLst>
                <a:ext uri="{FF2B5EF4-FFF2-40B4-BE49-F238E27FC236}">
                  <a16:creationId xmlns:a16="http://schemas.microsoft.com/office/drawing/2014/main" id="{21E9E7DE-FF02-D4C8-7E94-3E2782F288E5}"/>
                </a:ext>
              </a:extLst>
            </p:cNvPr>
            <p:cNvSpPr/>
            <p:nvPr/>
          </p:nvSpPr>
          <p:spPr>
            <a:xfrm>
              <a:off x="493233" y="225181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Pentagon 40">
              <a:extLst>
                <a:ext uri="{FF2B5EF4-FFF2-40B4-BE49-F238E27FC236}">
                  <a16:creationId xmlns:a16="http://schemas.microsoft.com/office/drawing/2014/main" id="{02DB1C6C-7B17-2F4D-3598-5728F938CAA8}"/>
                </a:ext>
              </a:extLst>
            </p:cNvPr>
            <p:cNvSpPr/>
            <p:nvPr/>
          </p:nvSpPr>
          <p:spPr>
            <a:xfrm>
              <a:off x="402326" y="2251814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FBB93A0-22EC-E6F0-5CD0-D1AA70DAED53}"/>
              </a:ext>
            </a:extLst>
          </p:cNvPr>
          <p:cNvSpPr txBox="1"/>
          <p:nvPr/>
        </p:nvSpPr>
        <p:spPr>
          <a:xfrm>
            <a:off x="4870508" y="4442644"/>
            <a:ext cx="1852622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Automate CI/CD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A8FCE3-8BCC-541E-FE24-DDFC09964C27}"/>
              </a:ext>
            </a:extLst>
          </p:cNvPr>
          <p:cNvSpPr txBox="1"/>
          <p:nvPr/>
        </p:nvSpPr>
        <p:spPr>
          <a:xfrm>
            <a:off x="4061798" y="4911699"/>
            <a:ext cx="3500040" cy="11695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Automate CI/CD pipeline using 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Circleci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, GitHub, TeamCity, and Octopus to ensure a smooth and efficient deployment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30612"/>
              </a:solidFill>
              <a:effectLst/>
              <a:uLnTx/>
              <a:uFillTx/>
              <a:latin typeface="Poppins"/>
              <a:ea typeface="Times New Roman" panose="02020603050405020304" pitchFamily="18" charset="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30612"/>
                </a:solidFill>
                <a:effectLst/>
                <a:uLnTx/>
                <a:uFillTx/>
                <a:latin typeface="Poppins"/>
                <a:ea typeface="Times New Roman" panose="02020603050405020304" pitchFamily="18" charset="0"/>
                <a:cs typeface="Calibri"/>
              </a:rPr>
              <a:t>This automation reduces manual errors, improves efficiency, and increases deployment speed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F9CE4BF-74A6-E889-5692-0C02CD3C1EAB}"/>
              </a:ext>
            </a:extLst>
          </p:cNvPr>
          <p:cNvSpPr/>
          <p:nvPr/>
        </p:nvSpPr>
        <p:spPr bwMode="auto">
          <a:xfrm>
            <a:off x="7917988" y="2293599"/>
            <a:ext cx="3946976" cy="19523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70FA206-B53B-B9E3-3710-B177B218F40D}"/>
              </a:ext>
            </a:extLst>
          </p:cNvPr>
          <p:cNvGrpSpPr/>
          <p:nvPr/>
        </p:nvGrpSpPr>
        <p:grpSpPr>
          <a:xfrm>
            <a:off x="7670424" y="1932888"/>
            <a:ext cx="2979921" cy="658812"/>
            <a:chOff x="8493384" y="2135709"/>
            <a:chExt cx="2979921" cy="658812"/>
          </a:xfrm>
        </p:grpSpPr>
        <p:sp>
          <p:nvSpPr>
            <p:cNvPr id="45" name="Right Triangle 44">
              <a:extLst>
                <a:ext uri="{FF2B5EF4-FFF2-40B4-BE49-F238E27FC236}">
                  <a16:creationId xmlns:a16="http://schemas.microsoft.com/office/drawing/2014/main" id="{27AED064-2EBA-AD48-9609-40293D68D29B}"/>
                </a:ext>
              </a:extLst>
            </p:cNvPr>
            <p:cNvSpPr/>
            <p:nvPr/>
          </p:nvSpPr>
          <p:spPr bwMode="auto">
            <a:xfrm>
              <a:off x="11225741" y="2145572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16ECF384-A1EA-CC45-3040-98B82E62C620}"/>
                </a:ext>
              </a:extLst>
            </p:cNvPr>
            <p:cNvSpPr/>
            <p:nvPr/>
          </p:nvSpPr>
          <p:spPr bwMode="auto">
            <a:xfrm rot="10800000">
              <a:off x="8493384" y="2605245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C4CBEA4-778F-17BC-EADA-672D69B26F91}"/>
                </a:ext>
              </a:extLst>
            </p:cNvPr>
            <p:cNvSpPr/>
            <p:nvPr/>
          </p:nvSpPr>
          <p:spPr bwMode="auto">
            <a:xfrm>
              <a:off x="8493384" y="2135709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Calibri" panose="020F0502020204030204" pitchFamily="34" charset="0"/>
                </a:rPr>
                <a:t>VALUE DELIVERED 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DDF342B-20E1-D705-0D22-EE3CC22E9002}"/>
              </a:ext>
            </a:extLst>
          </p:cNvPr>
          <p:cNvSpPr txBox="1"/>
          <p:nvPr/>
        </p:nvSpPr>
        <p:spPr>
          <a:xfrm>
            <a:off x="7917988" y="2521320"/>
            <a:ext cx="3946976" cy="163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Reduced cost of operations with the adoption of the Global Delivery Model</a:t>
            </a:r>
          </a:p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Increased user satisfaction with timely resolution of issues</a:t>
            </a:r>
          </a:p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Migrated 30+ Mule Apps, 100+ complex workflows to AWS</a:t>
            </a:r>
          </a:p>
          <a:p>
            <a:pPr marL="122238" marR="0" lvl="0" indent="-12223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Calibri" panose="020F0502020204030204" pitchFamily="34" charset="0"/>
              </a:rPr>
              <a:t>Improved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data consistency and accuracy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Calibri" panose="020F050202020403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A6E42FF-8C6F-558D-A637-14F59115D3B7}"/>
              </a:ext>
            </a:extLst>
          </p:cNvPr>
          <p:cNvSpPr/>
          <p:nvPr/>
        </p:nvSpPr>
        <p:spPr bwMode="auto">
          <a:xfrm>
            <a:off x="7917988" y="4704226"/>
            <a:ext cx="3946976" cy="17424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3D3C4F8-FB00-6B80-294C-7D47C1C48872}"/>
              </a:ext>
            </a:extLst>
          </p:cNvPr>
          <p:cNvGrpSpPr/>
          <p:nvPr/>
        </p:nvGrpSpPr>
        <p:grpSpPr>
          <a:xfrm>
            <a:off x="7670424" y="4337656"/>
            <a:ext cx="2979921" cy="658812"/>
            <a:chOff x="8493384" y="2135709"/>
            <a:chExt cx="2979921" cy="658812"/>
          </a:xfrm>
        </p:grpSpPr>
        <p:sp>
          <p:nvSpPr>
            <p:cNvPr id="55" name="Right Triangle 54">
              <a:extLst>
                <a:ext uri="{FF2B5EF4-FFF2-40B4-BE49-F238E27FC236}">
                  <a16:creationId xmlns:a16="http://schemas.microsoft.com/office/drawing/2014/main" id="{5B4A18C2-F5E3-24E6-4EE1-820E1CB678DF}"/>
                </a:ext>
              </a:extLst>
            </p:cNvPr>
            <p:cNvSpPr/>
            <p:nvPr/>
          </p:nvSpPr>
          <p:spPr bwMode="auto">
            <a:xfrm>
              <a:off x="11225741" y="2145572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Right Triangle 55">
              <a:extLst>
                <a:ext uri="{FF2B5EF4-FFF2-40B4-BE49-F238E27FC236}">
                  <a16:creationId xmlns:a16="http://schemas.microsoft.com/office/drawing/2014/main" id="{E54302A8-529C-9D51-BC0D-61740BA7A2ED}"/>
                </a:ext>
              </a:extLst>
            </p:cNvPr>
            <p:cNvSpPr/>
            <p:nvPr/>
          </p:nvSpPr>
          <p:spPr bwMode="auto">
            <a:xfrm rot="10800000">
              <a:off x="8493384" y="2605245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9C0856B-0044-FF6B-2796-1628B80FD8E4}"/>
                </a:ext>
              </a:extLst>
            </p:cNvPr>
            <p:cNvSpPr/>
            <p:nvPr/>
          </p:nvSpPr>
          <p:spPr bwMode="auto">
            <a:xfrm>
              <a:off x="8493384" y="2135709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 </a:t>
              </a:r>
            </a:p>
          </p:txBody>
        </p:sp>
      </p:grpSp>
      <p:pic>
        <p:nvPicPr>
          <p:cNvPr id="58" name="Picture 57" descr="Circle&#10;&#10;Description automatically generated with low confidence">
            <a:extLst>
              <a:ext uri="{FF2B5EF4-FFF2-40B4-BE49-F238E27FC236}">
                <a16:creationId xmlns:a16="http://schemas.microsoft.com/office/drawing/2014/main" id="{5B236D47-F1FC-18B7-3DD5-DFCB558B4F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9881" y="5063591"/>
            <a:ext cx="561519" cy="393064"/>
          </a:xfrm>
          <a:prstGeom prst="rect">
            <a:avLst/>
          </a:prstGeom>
        </p:spPr>
      </p:pic>
      <p:sp>
        <p:nvSpPr>
          <p:cNvPr id="60" name="Rounded Rectangle 9">
            <a:extLst>
              <a:ext uri="{FF2B5EF4-FFF2-40B4-BE49-F238E27FC236}">
                <a16:creationId xmlns:a16="http://schemas.microsoft.com/office/drawing/2014/main" id="{A9314565-AC6B-F1A6-5C7C-DDCCD5B499FB}"/>
              </a:ext>
            </a:extLst>
          </p:cNvPr>
          <p:cNvSpPr/>
          <p:nvPr/>
        </p:nvSpPr>
        <p:spPr>
          <a:xfrm>
            <a:off x="8339067" y="4901830"/>
            <a:ext cx="1289811" cy="5548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6EA71DC-C23A-7E15-7609-F52653FFFB09}"/>
              </a:ext>
            </a:extLst>
          </p:cNvPr>
          <p:cNvGrpSpPr/>
          <p:nvPr/>
        </p:nvGrpSpPr>
        <p:grpSpPr>
          <a:xfrm>
            <a:off x="9269758" y="4975243"/>
            <a:ext cx="668327" cy="469537"/>
            <a:chOff x="7376710" y="4214354"/>
            <a:chExt cx="635816" cy="535079"/>
          </a:xfrm>
          <a:noFill/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8D2A5F5-A1BD-4EEF-4AB3-3B3A9869CEE6}"/>
                </a:ext>
              </a:extLst>
            </p:cNvPr>
            <p:cNvSpPr/>
            <p:nvPr/>
          </p:nvSpPr>
          <p:spPr>
            <a:xfrm>
              <a:off x="7376710" y="4214354"/>
              <a:ext cx="635816" cy="5350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4" name="Picture 26" descr="MuleSoft">
              <a:extLst>
                <a:ext uri="{FF2B5EF4-FFF2-40B4-BE49-F238E27FC236}">
                  <a16:creationId xmlns:a16="http://schemas.microsoft.com/office/drawing/2014/main" id="{81B32AAA-610F-A96E-2C91-8FDBE92497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7777" y="4282202"/>
              <a:ext cx="553682" cy="399383"/>
            </a:xfrm>
            <a:prstGeom prst="rect">
              <a:avLst/>
            </a:prstGeom>
            <a:grpFill/>
          </p:spPr>
        </p:pic>
      </p:grpSp>
      <p:pic>
        <p:nvPicPr>
          <p:cNvPr id="65" name="Picture 32" descr="Heroku Logo PNG Transparent &amp; SVG Vector - Freebie Supply">
            <a:extLst>
              <a:ext uri="{FF2B5EF4-FFF2-40B4-BE49-F238E27FC236}">
                <a16:creationId xmlns:a16="http://schemas.microsoft.com/office/drawing/2014/main" id="{E0A630A8-30C0-0979-A955-9553C87A3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87679" y="5119254"/>
            <a:ext cx="894084" cy="24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A picture containing icon&#10;&#10;Description automatically generated">
            <a:extLst>
              <a:ext uri="{FF2B5EF4-FFF2-40B4-BE49-F238E27FC236}">
                <a16:creationId xmlns:a16="http://schemas.microsoft.com/office/drawing/2014/main" id="{334691B0-7226-DA17-0986-72D916A1646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96523" y="4940730"/>
            <a:ext cx="650362" cy="606994"/>
          </a:xfrm>
          <a:prstGeom prst="rect">
            <a:avLst/>
          </a:prstGeom>
        </p:spPr>
      </p:pic>
      <p:pic>
        <p:nvPicPr>
          <p:cNvPr id="68" name="Picture 8">
            <a:extLst>
              <a:ext uri="{FF2B5EF4-FFF2-40B4-BE49-F238E27FC236}">
                <a16:creationId xmlns:a16="http://schemas.microsoft.com/office/drawing/2014/main" id="{00A1D043-EEE8-44AE-BE7A-094830F84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79774" y="5612337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- Free social media icons">
            <a:extLst>
              <a:ext uri="{FF2B5EF4-FFF2-40B4-BE49-F238E27FC236}">
                <a16:creationId xmlns:a16="http://schemas.microsoft.com/office/drawing/2014/main" id="{14D62BDE-11A0-CA5A-1F1E-D5B666B1B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32742" y="5637071"/>
            <a:ext cx="561519" cy="56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9EF28D4-1F14-BBF7-9470-20080D575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92542" y="5704248"/>
            <a:ext cx="496229" cy="49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blue striped object with black background&#10;&#10;Description automatically generated">
            <a:extLst>
              <a:ext uri="{FF2B5EF4-FFF2-40B4-BE49-F238E27FC236}">
                <a16:creationId xmlns:a16="http://schemas.microsoft.com/office/drawing/2014/main" id="{714A093D-486E-6FF9-A302-093DC473187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292" y="5622731"/>
            <a:ext cx="655172" cy="641358"/>
          </a:xfrm>
          <a:prstGeom prst="rect">
            <a:avLst/>
          </a:prstGeom>
        </p:spPr>
      </p:pic>
      <p:pic>
        <p:nvPicPr>
          <p:cNvPr id="3074" name="Picture 2" descr="Circleci logo - Social media &amp; Logos Icons">
            <a:extLst>
              <a:ext uri="{FF2B5EF4-FFF2-40B4-BE49-F238E27FC236}">
                <a16:creationId xmlns:a16="http://schemas.microsoft.com/office/drawing/2014/main" id="{CF884A08-CFB6-C300-7815-2A00AF9D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73960" y="5706286"/>
            <a:ext cx="921522" cy="46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