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extBox 6">
            <a:extLst>
              <a:ext uri="{FF2B5EF4-FFF2-40B4-BE49-F238E27FC236}">
                <a16:creationId xmlns:a16="http://schemas.microsoft.com/office/drawing/2014/main" id="{83BC5016-DB3B-1F55-A85A-49A3350E1040}"/>
              </a:ext>
            </a:extLst>
          </p:cNvPr>
          <p:cNvSpPr txBox="1"/>
          <p:nvPr/>
        </p:nvSpPr>
        <p:spPr>
          <a:xfrm>
            <a:off x="577031" y="257992"/>
            <a:ext cx="946467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2060"/>
                </a:solidFill>
                <a:effectLst/>
                <a:uLnTx/>
                <a:uFillTx/>
                <a:latin typeface="Poppins SemiBold" panose="00000700000000000000" pitchFamily="2" charset="0"/>
                <a:ea typeface="+mn-ea"/>
                <a:cs typeface="Poppins SemiBold" panose="00000700000000000000" pitchFamily="2" charset="0"/>
              </a:rPr>
              <a:t>Next-Generation Sales Forecasting</a:t>
            </a:r>
            <a:endParaRPr kumimoji="0" lang="en-IN" sz="2800" b="1" i="0" u="none" strike="noStrike" kern="1200" cap="none" spc="0" normalizeH="0" baseline="0" noProof="0" dirty="0">
              <a:ln>
                <a:noFill/>
              </a:ln>
              <a:solidFill>
                <a:srgbClr val="002060"/>
              </a:solidFill>
              <a:effectLst/>
              <a:uLnTx/>
              <a:uFillTx/>
              <a:latin typeface="Poppins SemiBold" panose="00000700000000000000" pitchFamily="2" charset="0"/>
              <a:ea typeface="+mn-ea"/>
              <a:cs typeface="Poppins SemiBold" panose="00000700000000000000" pitchFamily="2" charset="0"/>
            </a:endParaRPr>
          </a:p>
        </p:txBody>
      </p:sp>
      <p:sp>
        <p:nvSpPr>
          <p:cNvPr id="2" name="Rectangle 1">
            <a:extLst>
              <a:ext uri="{FF2B5EF4-FFF2-40B4-BE49-F238E27FC236}">
                <a16:creationId xmlns:a16="http://schemas.microsoft.com/office/drawing/2014/main" id="{401AE144-91B0-B274-D1C8-9896898FC6F3}"/>
              </a:ext>
            </a:extLst>
          </p:cNvPr>
          <p:cNvSpPr/>
          <p:nvPr/>
        </p:nvSpPr>
        <p:spPr>
          <a:xfrm>
            <a:off x="447247" y="3874303"/>
            <a:ext cx="3570720" cy="2370182"/>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179388" marR="0" lvl="0" indent="-179388" algn="l" defTabSz="1218621"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Poppins" pitchFamily="2" charset="77"/>
              </a:rPr>
              <a:t>Larger volume of data impacting the performance of data load</a:t>
            </a:r>
          </a:p>
          <a:p>
            <a:pPr marL="179388" marR="0" lvl="0" indent="-179388" algn="l" defTabSz="1218621"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Poppins" pitchFamily="2" charset="77"/>
              </a:rPr>
              <a:t>Complex business logics for fair market value</a:t>
            </a:r>
          </a:p>
          <a:p>
            <a:pPr marL="179388" marR="0" lvl="0" indent="-179388" algn="l" defTabSz="1218621"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Poppins" pitchFamily="2" charset="77"/>
              </a:rPr>
              <a:t>Requirement for critical application with accurate data for forecasting</a:t>
            </a:r>
          </a:p>
          <a:p>
            <a:pPr marL="179388" marR="0" lvl="0" indent="-179388" algn="l" defTabSz="1218621"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Poppins" pitchFamily="2" charset="77"/>
              </a:rPr>
              <a:t>Redundant bookings and opportunity </a:t>
            </a:r>
            <a:r>
              <a:rPr kumimoji="0" lang="en-US" sz="1100" b="0" i="0" u="none" strike="noStrike" kern="1200" cap="none" spc="0" normalizeH="0" baseline="0" noProof="0" dirty="0">
                <a:ln>
                  <a:noFill/>
                </a:ln>
                <a:solidFill>
                  <a:prstClr val="black"/>
                </a:solidFill>
                <a:effectLst/>
                <a:uLnTx/>
                <a:uFillTx/>
                <a:latin typeface="Poppins"/>
                <a:ea typeface="+mn-lt"/>
                <a:cs typeface="Poppins" pitchFamily="2" charset="77"/>
              </a:rPr>
              <a:t>pipelines system</a:t>
            </a:r>
            <a:endParaRPr kumimoji="0" lang="en-US" sz="1100" b="0" i="0" u="none" strike="noStrike" kern="1200" cap="none" spc="0" normalizeH="0" baseline="0" noProof="0" dirty="0">
              <a:ln>
                <a:noFill/>
              </a:ln>
              <a:solidFill>
                <a:prstClr val="black"/>
              </a:solidFill>
              <a:effectLst/>
              <a:uLnTx/>
              <a:uFillTx/>
              <a:latin typeface="Poppins"/>
              <a:ea typeface="+mn-ea"/>
              <a:cs typeface="Poppins" pitchFamily="2" charset="77"/>
            </a:endParaRPr>
          </a:p>
        </p:txBody>
      </p:sp>
      <p:sp>
        <p:nvSpPr>
          <p:cNvPr id="3" name="Rectangle 2">
            <a:extLst>
              <a:ext uri="{FF2B5EF4-FFF2-40B4-BE49-F238E27FC236}">
                <a16:creationId xmlns:a16="http://schemas.microsoft.com/office/drawing/2014/main" id="{AA73406B-4821-B8F4-775B-1222EA663D3F}"/>
              </a:ext>
            </a:extLst>
          </p:cNvPr>
          <p:cNvSpPr/>
          <p:nvPr/>
        </p:nvSpPr>
        <p:spPr>
          <a:xfrm>
            <a:off x="4259734" y="3874302"/>
            <a:ext cx="3708634" cy="2372437"/>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239713" marR="0" lvl="0" indent="-239713"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Understanding the data architecture of upstream systems to pull relevant data</a:t>
            </a:r>
          </a:p>
          <a:p>
            <a:pPr marL="239713" marR="0" lvl="0" indent="-239713"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Creation of parallel pipelines to speed up the ingestion in Informatica</a:t>
            </a:r>
          </a:p>
          <a:p>
            <a:pPr marL="239713" marR="0" lvl="0" indent="-239713"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Enable continuous monitoring and alerts on jobs pulling latest bookings and pipeline numbers to ensure the forecast is accurate </a:t>
            </a:r>
          </a:p>
          <a:p>
            <a:pPr marL="239713" marR="0" lvl="0" indent="-239713"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Poppins"/>
                <a:ea typeface="+mn-ea"/>
                <a:cs typeface="+mn-cs"/>
              </a:rPr>
              <a:t>Ensure always-on support so that tickets are resolved within the given SLA</a:t>
            </a:r>
          </a:p>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FFFFFF"/>
              </a:solidFill>
              <a:effectLst/>
              <a:uLnTx/>
              <a:uFillTx/>
              <a:latin typeface="Poppins"/>
              <a:ea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8D5C0457-F150-812C-E0AC-CAB3D522D113}"/>
              </a:ext>
            </a:extLst>
          </p:cNvPr>
          <p:cNvSpPr/>
          <p:nvPr/>
        </p:nvSpPr>
        <p:spPr>
          <a:xfrm>
            <a:off x="429206" y="1254266"/>
            <a:ext cx="7521111" cy="1776260"/>
          </a:xfrm>
          <a:prstGeom prst="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Poppins"/>
                <a:ea typeface="+mn-ea"/>
                <a:cs typeface="Poppins SemiBold" panose="00000700000000000000" pitchFamily="2" charset="0"/>
              </a:rPr>
              <a:t>Client Overview </a:t>
            </a:r>
            <a:r>
              <a:rPr kumimoji="0" lang="en-US" sz="1800" b="1" i="0" u="none" strike="noStrike" kern="1200" cap="none" spc="0" normalizeH="0" baseline="0" noProof="0" dirty="0">
                <a:ln>
                  <a:noFill/>
                </a:ln>
                <a:solidFill>
                  <a:prstClr val="white"/>
                </a:solidFill>
                <a:effectLst/>
                <a:uLnTx/>
                <a:uFillTx/>
                <a:latin typeface="Poppins"/>
                <a:ea typeface="+mn-ea"/>
                <a:cs typeface="Calibri" panose="020F0502020204030204" pitchFamily="34" charset="0"/>
              </a:rPr>
              <a:t>: </a:t>
            </a:r>
            <a:r>
              <a:rPr kumimoji="0" lang="en-US" sz="1200" b="0" i="0" u="none" strike="noStrike" kern="1200" cap="none" spc="0" normalizeH="0" baseline="0" noProof="0" dirty="0">
                <a:ln>
                  <a:noFill/>
                </a:ln>
                <a:solidFill>
                  <a:prstClr val="white"/>
                </a:solidFill>
                <a:effectLst/>
                <a:uLnTx/>
                <a:uFillTx/>
                <a:latin typeface="Poppins"/>
                <a:ea typeface="+mn-ea"/>
                <a:cs typeface="Calibri" panose="020F0502020204030204" pitchFamily="34" charset="0"/>
              </a:rPr>
              <a:t>A leading hi-tech client was looking for a solution that provides sellers with access to their past week’s booking information for various territorial hierarchies encompassing both products and services. To meet their requirements, the client requested the development of three separate pipelines to handle seven quarters of historical booking data, current quarter bookings data, and plan data sourced from their Enterprise Data Warehouse. These pipelines need to refresh on a daily basis and seamlessly integrate with a next-generation forecasting application. </a:t>
            </a:r>
            <a:endParaRPr kumimoji="0" lang="en-US" sz="1600" b="0" i="0" u="none" strike="noStrike" kern="1200" cap="none" spc="0" normalizeH="0" baseline="0" noProof="0" dirty="0">
              <a:ln>
                <a:noFill/>
              </a:ln>
              <a:solidFill>
                <a:prstClr val="white"/>
              </a:solidFill>
              <a:effectLst/>
              <a:uLnTx/>
              <a:uFillTx/>
              <a:latin typeface="Poppins"/>
              <a:ea typeface="+mn-ea"/>
              <a:cs typeface="Calibri" panose="020F0502020204030204" pitchFamily="34" charset="0"/>
            </a:endParaRPr>
          </a:p>
        </p:txBody>
      </p:sp>
      <p:grpSp>
        <p:nvGrpSpPr>
          <p:cNvPr id="5" name="Group 4">
            <a:extLst>
              <a:ext uri="{FF2B5EF4-FFF2-40B4-BE49-F238E27FC236}">
                <a16:creationId xmlns:a16="http://schemas.microsoft.com/office/drawing/2014/main" id="{A333DE7F-0565-B904-0182-7C2CA5658CFF}"/>
              </a:ext>
            </a:extLst>
          </p:cNvPr>
          <p:cNvGrpSpPr/>
          <p:nvPr/>
        </p:nvGrpSpPr>
        <p:grpSpPr>
          <a:xfrm>
            <a:off x="447246" y="3290807"/>
            <a:ext cx="3570720" cy="506676"/>
            <a:chOff x="377675" y="2790487"/>
            <a:chExt cx="3075565" cy="506676"/>
          </a:xfrm>
        </p:grpSpPr>
        <p:sp>
          <p:nvSpPr>
            <p:cNvPr id="6" name="Pentagon 43">
              <a:extLst>
                <a:ext uri="{FF2B5EF4-FFF2-40B4-BE49-F238E27FC236}">
                  <a16:creationId xmlns:a16="http://schemas.microsoft.com/office/drawing/2014/main" id="{7C56B931-B45E-7052-964D-C4478C491C18}"/>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Pentagon 42">
              <a:extLst>
                <a:ext uri="{FF2B5EF4-FFF2-40B4-BE49-F238E27FC236}">
                  <a16:creationId xmlns:a16="http://schemas.microsoft.com/office/drawing/2014/main" id="{C57636AD-A131-6A26-F0FD-5D308C04E071}"/>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Pentagon 40">
              <a:extLst>
                <a:ext uri="{FF2B5EF4-FFF2-40B4-BE49-F238E27FC236}">
                  <a16:creationId xmlns:a16="http://schemas.microsoft.com/office/drawing/2014/main" id="{4426AAA6-CA13-4ED9-41B5-8890465F5317}"/>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E87"/>
                  </a:solidFill>
                  <a:effectLst/>
                  <a:uLnTx/>
                  <a:uFillTx/>
                  <a:latin typeface="Poppins SemiBold"/>
                  <a:ea typeface="+mn-ea"/>
                  <a:cs typeface="+mn-cs"/>
                </a:rPr>
                <a:t>Challenges</a:t>
              </a:r>
            </a:p>
          </p:txBody>
        </p:sp>
      </p:grpSp>
      <p:grpSp>
        <p:nvGrpSpPr>
          <p:cNvPr id="22" name="Group 21">
            <a:extLst>
              <a:ext uri="{FF2B5EF4-FFF2-40B4-BE49-F238E27FC236}">
                <a16:creationId xmlns:a16="http://schemas.microsoft.com/office/drawing/2014/main" id="{D57027EE-56EE-36AE-0051-121C1F0E9359}"/>
              </a:ext>
            </a:extLst>
          </p:cNvPr>
          <p:cNvGrpSpPr/>
          <p:nvPr/>
        </p:nvGrpSpPr>
        <p:grpSpPr>
          <a:xfrm>
            <a:off x="4259734" y="3303696"/>
            <a:ext cx="3708634" cy="506676"/>
            <a:chOff x="4602706" y="2803376"/>
            <a:chExt cx="3075565" cy="506676"/>
          </a:xfrm>
        </p:grpSpPr>
        <p:sp>
          <p:nvSpPr>
            <p:cNvPr id="34" name="Pentagon 43">
              <a:extLst>
                <a:ext uri="{FF2B5EF4-FFF2-40B4-BE49-F238E27FC236}">
                  <a16:creationId xmlns:a16="http://schemas.microsoft.com/office/drawing/2014/main" id="{40E61120-2FE9-4972-1E4E-D5439F5E2563}"/>
                </a:ext>
              </a:extLst>
            </p:cNvPr>
            <p:cNvSpPr/>
            <p:nvPr/>
          </p:nvSpPr>
          <p:spPr>
            <a:xfrm>
              <a:off x="4784520" y="2803376"/>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9" name="Pentagon 42">
              <a:extLst>
                <a:ext uri="{FF2B5EF4-FFF2-40B4-BE49-F238E27FC236}">
                  <a16:creationId xmlns:a16="http://schemas.microsoft.com/office/drawing/2014/main" id="{1E9D9B8F-C410-BD6D-AA05-D12887492E37}"/>
                </a:ext>
              </a:extLst>
            </p:cNvPr>
            <p:cNvSpPr/>
            <p:nvPr/>
          </p:nvSpPr>
          <p:spPr>
            <a:xfrm>
              <a:off x="4693613" y="2803664"/>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1" name="Pentagon 40">
              <a:extLst>
                <a:ext uri="{FF2B5EF4-FFF2-40B4-BE49-F238E27FC236}">
                  <a16:creationId xmlns:a16="http://schemas.microsoft.com/office/drawing/2014/main" id="{3C287D7F-B520-73A2-57A7-F6952CD3410F}"/>
                </a:ext>
              </a:extLst>
            </p:cNvPr>
            <p:cNvSpPr/>
            <p:nvPr/>
          </p:nvSpPr>
          <p:spPr>
            <a:xfrm>
              <a:off x="4602706" y="2803951"/>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E87"/>
                  </a:solidFill>
                  <a:effectLst/>
                  <a:uLnTx/>
                  <a:uFillTx/>
                  <a:latin typeface="Poppins SemiBold"/>
                  <a:ea typeface="+mn-ea"/>
                  <a:cs typeface="+mn-cs"/>
                </a:rPr>
                <a:t>Solution Implemented</a:t>
              </a:r>
            </a:p>
          </p:txBody>
        </p:sp>
      </p:grpSp>
      <p:sp>
        <p:nvSpPr>
          <p:cNvPr id="64" name="Rectangle 63">
            <a:extLst>
              <a:ext uri="{FF2B5EF4-FFF2-40B4-BE49-F238E27FC236}">
                <a16:creationId xmlns:a16="http://schemas.microsoft.com/office/drawing/2014/main" id="{64A8D062-3B0E-AEDB-29A5-2A8C238357E4}"/>
              </a:ext>
            </a:extLst>
          </p:cNvPr>
          <p:cNvSpPr/>
          <p:nvPr/>
        </p:nvSpPr>
        <p:spPr bwMode="auto">
          <a:xfrm>
            <a:off x="8308738" y="1830027"/>
            <a:ext cx="3487448" cy="2204768"/>
          </a:xfrm>
          <a:prstGeom prst="rect">
            <a:avLst/>
          </a:prstGeom>
          <a:solidFill>
            <a:schemeClr val="bg1">
              <a:lumMod val="95000"/>
            </a:schemeClr>
          </a:solidFill>
          <a:ln w="9525">
            <a:noFill/>
            <a:round/>
            <a:headEnd/>
            <a:tailEnd/>
          </a:ln>
          <a:effectLst/>
        </p:spPr>
        <p:txBody>
          <a:bodyPr vert="horz" wrap="square" lIns="822960" tIns="18288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GB" sz="1100" b="1"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Increased user satisfaction </a:t>
            </a:r>
            <a:r>
              <a:rPr kumimoji="0" lang="en-GB" sz="1100" b="0"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with accurate Bookings data for Forecasting.</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Global history data </a:t>
            </a:r>
            <a:r>
              <a:rPr kumimoji="0" lang="en-IN" sz="1100" b="0"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for past metrics and future Sales Plan</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Analytics on past data </a:t>
            </a:r>
            <a:r>
              <a:rPr kumimoji="0" lang="en-IN" sz="1100" b="0"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to project trends in Sales</a:t>
            </a: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Faster data load </a:t>
            </a:r>
            <a:r>
              <a:rPr kumimoji="0" lang="en-IN" sz="1100" b="0" i="0" u="none" strike="noStrike" kern="1200" cap="none" spc="0" normalizeH="0" baseline="0" noProof="0" dirty="0">
                <a:ln>
                  <a:noFill/>
                </a:ln>
                <a:solidFill>
                  <a:prstClr val="black"/>
                </a:solidFill>
                <a:effectLst/>
                <a:uLnTx/>
                <a:uFillTx/>
                <a:latin typeface="Poppins"/>
                <a:ea typeface="+mn-ea"/>
                <a:cs typeface="Calibri" panose="020F0502020204030204" pitchFamily="34" charset="0"/>
                <a:sym typeface="Helvetica"/>
              </a:rPr>
              <a:t>to help the Sales team with timely Forecasting</a:t>
            </a:r>
            <a:endParaRPr kumimoji="0" lang="en-IN" sz="1100" b="0" i="0" u="none" strike="noStrike" kern="1200" cap="none" spc="0" normalizeH="0" baseline="0" noProof="0" dirty="0">
              <a:ln>
                <a:noFill/>
              </a:ln>
              <a:solidFill>
                <a:prstClr val="black"/>
              </a:solidFill>
              <a:effectLst/>
              <a:uLnTx/>
              <a:uFillTx/>
              <a:latin typeface="Poppins"/>
              <a:ea typeface="+mn-ea"/>
              <a:cs typeface="Calibri" panose="020F0502020204030204" pitchFamily="34" charset="0"/>
            </a:endParaRPr>
          </a:p>
        </p:txBody>
      </p:sp>
      <p:grpSp>
        <p:nvGrpSpPr>
          <p:cNvPr id="65" name="Group 64">
            <a:extLst>
              <a:ext uri="{FF2B5EF4-FFF2-40B4-BE49-F238E27FC236}">
                <a16:creationId xmlns:a16="http://schemas.microsoft.com/office/drawing/2014/main" id="{C7C41B54-2AFF-BD79-8B6F-13CC773EE28C}"/>
              </a:ext>
            </a:extLst>
          </p:cNvPr>
          <p:cNvGrpSpPr/>
          <p:nvPr/>
        </p:nvGrpSpPr>
        <p:grpSpPr>
          <a:xfrm>
            <a:off x="8066970" y="1397011"/>
            <a:ext cx="2979921" cy="658812"/>
            <a:chOff x="7555266" y="1214168"/>
            <a:chExt cx="2979921" cy="658812"/>
          </a:xfrm>
        </p:grpSpPr>
        <p:sp>
          <p:nvSpPr>
            <p:cNvPr id="66" name="Right Triangle 65">
              <a:extLst>
                <a:ext uri="{FF2B5EF4-FFF2-40B4-BE49-F238E27FC236}">
                  <a16:creationId xmlns:a16="http://schemas.microsoft.com/office/drawing/2014/main" id="{20B08BDE-FF11-AFCE-DFFF-43538FF96A2C}"/>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Right Triangle 66">
              <a:extLst>
                <a:ext uri="{FF2B5EF4-FFF2-40B4-BE49-F238E27FC236}">
                  <a16:creationId xmlns:a16="http://schemas.microsoft.com/office/drawing/2014/main" id="{67C89262-B227-89DC-F402-6BE242BEB225}"/>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Rectangle 67">
              <a:extLst>
                <a:ext uri="{FF2B5EF4-FFF2-40B4-BE49-F238E27FC236}">
                  <a16:creationId xmlns:a16="http://schemas.microsoft.com/office/drawing/2014/main" id="{BEB9018B-B469-F264-E14B-247F2F4EDA1C}"/>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 Value Delivered</a:t>
              </a:r>
              <a:endParaRPr kumimoji="0" lang="en-US" sz="1400" b="1" i="0" u="none" strike="noStrike" kern="1200" cap="none" spc="0" normalizeH="0" baseline="0" noProof="0" dirty="0">
                <a:ln>
                  <a:noFill/>
                </a:ln>
                <a:solidFill>
                  <a:prstClr val="white"/>
                </a:solidFill>
                <a:effectLst/>
                <a:uLnTx/>
                <a:uFillTx/>
                <a:latin typeface="Poppins"/>
                <a:ea typeface="+mn-ea"/>
                <a:cs typeface="+mn-cs"/>
              </a:endParaRPr>
            </a:p>
          </p:txBody>
        </p:sp>
      </p:grpSp>
      <p:sp>
        <p:nvSpPr>
          <p:cNvPr id="80" name="Rectangle 79">
            <a:extLst>
              <a:ext uri="{FF2B5EF4-FFF2-40B4-BE49-F238E27FC236}">
                <a16:creationId xmlns:a16="http://schemas.microsoft.com/office/drawing/2014/main" id="{9AB8B093-CBA4-25E9-BF09-7C57C69BD6C9}"/>
              </a:ext>
            </a:extLst>
          </p:cNvPr>
          <p:cNvSpPr/>
          <p:nvPr/>
        </p:nvSpPr>
        <p:spPr bwMode="auto">
          <a:xfrm>
            <a:off x="8308738" y="4900827"/>
            <a:ext cx="3487448" cy="1138823"/>
          </a:xfrm>
          <a:prstGeom prst="rect">
            <a:avLst/>
          </a:prstGeom>
          <a:solidFill>
            <a:schemeClr val="bg1">
              <a:lumMod val="95000"/>
            </a:schemeClr>
          </a:solidFill>
          <a:ln w="9525">
            <a:noFill/>
            <a:round/>
            <a:headEnd/>
            <a:tailEnd/>
          </a:ln>
          <a:effectLst/>
        </p:spPr>
        <p:txBody>
          <a:bodyPr vert="horz" wrap="square" lIns="822960" tIns="274320" rIns="91440" bIns="45720" numCol="1" rtlCol="0"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IN" sz="1400" b="0" i="0" u="none" strike="noStrike" kern="1200" cap="none" spc="0" normalizeH="0" baseline="0" noProof="0" dirty="0">
              <a:ln>
                <a:noFill/>
              </a:ln>
              <a:solidFill>
                <a:prstClr val="black"/>
              </a:solidFill>
              <a:effectLst/>
              <a:uLnTx/>
              <a:uFillTx/>
              <a:latin typeface="Poppins"/>
              <a:ea typeface="+mn-ea"/>
              <a:cs typeface="Calibri" panose="020F0502020204030204" pitchFamily="34" charset="0"/>
            </a:endParaRPr>
          </a:p>
        </p:txBody>
      </p:sp>
      <p:grpSp>
        <p:nvGrpSpPr>
          <p:cNvPr id="81" name="Group 80">
            <a:extLst>
              <a:ext uri="{FF2B5EF4-FFF2-40B4-BE49-F238E27FC236}">
                <a16:creationId xmlns:a16="http://schemas.microsoft.com/office/drawing/2014/main" id="{F92C0907-2ABB-7811-160E-E037DE6E6284}"/>
              </a:ext>
            </a:extLst>
          </p:cNvPr>
          <p:cNvGrpSpPr/>
          <p:nvPr/>
        </p:nvGrpSpPr>
        <p:grpSpPr>
          <a:xfrm>
            <a:off x="8066970" y="4467811"/>
            <a:ext cx="2979921" cy="658812"/>
            <a:chOff x="7555266" y="1214168"/>
            <a:chExt cx="2979921" cy="658812"/>
          </a:xfrm>
        </p:grpSpPr>
        <p:sp>
          <p:nvSpPr>
            <p:cNvPr id="82" name="Right Triangle 81">
              <a:extLst>
                <a:ext uri="{FF2B5EF4-FFF2-40B4-BE49-F238E27FC236}">
                  <a16:creationId xmlns:a16="http://schemas.microsoft.com/office/drawing/2014/main" id="{AFF00C87-FC7E-6D8A-E1EC-4148BE0DB4F8}"/>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Right Triangle 82">
              <a:extLst>
                <a:ext uri="{FF2B5EF4-FFF2-40B4-BE49-F238E27FC236}">
                  <a16:creationId xmlns:a16="http://schemas.microsoft.com/office/drawing/2014/main" id="{97A4C95E-1F19-4B74-6E38-B168126AB12C}"/>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77FF9E5B-62EB-87FA-68FF-0CFD3489AB52}"/>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Poppins"/>
                  <a:ea typeface="+mn-ea"/>
                  <a:cs typeface="+mn-cs"/>
                </a:rPr>
                <a:t>Technology &amp; Tools</a:t>
              </a:r>
              <a:endParaRPr kumimoji="0" lang="en-US" sz="1400" b="1" i="0" u="none" strike="noStrike" kern="1200" cap="none" spc="0" normalizeH="0" baseline="0" noProof="0" dirty="0">
                <a:ln>
                  <a:noFill/>
                </a:ln>
                <a:solidFill>
                  <a:prstClr val="white"/>
                </a:solidFill>
                <a:effectLst/>
                <a:uLnTx/>
                <a:uFillTx/>
                <a:latin typeface="Poppins"/>
                <a:ea typeface="+mn-ea"/>
                <a:cs typeface="+mn-cs"/>
              </a:endParaRPr>
            </a:p>
          </p:txBody>
        </p:sp>
      </p:grpSp>
      <p:pic>
        <p:nvPicPr>
          <p:cNvPr id="90" name="Picture 89" descr="Logo&#10;&#10;Description automatically generated">
            <a:extLst>
              <a:ext uri="{FF2B5EF4-FFF2-40B4-BE49-F238E27FC236}">
                <a16:creationId xmlns:a16="http://schemas.microsoft.com/office/drawing/2014/main" id="{AA76CE8F-03E5-ADC1-8E69-5B38271A5B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30962" y="5077025"/>
            <a:ext cx="1587740" cy="388488"/>
          </a:xfrm>
          <a:prstGeom prst="rect">
            <a:avLst/>
          </a:prstGeom>
        </p:spPr>
      </p:pic>
      <p:pic>
        <p:nvPicPr>
          <p:cNvPr id="91" name="Picture 4">
            <a:extLst>
              <a:ext uri="{FF2B5EF4-FFF2-40B4-BE49-F238E27FC236}">
                <a16:creationId xmlns:a16="http://schemas.microsoft.com/office/drawing/2014/main" id="{595BB631-BFFC-69C8-37E4-7E922FAF1F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07778" y="5018833"/>
            <a:ext cx="1567902" cy="50487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nformatica logo in transparent PNG and vectorized SVG formats">
            <a:extLst>
              <a:ext uri="{FF2B5EF4-FFF2-40B4-BE49-F238E27FC236}">
                <a16:creationId xmlns:a16="http://schemas.microsoft.com/office/drawing/2014/main" id="{053DBEC8-B914-D8AF-2434-432B2FED30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3852" y="5515219"/>
            <a:ext cx="1769700" cy="441503"/>
          </a:xfrm>
          <a:prstGeom prst="rect">
            <a:avLst/>
          </a:prstGeom>
          <a:noFill/>
          <a:extLst>
            <a:ext uri="{909E8E84-426E-40DD-AFC4-6F175D3DCCD1}">
              <a14:hiddenFill xmlns:a14="http://schemas.microsoft.com/office/drawing/2010/main">
                <a:solidFill>
                  <a:srgbClr val="FFFFFF"/>
                </a:solidFill>
              </a14:hiddenFill>
            </a:ext>
          </a:extLst>
        </p:spPr>
      </p:pic>
      <p:pic>
        <p:nvPicPr>
          <p:cNvPr id="93" name="Graphic 92">
            <a:extLst>
              <a:ext uri="{FF2B5EF4-FFF2-40B4-BE49-F238E27FC236}">
                <a16:creationId xmlns:a16="http://schemas.microsoft.com/office/drawing/2014/main" id="{AB3159FE-211D-7B92-9CBF-D6E931A9BA2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8418583" y="1911952"/>
            <a:ext cx="603109" cy="603109"/>
          </a:xfrm>
          <a:prstGeom prst="rect">
            <a:avLst/>
          </a:prstGeom>
        </p:spPr>
      </p:pic>
      <p:pic>
        <p:nvPicPr>
          <p:cNvPr id="95" name="Graphic 94">
            <a:extLst>
              <a:ext uri="{FF2B5EF4-FFF2-40B4-BE49-F238E27FC236}">
                <a16:creationId xmlns:a16="http://schemas.microsoft.com/office/drawing/2014/main" id="{1C9F8F6C-F667-2F8F-E81A-25609C222F2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51488" y="2462295"/>
            <a:ext cx="568230" cy="568230"/>
          </a:xfrm>
          <a:prstGeom prst="rect">
            <a:avLst/>
          </a:prstGeom>
        </p:spPr>
      </p:pic>
      <p:pic>
        <p:nvPicPr>
          <p:cNvPr id="97" name="Graphic 96">
            <a:extLst>
              <a:ext uri="{FF2B5EF4-FFF2-40B4-BE49-F238E27FC236}">
                <a16:creationId xmlns:a16="http://schemas.microsoft.com/office/drawing/2014/main" id="{B6A9B3AB-BFAE-B141-9B74-910C4127B1B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50182" y="2962918"/>
            <a:ext cx="469536" cy="469536"/>
          </a:xfrm>
          <a:prstGeom prst="rect">
            <a:avLst/>
          </a:prstGeom>
        </p:spPr>
      </p:pic>
      <p:pic>
        <p:nvPicPr>
          <p:cNvPr id="99" name="Graphic 98">
            <a:extLst>
              <a:ext uri="{FF2B5EF4-FFF2-40B4-BE49-F238E27FC236}">
                <a16:creationId xmlns:a16="http://schemas.microsoft.com/office/drawing/2014/main" id="{3FBE1414-087F-9735-6B0B-5BEF53D3508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485913" y="3381871"/>
            <a:ext cx="533805" cy="53380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