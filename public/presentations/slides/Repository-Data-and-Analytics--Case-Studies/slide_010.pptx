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DCCF20D-9D0C-28B1-4669-06CCD7A18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62" y="210311"/>
            <a:ext cx="10052329" cy="701553"/>
          </a:xfrm>
        </p:spPr>
        <p:txBody>
          <a:bodyPr>
            <a:noAutofit/>
          </a:bodyPr>
          <a:lstStyle/>
          <a:p>
            <a:r>
              <a:rPr lang="en-US" dirty="0"/>
              <a:t>Seller Compensation Reporting Tool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9EFF44-DFBF-2FA7-6408-A39C06F7D86B}"/>
              </a:ext>
            </a:extLst>
          </p:cNvPr>
          <p:cNvSpPr/>
          <p:nvPr/>
        </p:nvSpPr>
        <p:spPr>
          <a:xfrm>
            <a:off x="468184" y="2011843"/>
            <a:ext cx="3570722" cy="4571659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/>
              <a:ea typeface="Calibri" panose="020F0502020204030204" pitchFamily="34" charset="0"/>
              <a:cs typeface="Poppin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68FC05-AFA9-C290-C9B1-F504FBA361DC}"/>
              </a:ext>
            </a:extLst>
          </p:cNvPr>
          <p:cNvSpPr/>
          <p:nvPr/>
        </p:nvSpPr>
        <p:spPr>
          <a:xfrm>
            <a:off x="4138394" y="2004113"/>
            <a:ext cx="3976577" cy="4579389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D73669E-3D09-A6A7-7FBA-3E0E752D6917}"/>
              </a:ext>
            </a:extLst>
          </p:cNvPr>
          <p:cNvSpPr/>
          <p:nvPr/>
        </p:nvSpPr>
        <p:spPr>
          <a:xfrm>
            <a:off x="8673297" y="3615735"/>
            <a:ext cx="640080" cy="6400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E707041-A989-0969-EFE3-9A8B1F6E44FB}"/>
              </a:ext>
            </a:extLst>
          </p:cNvPr>
          <p:cNvSpPr/>
          <p:nvPr/>
        </p:nvSpPr>
        <p:spPr>
          <a:xfrm>
            <a:off x="8801245" y="4595412"/>
            <a:ext cx="640080" cy="6400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D7ED79C-B6A9-EA53-CD07-D21F76DE0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732" y="1483817"/>
            <a:ext cx="3937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9DA456B-F997-4914-9895-ED86C8D4B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850" y="3684542"/>
            <a:ext cx="437464" cy="52495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B80D80F-F030-ACE3-4E90-55453C132384}"/>
              </a:ext>
            </a:extLst>
          </p:cNvPr>
          <p:cNvSpPr/>
          <p:nvPr/>
        </p:nvSpPr>
        <p:spPr bwMode="auto">
          <a:xfrm>
            <a:off x="8410316" y="1320754"/>
            <a:ext cx="3487448" cy="317023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EA62CA9-9A99-F25D-CCAF-08029250BF25}"/>
              </a:ext>
            </a:extLst>
          </p:cNvPr>
          <p:cNvGrpSpPr/>
          <p:nvPr/>
        </p:nvGrpSpPr>
        <p:grpSpPr>
          <a:xfrm>
            <a:off x="8168548" y="960041"/>
            <a:ext cx="2979921" cy="658812"/>
            <a:chOff x="7555266" y="1214168"/>
            <a:chExt cx="2979921" cy="658812"/>
          </a:xfrm>
        </p:grpSpPr>
        <p:sp>
          <p:nvSpPr>
            <p:cNvPr id="32" name="Right Triangle 31">
              <a:extLst>
                <a:ext uri="{FF2B5EF4-FFF2-40B4-BE49-F238E27FC236}">
                  <a16:creationId xmlns:a16="http://schemas.microsoft.com/office/drawing/2014/main" id="{B6463D82-76E9-0327-F5A4-CA7325BBF0C5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ight Triangle 32">
              <a:extLst>
                <a:ext uri="{FF2B5EF4-FFF2-40B4-BE49-F238E27FC236}">
                  <a16:creationId xmlns:a16="http://schemas.microsoft.com/office/drawing/2014/main" id="{2DEAAAE9-E42E-539C-5F65-60F45CD2916C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069C10E-DAA1-0945-B7CD-50A2ED7681C2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 Value Delivered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9A5DBB1E-E4BF-819A-E48D-0FC980DBA67E}"/>
              </a:ext>
            </a:extLst>
          </p:cNvPr>
          <p:cNvSpPr/>
          <p:nvPr/>
        </p:nvSpPr>
        <p:spPr>
          <a:xfrm>
            <a:off x="467272" y="938034"/>
            <a:ext cx="7646787" cy="446141"/>
          </a:xfrm>
          <a:prstGeom prst="rect">
            <a:avLst/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Calibri"/>
              </a:rPr>
              <a:t>Project Overview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Calibri"/>
              </a:rPr>
              <a:t>: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"/>
                <a:ea typeface="+mn-ea"/>
                <a:cs typeface="Calibri" panose="020F0502020204030204" pitchFamily="34" charset="0"/>
              </a:rPr>
              <a:t>Enhance tool to use latest tech stack to improve data consistency across the screens, minimizing end to end data refresh cycles  and improving data auditing and monitoring capabilities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lt"/>
              <a:cs typeface="Poppin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FAB0822-631B-7323-AD03-659ABB8466F9}"/>
              </a:ext>
            </a:extLst>
          </p:cNvPr>
          <p:cNvGrpSpPr/>
          <p:nvPr/>
        </p:nvGrpSpPr>
        <p:grpSpPr>
          <a:xfrm>
            <a:off x="4144761" y="1409175"/>
            <a:ext cx="3976577" cy="506676"/>
            <a:chOff x="4602706" y="2803376"/>
            <a:chExt cx="3075565" cy="506676"/>
          </a:xfrm>
        </p:grpSpPr>
        <p:sp>
          <p:nvSpPr>
            <p:cNvPr id="42" name="Pentagon 43">
              <a:extLst>
                <a:ext uri="{FF2B5EF4-FFF2-40B4-BE49-F238E27FC236}">
                  <a16:creationId xmlns:a16="http://schemas.microsoft.com/office/drawing/2014/main" id="{7C44EB57-578A-B7A8-D0B5-9397130BCB17}"/>
                </a:ext>
              </a:extLst>
            </p:cNvPr>
            <p:cNvSpPr/>
            <p:nvPr/>
          </p:nvSpPr>
          <p:spPr>
            <a:xfrm>
              <a:off x="4784520" y="2803376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3" name="Pentagon 42">
              <a:extLst>
                <a:ext uri="{FF2B5EF4-FFF2-40B4-BE49-F238E27FC236}">
                  <a16:creationId xmlns:a16="http://schemas.microsoft.com/office/drawing/2014/main" id="{706AD344-6A30-0D78-E84B-8267E49AA087}"/>
                </a:ext>
              </a:extLst>
            </p:cNvPr>
            <p:cNvSpPr/>
            <p:nvPr/>
          </p:nvSpPr>
          <p:spPr>
            <a:xfrm>
              <a:off x="4693613" y="2803664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" name="Pentagon 40">
              <a:extLst>
                <a:ext uri="{FF2B5EF4-FFF2-40B4-BE49-F238E27FC236}">
                  <a16:creationId xmlns:a16="http://schemas.microsoft.com/office/drawing/2014/main" id="{6B0DE0B4-BFB9-0556-61B7-714CF2D54727}"/>
                </a:ext>
              </a:extLst>
            </p:cNvPr>
            <p:cNvSpPr/>
            <p:nvPr/>
          </p:nvSpPr>
          <p:spPr>
            <a:xfrm>
              <a:off x="4602706" y="2803951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+mn-cs"/>
                </a:rPr>
                <a:t>Approach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endParaRP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58C702F4-4260-528B-14CD-E71710A416D0}"/>
              </a:ext>
            </a:extLst>
          </p:cNvPr>
          <p:cNvSpPr/>
          <p:nvPr/>
        </p:nvSpPr>
        <p:spPr bwMode="auto">
          <a:xfrm>
            <a:off x="8373237" y="4868244"/>
            <a:ext cx="3487448" cy="171525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E3681C6-0179-3A00-E288-C25FDC1C9BCE}"/>
              </a:ext>
            </a:extLst>
          </p:cNvPr>
          <p:cNvGrpSpPr/>
          <p:nvPr/>
        </p:nvGrpSpPr>
        <p:grpSpPr>
          <a:xfrm>
            <a:off x="8213547" y="4615631"/>
            <a:ext cx="2979921" cy="658812"/>
            <a:chOff x="7555266" y="1214168"/>
            <a:chExt cx="2979921" cy="658812"/>
          </a:xfrm>
        </p:grpSpPr>
        <p:sp>
          <p:nvSpPr>
            <p:cNvPr id="53" name="Right Triangle 52">
              <a:extLst>
                <a:ext uri="{FF2B5EF4-FFF2-40B4-BE49-F238E27FC236}">
                  <a16:creationId xmlns:a16="http://schemas.microsoft.com/office/drawing/2014/main" id="{C9F9F322-21E6-38F3-8D17-0D3F4E42B0E4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Right Triangle 53">
              <a:extLst>
                <a:ext uri="{FF2B5EF4-FFF2-40B4-BE49-F238E27FC236}">
                  <a16:creationId xmlns:a16="http://schemas.microsoft.com/office/drawing/2014/main" id="{3F4DED60-CA17-4345-DC48-AC82C071014A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8B32588-24FB-866B-5402-00A4B037C1FD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Tools Utilized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140564F-D22A-1D9B-38F1-767B8B3338BD}"/>
              </a:ext>
            </a:extLst>
          </p:cNvPr>
          <p:cNvGrpSpPr/>
          <p:nvPr/>
        </p:nvGrpSpPr>
        <p:grpSpPr>
          <a:xfrm>
            <a:off x="473076" y="1409175"/>
            <a:ext cx="3565830" cy="506676"/>
            <a:chOff x="377675" y="2790487"/>
            <a:chExt cx="3075565" cy="506676"/>
          </a:xfrm>
        </p:grpSpPr>
        <p:sp>
          <p:nvSpPr>
            <p:cNvPr id="17" name="Pentagon 43">
              <a:extLst>
                <a:ext uri="{FF2B5EF4-FFF2-40B4-BE49-F238E27FC236}">
                  <a16:creationId xmlns:a16="http://schemas.microsoft.com/office/drawing/2014/main" id="{8336A6B8-FB2F-8081-1E3B-940D57F6267E}"/>
                </a:ext>
              </a:extLst>
            </p:cNvPr>
            <p:cNvSpPr/>
            <p:nvPr/>
          </p:nvSpPr>
          <p:spPr>
            <a:xfrm>
              <a:off x="559489" y="2790487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Pentagon 42">
              <a:extLst>
                <a:ext uri="{FF2B5EF4-FFF2-40B4-BE49-F238E27FC236}">
                  <a16:creationId xmlns:a16="http://schemas.microsoft.com/office/drawing/2014/main" id="{5E6CF2FD-42F0-2B38-7EC8-615157DAA3E3}"/>
                </a:ext>
              </a:extLst>
            </p:cNvPr>
            <p:cNvSpPr/>
            <p:nvPr/>
          </p:nvSpPr>
          <p:spPr>
            <a:xfrm>
              <a:off x="468582" y="2790775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" name="Pentagon 40">
              <a:extLst>
                <a:ext uri="{FF2B5EF4-FFF2-40B4-BE49-F238E27FC236}">
                  <a16:creationId xmlns:a16="http://schemas.microsoft.com/office/drawing/2014/main" id="{F4E9CF5C-6754-DFE5-05C7-BFA0E3813E50}"/>
                </a:ext>
              </a:extLst>
            </p:cNvPr>
            <p:cNvSpPr/>
            <p:nvPr/>
          </p:nvSpPr>
          <p:spPr>
            <a:xfrm>
              <a:off x="377675" y="2791062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+mn-cs"/>
                </a:rPr>
                <a:t>Challenges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390915E-73BA-5858-55AC-DE7C81A59CFD}"/>
              </a:ext>
            </a:extLst>
          </p:cNvPr>
          <p:cNvSpPr txBox="1"/>
          <p:nvPr/>
        </p:nvSpPr>
        <p:spPr>
          <a:xfrm>
            <a:off x="4204386" y="2121739"/>
            <a:ext cx="3724243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Integration and Summarization Improvements:​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Enabled Snowflake (SF) ingestion for critical data objects, allowing data summarization at varying granularity tailored to screen flow needs.​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Achieved seamless integration of ingestion and daily summarization processes, ensuring consistency across different UI screens.​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API integration and data separation: Reduced transaction volume between the metric platform, compensation systems, and reporting applications by separating summarized transactions at different levels (order/line/SKU) and linking them to detailed transactions via REST API.​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Cost Control and Efficiency:​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Managed high data volumes effectively—regular flow involves 300-500k transactions, with spikes above 1 million during month-end/quarter-end or re-processing.​​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66D9BB-6B56-EC27-0DBA-98B7A123E094}"/>
              </a:ext>
            </a:extLst>
          </p:cNvPr>
          <p:cNvSpPr txBox="1"/>
          <p:nvPr/>
        </p:nvSpPr>
        <p:spPr>
          <a:xfrm>
            <a:off x="531412" y="2262579"/>
            <a:ext cx="3148918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Data Consistency and Refresh Cycles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Inconsistent data across user interfaces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Long data refresh cycles delaying timely information availability.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High Transaction Volume Management: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Ensuring performance and reliability during high transaction periods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Complex Data Integration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Integrating data from multiple sources seamlessly.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Maintaining high performance and low latency.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Cost Control and Efficiency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Balancing operational costs with system efficiency.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Optimizing resources during peak transaction periods without compromising data integrity.</a:t>
            </a:r>
          </a:p>
        </p:txBody>
      </p:sp>
      <p:pic>
        <p:nvPicPr>
          <p:cNvPr id="37" name="Picture 4" descr="Snowflake - Free weather icons">
            <a:extLst>
              <a:ext uri="{FF2B5EF4-FFF2-40B4-BE49-F238E27FC236}">
                <a16:creationId xmlns:a16="http://schemas.microsoft.com/office/drawing/2014/main" id="{0473D571-7C84-DB5E-B72E-B1106D937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0152" y="5333710"/>
            <a:ext cx="601405" cy="601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177D477-F87A-FFFC-7E6A-7E82BAEF8365}"/>
              </a:ext>
            </a:extLst>
          </p:cNvPr>
          <p:cNvSpPr txBox="1"/>
          <p:nvPr/>
        </p:nvSpPr>
        <p:spPr>
          <a:xfrm>
            <a:off x="8607206" y="5923423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Snowflake</a:t>
            </a:r>
          </a:p>
        </p:txBody>
      </p:sp>
      <p:pic>
        <p:nvPicPr>
          <p:cNvPr id="40" name="Picture 2" descr="through Tableau Foundation ...">
            <a:extLst>
              <a:ext uri="{FF2B5EF4-FFF2-40B4-BE49-F238E27FC236}">
                <a16:creationId xmlns:a16="http://schemas.microsoft.com/office/drawing/2014/main" id="{10B26EFC-9C72-2F45-E81A-0F77C5FDC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083" y="5318544"/>
            <a:ext cx="1091868" cy="57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376396D-8821-BFEF-7FC4-258AAF51F37C}"/>
              </a:ext>
            </a:extLst>
          </p:cNvPr>
          <p:cNvSpPr txBox="1"/>
          <p:nvPr/>
        </p:nvSpPr>
        <p:spPr>
          <a:xfrm>
            <a:off x="9802607" y="5923423"/>
            <a:ext cx="7585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Tableau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0733CDB-46E3-2170-BDE7-620771AA61DF}"/>
              </a:ext>
            </a:extLst>
          </p:cNvPr>
          <p:cNvGrpSpPr>
            <a:grpSpLocks noChangeAspect="1"/>
          </p:cNvGrpSpPr>
          <p:nvPr/>
        </p:nvGrpSpPr>
        <p:grpSpPr>
          <a:xfrm>
            <a:off x="8738538" y="1853398"/>
            <a:ext cx="365760" cy="355078"/>
            <a:chOff x="985962" y="4707478"/>
            <a:chExt cx="1598362" cy="1599965"/>
          </a:xfrm>
          <a:solidFill>
            <a:srgbClr val="767171"/>
          </a:solidFill>
        </p:grpSpPr>
        <p:sp>
          <p:nvSpPr>
            <p:cNvPr id="48" name="Freeform 64">
              <a:extLst>
                <a:ext uri="{FF2B5EF4-FFF2-40B4-BE49-F238E27FC236}">
                  <a16:creationId xmlns:a16="http://schemas.microsoft.com/office/drawing/2014/main" id="{7248FD87-5C55-9CBE-AC65-CEBD2F448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400" y="5112877"/>
              <a:ext cx="897326" cy="897327"/>
            </a:xfrm>
            <a:custGeom>
              <a:avLst/>
              <a:gdLst>
                <a:gd name="T0" fmla="*/ 0 w 474"/>
                <a:gd name="T1" fmla="*/ 237 h 474"/>
                <a:gd name="T2" fmla="*/ 237 w 474"/>
                <a:gd name="T3" fmla="*/ 474 h 474"/>
                <a:gd name="T4" fmla="*/ 474 w 474"/>
                <a:gd name="T5" fmla="*/ 237 h 474"/>
                <a:gd name="T6" fmla="*/ 452 w 474"/>
                <a:gd name="T7" fmla="*/ 137 h 474"/>
                <a:gd name="T8" fmla="*/ 390 w 474"/>
                <a:gd name="T9" fmla="*/ 198 h 474"/>
                <a:gd name="T10" fmla="*/ 395 w 474"/>
                <a:gd name="T11" fmla="*/ 237 h 474"/>
                <a:gd name="T12" fmla="*/ 237 w 474"/>
                <a:gd name="T13" fmla="*/ 395 h 474"/>
                <a:gd name="T14" fmla="*/ 79 w 474"/>
                <a:gd name="T15" fmla="*/ 237 h 474"/>
                <a:gd name="T16" fmla="*/ 237 w 474"/>
                <a:gd name="T17" fmla="*/ 79 h 474"/>
                <a:gd name="T18" fmla="*/ 276 w 474"/>
                <a:gd name="T19" fmla="*/ 84 h 474"/>
                <a:gd name="T20" fmla="*/ 337 w 474"/>
                <a:gd name="T21" fmla="*/ 22 h 474"/>
                <a:gd name="T22" fmla="*/ 237 w 474"/>
                <a:gd name="T23" fmla="*/ 0 h 474"/>
                <a:gd name="T24" fmla="*/ 0 w 474"/>
                <a:gd name="T25" fmla="*/ 237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4" h="474">
                  <a:moveTo>
                    <a:pt x="0" y="237"/>
                  </a:moveTo>
                  <a:cubicBezTo>
                    <a:pt x="0" y="368"/>
                    <a:pt x="106" y="474"/>
                    <a:pt x="237" y="474"/>
                  </a:cubicBezTo>
                  <a:cubicBezTo>
                    <a:pt x="368" y="474"/>
                    <a:pt x="474" y="368"/>
                    <a:pt x="474" y="237"/>
                  </a:cubicBezTo>
                  <a:cubicBezTo>
                    <a:pt x="474" y="201"/>
                    <a:pt x="466" y="167"/>
                    <a:pt x="452" y="137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3" y="210"/>
                    <a:pt x="395" y="223"/>
                    <a:pt x="395" y="237"/>
                  </a:cubicBezTo>
                  <a:cubicBezTo>
                    <a:pt x="395" y="324"/>
                    <a:pt x="324" y="395"/>
                    <a:pt x="237" y="395"/>
                  </a:cubicBezTo>
                  <a:cubicBezTo>
                    <a:pt x="150" y="395"/>
                    <a:pt x="79" y="324"/>
                    <a:pt x="79" y="237"/>
                  </a:cubicBezTo>
                  <a:cubicBezTo>
                    <a:pt x="79" y="150"/>
                    <a:pt x="150" y="79"/>
                    <a:pt x="237" y="79"/>
                  </a:cubicBezTo>
                  <a:cubicBezTo>
                    <a:pt x="251" y="79"/>
                    <a:pt x="264" y="81"/>
                    <a:pt x="276" y="84"/>
                  </a:cubicBezTo>
                  <a:cubicBezTo>
                    <a:pt x="337" y="22"/>
                    <a:pt x="337" y="22"/>
                    <a:pt x="337" y="22"/>
                  </a:cubicBezTo>
                  <a:cubicBezTo>
                    <a:pt x="307" y="8"/>
                    <a:pt x="273" y="0"/>
                    <a:pt x="237" y="0"/>
                  </a:cubicBezTo>
                  <a:cubicBezTo>
                    <a:pt x="106" y="0"/>
                    <a:pt x="0" y="106"/>
                    <a:pt x="0" y="23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49" name="Freeform 65">
              <a:extLst>
                <a:ext uri="{FF2B5EF4-FFF2-40B4-BE49-F238E27FC236}">
                  <a16:creationId xmlns:a16="http://schemas.microsoft.com/office/drawing/2014/main" id="{97D22A8E-C218-33EB-785B-B05DE8706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043" y="4707478"/>
              <a:ext cx="1002281" cy="1003083"/>
            </a:xfrm>
            <a:custGeom>
              <a:avLst/>
              <a:gdLst>
                <a:gd name="T0" fmla="*/ 408 w 530"/>
                <a:gd name="T1" fmla="*/ 122 h 530"/>
                <a:gd name="T2" fmla="*/ 408 w 530"/>
                <a:gd name="T3" fmla="*/ 0 h 530"/>
                <a:gd name="T4" fmla="*/ 298 w 530"/>
                <a:gd name="T5" fmla="*/ 110 h 530"/>
                <a:gd name="T6" fmla="*/ 273 w 530"/>
                <a:gd name="T7" fmla="*/ 209 h 530"/>
                <a:gd name="T8" fmla="*/ 106 w 530"/>
                <a:gd name="T9" fmla="*/ 377 h 530"/>
                <a:gd name="T10" fmla="*/ 79 w 530"/>
                <a:gd name="T11" fmla="*/ 372 h 530"/>
                <a:gd name="T12" fmla="*/ 0 w 530"/>
                <a:gd name="T13" fmla="*/ 451 h 530"/>
                <a:gd name="T14" fmla="*/ 79 w 530"/>
                <a:gd name="T15" fmla="*/ 530 h 530"/>
                <a:gd name="T16" fmla="*/ 158 w 530"/>
                <a:gd name="T17" fmla="*/ 451 h 530"/>
                <a:gd name="T18" fmla="*/ 153 w 530"/>
                <a:gd name="T19" fmla="*/ 424 h 530"/>
                <a:gd name="T20" fmla="*/ 321 w 530"/>
                <a:gd name="T21" fmla="*/ 257 h 530"/>
                <a:gd name="T22" fmla="*/ 420 w 530"/>
                <a:gd name="T23" fmla="*/ 232 h 530"/>
                <a:gd name="T24" fmla="*/ 530 w 530"/>
                <a:gd name="T25" fmla="*/ 122 h 530"/>
                <a:gd name="T26" fmla="*/ 408 w 530"/>
                <a:gd name="T27" fmla="*/ 122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30" h="530">
                  <a:moveTo>
                    <a:pt x="408" y="122"/>
                  </a:moveTo>
                  <a:cubicBezTo>
                    <a:pt x="408" y="0"/>
                    <a:pt x="408" y="0"/>
                    <a:pt x="408" y="0"/>
                  </a:cubicBezTo>
                  <a:cubicBezTo>
                    <a:pt x="298" y="110"/>
                    <a:pt x="298" y="110"/>
                    <a:pt x="298" y="110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106" y="377"/>
                    <a:pt x="106" y="377"/>
                    <a:pt x="106" y="377"/>
                  </a:cubicBezTo>
                  <a:cubicBezTo>
                    <a:pt x="98" y="374"/>
                    <a:pt x="89" y="372"/>
                    <a:pt x="79" y="372"/>
                  </a:cubicBezTo>
                  <a:cubicBezTo>
                    <a:pt x="36" y="372"/>
                    <a:pt x="0" y="407"/>
                    <a:pt x="0" y="451"/>
                  </a:cubicBezTo>
                  <a:cubicBezTo>
                    <a:pt x="0" y="494"/>
                    <a:pt x="36" y="530"/>
                    <a:pt x="79" y="530"/>
                  </a:cubicBezTo>
                  <a:cubicBezTo>
                    <a:pt x="123" y="530"/>
                    <a:pt x="158" y="494"/>
                    <a:pt x="158" y="451"/>
                  </a:cubicBezTo>
                  <a:cubicBezTo>
                    <a:pt x="158" y="441"/>
                    <a:pt x="156" y="432"/>
                    <a:pt x="153" y="424"/>
                  </a:cubicBezTo>
                  <a:cubicBezTo>
                    <a:pt x="321" y="257"/>
                    <a:pt x="321" y="257"/>
                    <a:pt x="321" y="257"/>
                  </a:cubicBezTo>
                  <a:cubicBezTo>
                    <a:pt x="420" y="232"/>
                    <a:pt x="420" y="232"/>
                    <a:pt x="420" y="232"/>
                  </a:cubicBezTo>
                  <a:cubicBezTo>
                    <a:pt x="530" y="122"/>
                    <a:pt x="530" y="122"/>
                    <a:pt x="530" y="122"/>
                  </a:cubicBezTo>
                  <a:lnTo>
                    <a:pt x="408" y="12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50" name="Freeform 66">
              <a:extLst>
                <a:ext uri="{FF2B5EF4-FFF2-40B4-BE49-F238E27FC236}">
                  <a16:creationId xmlns:a16="http://schemas.microsoft.com/office/drawing/2014/main" id="{A50240AE-D157-6DDB-F91B-12188E9E6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1447" y="5249079"/>
              <a:ext cx="139406" cy="33650"/>
            </a:xfrm>
            <a:custGeom>
              <a:avLst/>
              <a:gdLst>
                <a:gd name="T0" fmla="*/ 174 w 174"/>
                <a:gd name="T1" fmla="*/ 0 h 42"/>
                <a:gd name="T2" fmla="*/ 0 w 174"/>
                <a:gd name="T3" fmla="*/ 42 h 42"/>
                <a:gd name="T4" fmla="*/ 174 w 174"/>
                <a:gd name="T5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" h="42">
                  <a:moveTo>
                    <a:pt x="174" y="0"/>
                  </a:moveTo>
                  <a:lnTo>
                    <a:pt x="0" y="42"/>
                  </a:lnTo>
                  <a:lnTo>
                    <a:pt x="17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56" name="Freeform 67">
              <a:extLst>
                <a:ext uri="{FF2B5EF4-FFF2-40B4-BE49-F238E27FC236}">
                  <a16:creationId xmlns:a16="http://schemas.microsoft.com/office/drawing/2014/main" id="{C9978BA2-3A51-1586-5FE0-7D3932E9B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962" y="4813234"/>
              <a:ext cx="1492606" cy="1494209"/>
            </a:xfrm>
            <a:custGeom>
              <a:avLst/>
              <a:gdLst>
                <a:gd name="T0" fmla="*/ 748 w 789"/>
                <a:gd name="T1" fmla="*/ 230 h 789"/>
                <a:gd name="T2" fmla="*/ 748 w 789"/>
                <a:gd name="T3" fmla="*/ 230 h 789"/>
                <a:gd name="T4" fmla="*/ 674 w 789"/>
                <a:gd name="T5" fmla="*/ 248 h 789"/>
                <a:gd name="T6" fmla="*/ 710 w 789"/>
                <a:gd name="T7" fmla="*/ 395 h 789"/>
                <a:gd name="T8" fmla="*/ 394 w 789"/>
                <a:gd name="T9" fmla="*/ 711 h 789"/>
                <a:gd name="T10" fmla="*/ 78 w 789"/>
                <a:gd name="T11" fmla="*/ 395 h 789"/>
                <a:gd name="T12" fmla="*/ 394 w 789"/>
                <a:gd name="T13" fmla="*/ 79 h 789"/>
                <a:gd name="T14" fmla="*/ 541 w 789"/>
                <a:gd name="T15" fmla="*/ 115 h 789"/>
                <a:gd name="T16" fmla="*/ 559 w 789"/>
                <a:gd name="T17" fmla="*/ 41 h 789"/>
                <a:gd name="T18" fmla="*/ 559 w 789"/>
                <a:gd name="T19" fmla="*/ 41 h 789"/>
                <a:gd name="T20" fmla="*/ 560 w 789"/>
                <a:gd name="T21" fmla="*/ 37 h 789"/>
                <a:gd name="T22" fmla="*/ 394 w 789"/>
                <a:gd name="T23" fmla="*/ 0 h 789"/>
                <a:gd name="T24" fmla="*/ 0 w 789"/>
                <a:gd name="T25" fmla="*/ 395 h 789"/>
                <a:gd name="T26" fmla="*/ 394 w 789"/>
                <a:gd name="T27" fmla="*/ 789 h 789"/>
                <a:gd name="T28" fmla="*/ 789 w 789"/>
                <a:gd name="T29" fmla="*/ 395 h 789"/>
                <a:gd name="T30" fmla="*/ 752 w 789"/>
                <a:gd name="T31" fmla="*/ 229 h 789"/>
                <a:gd name="T32" fmla="*/ 748 w 789"/>
                <a:gd name="T33" fmla="*/ 230 h 7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89" h="789">
                  <a:moveTo>
                    <a:pt x="748" y="230"/>
                  </a:moveTo>
                  <a:cubicBezTo>
                    <a:pt x="748" y="230"/>
                    <a:pt x="748" y="230"/>
                    <a:pt x="748" y="230"/>
                  </a:cubicBezTo>
                  <a:cubicBezTo>
                    <a:pt x="674" y="248"/>
                    <a:pt x="674" y="248"/>
                    <a:pt x="674" y="248"/>
                  </a:cubicBezTo>
                  <a:cubicBezTo>
                    <a:pt x="697" y="292"/>
                    <a:pt x="710" y="342"/>
                    <a:pt x="710" y="395"/>
                  </a:cubicBezTo>
                  <a:cubicBezTo>
                    <a:pt x="710" y="569"/>
                    <a:pt x="568" y="711"/>
                    <a:pt x="394" y="711"/>
                  </a:cubicBezTo>
                  <a:cubicBezTo>
                    <a:pt x="220" y="711"/>
                    <a:pt x="78" y="569"/>
                    <a:pt x="78" y="395"/>
                  </a:cubicBezTo>
                  <a:cubicBezTo>
                    <a:pt x="78" y="220"/>
                    <a:pt x="220" y="79"/>
                    <a:pt x="394" y="79"/>
                  </a:cubicBezTo>
                  <a:cubicBezTo>
                    <a:pt x="447" y="79"/>
                    <a:pt x="497" y="92"/>
                    <a:pt x="541" y="115"/>
                  </a:cubicBezTo>
                  <a:cubicBezTo>
                    <a:pt x="559" y="41"/>
                    <a:pt x="559" y="41"/>
                    <a:pt x="559" y="41"/>
                  </a:cubicBezTo>
                  <a:cubicBezTo>
                    <a:pt x="559" y="41"/>
                    <a:pt x="559" y="41"/>
                    <a:pt x="559" y="41"/>
                  </a:cubicBezTo>
                  <a:cubicBezTo>
                    <a:pt x="560" y="37"/>
                    <a:pt x="560" y="37"/>
                    <a:pt x="560" y="37"/>
                  </a:cubicBezTo>
                  <a:cubicBezTo>
                    <a:pt x="510" y="13"/>
                    <a:pt x="453" y="0"/>
                    <a:pt x="394" y="0"/>
                  </a:cubicBezTo>
                  <a:cubicBezTo>
                    <a:pt x="176" y="0"/>
                    <a:pt x="0" y="177"/>
                    <a:pt x="0" y="395"/>
                  </a:cubicBezTo>
                  <a:cubicBezTo>
                    <a:pt x="0" y="613"/>
                    <a:pt x="176" y="789"/>
                    <a:pt x="394" y="789"/>
                  </a:cubicBezTo>
                  <a:cubicBezTo>
                    <a:pt x="612" y="789"/>
                    <a:pt x="789" y="613"/>
                    <a:pt x="789" y="395"/>
                  </a:cubicBezTo>
                  <a:cubicBezTo>
                    <a:pt x="789" y="336"/>
                    <a:pt x="776" y="279"/>
                    <a:pt x="752" y="229"/>
                  </a:cubicBezTo>
                  <a:lnTo>
                    <a:pt x="748" y="23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57" name="Freeform 68">
              <a:extLst>
                <a:ext uri="{FF2B5EF4-FFF2-40B4-BE49-F238E27FC236}">
                  <a16:creationId xmlns:a16="http://schemas.microsoft.com/office/drawing/2014/main" id="{C2DEDE72-E7A0-5749-3152-18198A5FB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074" y="4890949"/>
              <a:ext cx="34451" cy="140207"/>
            </a:xfrm>
            <a:custGeom>
              <a:avLst/>
              <a:gdLst>
                <a:gd name="T0" fmla="*/ 0 w 43"/>
                <a:gd name="T1" fmla="*/ 175 h 175"/>
                <a:gd name="T2" fmla="*/ 43 w 43"/>
                <a:gd name="T3" fmla="*/ 0 h 175"/>
                <a:gd name="T4" fmla="*/ 43 w 43"/>
                <a:gd name="T5" fmla="*/ 0 h 175"/>
                <a:gd name="T6" fmla="*/ 0 w 43"/>
                <a:gd name="T7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75">
                  <a:moveTo>
                    <a:pt x="0" y="175"/>
                  </a:moveTo>
                  <a:lnTo>
                    <a:pt x="43" y="0"/>
                  </a:lnTo>
                  <a:lnTo>
                    <a:pt x="43" y="0"/>
                  </a:lnTo>
                  <a:lnTo>
                    <a:pt x="0" y="17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BD39D817-6BEA-F695-C04B-5B890A71387C}"/>
              </a:ext>
            </a:extLst>
          </p:cNvPr>
          <p:cNvSpPr txBox="1"/>
          <p:nvPr/>
        </p:nvSpPr>
        <p:spPr>
          <a:xfrm>
            <a:off x="9326444" y="1686514"/>
            <a:ext cx="253424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Enhanced Customer Experience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: Personalizing product recommendations by understanding the specific needs of different segments.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E61957-02C3-8BD1-DD53-8220764E7CC8}"/>
              </a:ext>
            </a:extLst>
          </p:cNvPr>
          <p:cNvSpPr txBox="1"/>
          <p:nvPr/>
        </p:nvSpPr>
        <p:spPr>
          <a:xfrm>
            <a:off x="9326443" y="3834675"/>
            <a:ext cx="25774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Automation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 of insight for new customers and changes in customer data</a:t>
            </a:r>
          </a:p>
        </p:txBody>
      </p:sp>
      <p:pic>
        <p:nvPicPr>
          <p:cNvPr id="60" name="Graphic 59" descr="Laptop">
            <a:extLst>
              <a:ext uri="{FF2B5EF4-FFF2-40B4-BE49-F238E27FC236}">
                <a16:creationId xmlns:a16="http://schemas.microsoft.com/office/drawing/2014/main" id="{E288E7B2-4A02-926C-509B-69EC3D8D32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07206" y="3831832"/>
            <a:ext cx="548640" cy="548640"/>
          </a:xfrm>
          <a:prstGeom prst="rect">
            <a:avLst/>
          </a:prstGeom>
        </p:spPr>
      </p:pic>
      <p:grpSp>
        <p:nvGrpSpPr>
          <p:cNvPr id="61" name="Group 134153">
            <a:extLst>
              <a:ext uri="{FF2B5EF4-FFF2-40B4-BE49-F238E27FC236}">
                <a16:creationId xmlns:a16="http://schemas.microsoft.com/office/drawing/2014/main" id="{88D24210-AE7E-AD1A-63C5-CA9C768B5722}"/>
              </a:ext>
            </a:extLst>
          </p:cNvPr>
          <p:cNvGrpSpPr>
            <a:grpSpLocks noChangeAspect="1"/>
          </p:cNvGrpSpPr>
          <p:nvPr/>
        </p:nvGrpSpPr>
        <p:grpSpPr>
          <a:xfrm>
            <a:off x="8744061" y="2880038"/>
            <a:ext cx="457200" cy="395808"/>
            <a:chOff x="998538" y="2127250"/>
            <a:chExt cx="2381249" cy="2255838"/>
          </a:xfrm>
          <a:solidFill>
            <a:srgbClr val="767171"/>
          </a:solidFill>
        </p:grpSpPr>
        <p:sp>
          <p:nvSpPr>
            <p:cNvPr id="62" name="Freeform 23">
              <a:extLst>
                <a:ext uri="{FF2B5EF4-FFF2-40B4-BE49-F238E27FC236}">
                  <a16:creationId xmlns:a16="http://schemas.microsoft.com/office/drawing/2014/main" id="{7AF06177-C4AA-62A9-75E5-F5BDD054A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538" y="3387725"/>
              <a:ext cx="2381249" cy="995363"/>
            </a:xfrm>
            <a:custGeom>
              <a:avLst/>
              <a:gdLst>
                <a:gd name="T0" fmla="*/ 337 w 359"/>
                <a:gd name="T1" fmla="*/ 61 h 150"/>
                <a:gd name="T2" fmla="*/ 208 w 359"/>
                <a:gd name="T3" fmla="*/ 139 h 150"/>
                <a:gd name="T4" fmla="*/ 160 w 359"/>
                <a:gd name="T5" fmla="*/ 141 h 150"/>
                <a:gd name="T6" fmla="*/ 101 w 359"/>
                <a:gd name="T7" fmla="*/ 120 h 150"/>
                <a:gd name="T8" fmla="*/ 62 w 359"/>
                <a:gd name="T9" fmla="*/ 120 h 150"/>
                <a:gd name="T10" fmla="*/ 42 w 359"/>
                <a:gd name="T11" fmla="*/ 132 h 150"/>
                <a:gd name="T12" fmla="*/ 0 w 359"/>
                <a:gd name="T13" fmla="*/ 38 h 150"/>
                <a:gd name="T14" fmla="*/ 56 w 359"/>
                <a:gd name="T15" fmla="*/ 13 h 150"/>
                <a:gd name="T16" fmla="*/ 119 w 359"/>
                <a:gd name="T17" fmla="*/ 18 h 150"/>
                <a:gd name="T18" fmla="*/ 154 w 359"/>
                <a:gd name="T19" fmla="*/ 42 h 150"/>
                <a:gd name="T20" fmla="*/ 204 w 359"/>
                <a:gd name="T21" fmla="*/ 57 h 150"/>
                <a:gd name="T22" fmla="*/ 237 w 359"/>
                <a:gd name="T23" fmla="*/ 72 h 150"/>
                <a:gd name="T24" fmla="*/ 211 w 359"/>
                <a:gd name="T25" fmla="*/ 87 h 150"/>
                <a:gd name="T26" fmla="*/ 163 w 359"/>
                <a:gd name="T27" fmla="*/ 87 h 150"/>
                <a:gd name="T28" fmla="*/ 111 w 359"/>
                <a:gd name="T29" fmla="*/ 75 h 150"/>
                <a:gd name="T30" fmla="*/ 163 w 359"/>
                <a:gd name="T31" fmla="*/ 102 h 150"/>
                <a:gd name="T32" fmla="*/ 212 w 359"/>
                <a:gd name="T33" fmla="*/ 102 h 150"/>
                <a:gd name="T34" fmla="*/ 252 w 359"/>
                <a:gd name="T35" fmla="*/ 72 h 150"/>
                <a:gd name="T36" fmla="*/ 191 w 359"/>
                <a:gd name="T37" fmla="*/ 42 h 150"/>
                <a:gd name="T38" fmla="*/ 183 w 359"/>
                <a:gd name="T39" fmla="*/ 42 h 150"/>
                <a:gd name="T40" fmla="*/ 187 w 359"/>
                <a:gd name="T41" fmla="*/ 39 h 150"/>
                <a:gd name="T42" fmla="*/ 211 w 359"/>
                <a:gd name="T43" fmla="*/ 25 h 150"/>
                <a:gd name="T44" fmla="*/ 261 w 359"/>
                <a:gd name="T45" fmla="*/ 24 h 150"/>
                <a:gd name="T46" fmla="*/ 289 w 359"/>
                <a:gd name="T47" fmla="*/ 13 h 150"/>
                <a:gd name="T48" fmla="*/ 306 w 359"/>
                <a:gd name="T49" fmla="*/ 31 h 150"/>
                <a:gd name="T50" fmla="*/ 351 w 359"/>
                <a:gd name="T51" fmla="*/ 29 h 150"/>
                <a:gd name="T52" fmla="*/ 337 w 359"/>
                <a:gd name="T53" fmla="*/ 61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9" h="150">
                  <a:moveTo>
                    <a:pt x="337" y="61"/>
                  </a:moveTo>
                  <a:cubicBezTo>
                    <a:pt x="326" y="69"/>
                    <a:pt x="223" y="130"/>
                    <a:pt x="208" y="139"/>
                  </a:cubicBezTo>
                  <a:cubicBezTo>
                    <a:pt x="191" y="149"/>
                    <a:pt x="186" y="150"/>
                    <a:pt x="160" y="141"/>
                  </a:cubicBezTo>
                  <a:cubicBezTo>
                    <a:pt x="143" y="136"/>
                    <a:pt x="119" y="128"/>
                    <a:pt x="101" y="120"/>
                  </a:cubicBezTo>
                  <a:cubicBezTo>
                    <a:pt x="85" y="112"/>
                    <a:pt x="74" y="112"/>
                    <a:pt x="62" y="120"/>
                  </a:cubicBezTo>
                  <a:cubicBezTo>
                    <a:pt x="42" y="132"/>
                    <a:pt x="42" y="132"/>
                    <a:pt x="42" y="132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35" y="21"/>
                    <a:pt x="56" y="13"/>
                  </a:cubicBezTo>
                  <a:cubicBezTo>
                    <a:pt x="90" y="0"/>
                    <a:pt x="100" y="6"/>
                    <a:pt x="119" y="18"/>
                  </a:cubicBezTo>
                  <a:cubicBezTo>
                    <a:pt x="127" y="23"/>
                    <a:pt x="154" y="42"/>
                    <a:pt x="154" y="42"/>
                  </a:cubicBezTo>
                  <a:cubicBezTo>
                    <a:pt x="154" y="42"/>
                    <a:pt x="170" y="57"/>
                    <a:pt x="204" y="57"/>
                  </a:cubicBezTo>
                  <a:cubicBezTo>
                    <a:pt x="224" y="57"/>
                    <a:pt x="237" y="60"/>
                    <a:pt x="237" y="72"/>
                  </a:cubicBezTo>
                  <a:cubicBezTo>
                    <a:pt x="237" y="86"/>
                    <a:pt x="212" y="87"/>
                    <a:pt x="211" y="87"/>
                  </a:cubicBezTo>
                  <a:cubicBezTo>
                    <a:pt x="163" y="87"/>
                    <a:pt x="163" y="87"/>
                    <a:pt x="163" y="87"/>
                  </a:cubicBezTo>
                  <a:cubicBezTo>
                    <a:pt x="141" y="87"/>
                    <a:pt x="111" y="75"/>
                    <a:pt x="111" y="75"/>
                  </a:cubicBezTo>
                  <a:cubicBezTo>
                    <a:pt x="111" y="75"/>
                    <a:pt x="136" y="102"/>
                    <a:pt x="163" y="102"/>
                  </a:cubicBezTo>
                  <a:cubicBezTo>
                    <a:pt x="212" y="102"/>
                    <a:pt x="212" y="102"/>
                    <a:pt x="212" y="102"/>
                  </a:cubicBezTo>
                  <a:cubicBezTo>
                    <a:pt x="226" y="102"/>
                    <a:pt x="252" y="95"/>
                    <a:pt x="252" y="72"/>
                  </a:cubicBezTo>
                  <a:cubicBezTo>
                    <a:pt x="252" y="42"/>
                    <a:pt x="225" y="42"/>
                    <a:pt x="191" y="42"/>
                  </a:cubicBezTo>
                  <a:cubicBezTo>
                    <a:pt x="188" y="42"/>
                    <a:pt x="186" y="42"/>
                    <a:pt x="183" y="42"/>
                  </a:cubicBezTo>
                  <a:cubicBezTo>
                    <a:pt x="185" y="41"/>
                    <a:pt x="186" y="40"/>
                    <a:pt x="187" y="39"/>
                  </a:cubicBezTo>
                  <a:cubicBezTo>
                    <a:pt x="194" y="36"/>
                    <a:pt x="202" y="31"/>
                    <a:pt x="211" y="25"/>
                  </a:cubicBezTo>
                  <a:cubicBezTo>
                    <a:pt x="236" y="10"/>
                    <a:pt x="248" y="8"/>
                    <a:pt x="261" y="24"/>
                  </a:cubicBezTo>
                  <a:cubicBezTo>
                    <a:pt x="269" y="15"/>
                    <a:pt x="280" y="13"/>
                    <a:pt x="289" y="13"/>
                  </a:cubicBezTo>
                  <a:cubicBezTo>
                    <a:pt x="299" y="13"/>
                    <a:pt x="308" y="20"/>
                    <a:pt x="306" y="31"/>
                  </a:cubicBezTo>
                  <a:cubicBezTo>
                    <a:pt x="332" y="15"/>
                    <a:pt x="345" y="21"/>
                    <a:pt x="351" y="29"/>
                  </a:cubicBezTo>
                  <a:cubicBezTo>
                    <a:pt x="359" y="39"/>
                    <a:pt x="354" y="50"/>
                    <a:pt x="337" y="6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D2EC0C92-2443-400A-FE1C-05975A75D6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0000" y="2127250"/>
              <a:ext cx="889000" cy="869950"/>
            </a:xfrm>
            <a:custGeom>
              <a:avLst/>
              <a:gdLst>
                <a:gd name="T0" fmla="*/ 95 w 134"/>
                <a:gd name="T1" fmla="*/ 110 h 131"/>
                <a:gd name="T2" fmla="*/ 107 w 134"/>
                <a:gd name="T3" fmla="*/ 101 h 131"/>
                <a:gd name="T4" fmla="*/ 119 w 134"/>
                <a:gd name="T5" fmla="*/ 108 h 131"/>
                <a:gd name="T6" fmla="*/ 130 w 134"/>
                <a:gd name="T7" fmla="*/ 89 h 131"/>
                <a:gd name="T8" fmla="*/ 118 w 134"/>
                <a:gd name="T9" fmla="*/ 82 h 131"/>
                <a:gd name="T10" fmla="*/ 120 w 134"/>
                <a:gd name="T11" fmla="*/ 67 h 131"/>
                <a:gd name="T12" fmla="*/ 134 w 134"/>
                <a:gd name="T13" fmla="*/ 65 h 131"/>
                <a:gd name="T14" fmla="*/ 130 w 134"/>
                <a:gd name="T15" fmla="*/ 43 h 131"/>
                <a:gd name="T16" fmla="*/ 116 w 134"/>
                <a:gd name="T17" fmla="*/ 46 h 131"/>
                <a:gd name="T18" fmla="*/ 109 w 134"/>
                <a:gd name="T19" fmla="*/ 33 h 131"/>
                <a:gd name="T20" fmla="*/ 118 w 134"/>
                <a:gd name="T21" fmla="*/ 22 h 131"/>
                <a:gd name="T22" fmla="*/ 101 w 134"/>
                <a:gd name="T23" fmla="*/ 8 h 131"/>
                <a:gd name="T24" fmla="*/ 92 w 134"/>
                <a:gd name="T25" fmla="*/ 19 h 131"/>
                <a:gd name="T26" fmla="*/ 78 w 134"/>
                <a:gd name="T27" fmla="*/ 13 h 131"/>
                <a:gd name="T28" fmla="*/ 78 w 134"/>
                <a:gd name="T29" fmla="*/ 0 h 131"/>
                <a:gd name="T30" fmla="*/ 56 w 134"/>
                <a:gd name="T31" fmla="*/ 0 h 131"/>
                <a:gd name="T32" fmla="*/ 56 w 134"/>
                <a:gd name="T33" fmla="*/ 13 h 131"/>
                <a:gd name="T34" fmla="*/ 42 w 134"/>
                <a:gd name="T35" fmla="*/ 19 h 131"/>
                <a:gd name="T36" fmla="*/ 33 w 134"/>
                <a:gd name="T37" fmla="*/ 8 h 131"/>
                <a:gd name="T38" fmla="*/ 16 w 134"/>
                <a:gd name="T39" fmla="*/ 22 h 131"/>
                <a:gd name="T40" fmla="*/ 25 w 134"/>
                <a:gd name="T41" fmla="*/ 33 h 131"/>
                <a:gd name="T42" fmla="*/ 18 w 134"/>
                <a:gd name="T43" fmla="*/ 46 h 131"/>
                <a:gd name="T44" fmla="*/ 4 w 134"/>
                <a:gd name="T45" fmla="*/ 43 h 131"/>
                <a:gd name="T46" fmla="*/ 0 w 134"/>
                <a:gd name="T47" fmla="*/ 65 h 131"/>
                <a:gd name="T48" fmla="*/ 14 w 134"/>
                <a:gd name="T49" fmla="*/ 67 h 131"/>
                <a:gd name="T50" fmla="*/ 17 w 134"/>
                <a:gd name="T51" fmla="*/ 82 h 131"/>
                <a:gd name="T52" fmla="*/ 5 w 134"/>
                <a:gd name="T53" fmla="*/ 89 h 131"/>
                <a:gd name="T54" fmla="*/ 16 w 134"/>
                <a:gd name="T55" fmla="*/ 108 h 131"/>
                <a:gd name="T56" fmla="*/ 28 w 134"/>
                <a:gd name="T57" fmla="*/ 101 h 131"/>
                <a:gd name="T58" fmla="*/ 39 w 134"/>
                <a:gd name="T59" fmla="*/ 110 h 131"/>
                <a:gd name="T60" fmla="*/ 34 w 134"/>
                <a:gd name="T61" fmla="*/ 123 h 131"/>
                <a:gd name="T62" fmla="*/ 55 w 134"/>
                <a:gd name="T63" fmla="*/ 131 h 131"/>
                <a:gd name="T64" fmla="*/ 60 w 134"/>
                <a:gd name="T65" fmla="*/ 118 h 131"/>
                <a:gd name="T66" fmla="*/ 67 w 134"/>
                <a:gd name="T67" fmla="*/ 118 h 131"/>
                <a:gd name="T68" fmla="*/ 75 w 134"/>
                <a:gd name="T69" fmla="*/ 118 h 131"/>
                <a:gd name="T70" fmla="*/ 79 w 134"/>
                <a:gd name="T71" fmla="*/ 131 h 131"/>
                <a:gd name="T72" fmla="*/ 100 w 134"/>
                <a:gd name="T73" fmla="*/ 123 h 131"/>
                <a:gd name="T74" fmla="*/ 95 w 134"/>
                <a:gd name="T75" fmla="*/ 110 h 131"/>
                <a:gd name="T76" fmla="*/ 67 w 134"/>
                <a:gd name="T77" fmla="*/ 93 h 131"/>
                <a:gd name="T78" fmla="*/ 39 w 134"/>
                <a:gd name="T79" fmla="*/ 65 h 131"/>
                <a:gd name="T80" fmla="*/ 67 w 134"/>
                <a:gd name="T81" fmla="*/ 37 h 131"/>
                <a:gd name="T82" fmla="*/ 95 w 134"/>
                <a:gd name="T83" fmla="*/ 65 h 131"/>
                <a:gd name="T84" fmla="*/ 67 w 134"/>
                <a:gd name="T85" fmla="*/ 93 h 131"/>
                <a:gd name="T86" fmla="*/ 67 w 134"/>
                <a:gd name="T87" fmla="*/ 93 h 131"/>
                <a:gd name="T88" fmla="*/ 67 w 134"/>
                <a:gd name="T89" fmla="*/ 93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4" h="131">
                  <a:moveTo>
                    <a:pt x="95" y="110"/>
                  </a:moveTo>
                  <a:cubicBezTo>
                    <a:pt x="99" y="108"/>
                    <a:pt x="103" y="104"/>
                    <a:pt x="107" y="101"/>
                  </a:cubicBezTo>
                  <a:cubicBezTo>
                    <a:pt x="119" y="108"/>
                    <a:pt x="119" y="108"/>
                    <a:pt x="119" y="108"/>
                  </a:cubicBezTo>
                  <a:cubicBezTo>
                    <a:pt x="130" y="89"/>
                    <a:pt x="130" y="89"/>
                    <a:pt x="130" y="89"/>
                  </a:cubicBezTo>
                  <a:cubicBezTo>
                    <a:pt x="118" y="82"/>
                    <a:pt x="118" y="82"/>
                    <a:pt x="118" y="82"/>
                  </a:cubicBezTo>
                  <a:cubicBezTo>
                    <a:pt x="119" y="77"/>
                    <a:pt x="120" y="72"/>
                    <a:pt x="120" y="67"/>
                  </a:cubicBezTo>
                  <a:cubicBezTo>
                    <a:pt x="134" y="65"/>
                    <a:pt x="134" y="65"/>
                    <a:pt x="134" y="65"/>
                  </a:cubicBezTo>
                  <a:cubicBezTo>
                    <a:pt x="130" y="43"/>
                    <a:pt x="130" y="43"/>
                    <a:pt x="130" y="43"/>
                  </a:cubicBezTo>
                  <a:cubicBezTo>
                    <a:pt x="116" y="46"/>
                    <a:pt x="116" y="46"/>
                    <a:pt x="116" y="46"/>
                  </a:cubicBezTo>
                  <a:cubicBezTo>
                    <a:pt x="114" y="41"/>
                    <a:pt x="112" y="37"/>
                    <a:pt x="109" y="33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01" y="8"/>
                    <a:pt x="101" y="8"/>
                    <a:pt x="101" y="8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88" y="16"/>
                    <a:pt x="83" y="15"/>
                    <a:pt x="78" y="13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6" y="13"/>
                    <a:pt x="56" y="13"/>
                    <a:pt x="56" y="13"/>
                  </a:cubicBezTo>
                  <a:cubicBezTo>
                    <a:pt x="51" y="15"/>
                    <a:pt x="46" y="16"/>
                    <a:pt x="42" y="19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2" y="37"/>
                    <a:pt x="20" y="41"/>
                    <a:pt x="18" y="46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4" y="67"/>
                    <a:pt x="14" y="67"/>
                    <a:pt x="14" y="67"/>
                  </a:cubicBezTo>
                  <a:cubicBezTo>
                    <a:pt x="14" y="72"/>
                    <a:pt x="15" y="77"/>
                    <a:pt x="17" y="8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28" y="101"/>
                    <a:pt x="28" y="101"/>
                    <a:pt x="28" y="101"/>
                  </a:cubicBezTo>
                  <a:cubicBezTo>
                    <a:pt x="31" y="104"/>
                    <a:pt x="35" y="108"/>
                    <a:pt x="39" y="110"/>
                  </a:cubicBezTo>
                  <a:cubicBezTo>
                    <a:pt x="34" y="123"/>
                    <a:pt x="34" y="123"/>
                    <a:pt x="34" y="123"/>
                  </a:cubicBezTo>
                  <a:cubicBezTo>
                    <a:pt x="55" y="131"/>
                    <a:pt x="55" y="131"/>
                    <a:pt x="55" y="131"/>
                  </a:cubicBezTo>
                  <a:cubicBezTo>
                    <a:pt x="60" y="118"/>
                    <a:pt x="60" y="118"/>
                    <a:pt x="60" y="118"/>
                  </a:cubicBezTo>
                  <a:cubicBezTo>
                    <a:pt x="62" y="118"/>
                    <a:pt x="65" y="118"/>
                    <a:pt x="67" y="118"/>
                  </a:cubicBezTo>
                  <a:cubicBezTo>
                    <a:pt x="70" y="118"/>
                    <a:pt x="72" y="118"/>
                    <a:pt x="75" y="118"/>
                  </a:cubicBezTo>
                  <a:cubicBezTo>
                    <a:pt x="79" y="131"/>
                    <a:pt x="79" y="131"/>
                    <a:pt x="79" y="131"/>
                  </a:cubicBezTo>
                  <a:cubicBezTo>
                    <a:pt x="100" y="123"/>
                    <a:pt x="100" y="123"/>
                    <a:pt x="100" y="123"/>
                  </a:cubicBezTo>
                  <a:lnTo>
                    <a:pt x="95" y="110"/>
                  </a:lnTo>
                  <a:close/>
                  <a:moveTo>
                    <a:pt x="67" y="93"/>
                  </a:moveTo>
                  <a:cubicBezTo>
                    <a:pt x="52" y="93"/>
                    <a:pt x="39" y="81"/>
                    <a:pt x="39" y="65"/>
                  </a:cubicBezTo>
                  <a:cubicBezTo>
                    <a:pt x="39" y="50"/>
                    <a:pt x="52" y="37"/>
                    <a:pt x="67" y="37"/>
                  </a:cubicBezTo>
                  <a:cubicBezTo>
                    <a:pt x="83" y="37"/>
                    <a:pt x="95" y="50"/>
                    <a:pt x="95" y="65"/>
                  </a:cubicBezTo>
                  <a:cubicBezTo>
                    <a:pt x="95" y="81"/>
                    <a:pt x="83" y="93"/>
                    <a:pt x="67" y="93"/>
                  </a:cubicBezTo>
                  <a:close/>
                  <a:moveTo>
                    <a:pt x="67" y="93"/>
                  </a:moveTo>
                  <a:cubicBezTo>
                    <a:pt x="67" y="93"/>
                    <a:pt x="67" y="93"/>
                    <a:pt x="67" y="9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1024" name="Freeform 25">
              <a:extLst>
                <a:ext uri="{FF2B5EF4-FFF2-40B4-BE49-F238E27FC236}">
                  <a16:creationId xmlns:a16="http://schemas.microsoft.com/office/drawing/2014/main" id="{7C7CAF12-AAB3-D5CF-289A-1B5B79A119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3575" y="2797175"/>
              <a:ext cx="623887" cy="630238"/>
            </a:xfrm>
            <a:custGeom>
              <a:avLst/>
              <a:gdLst>
                <a:gd name="T0" fmla="*/ 89 w 94"/>
                <a:gd name="T1" fmla="*/ 26 h 95"/>
                <a:gd name="T2" fmla="*/ 80 w 94"/>
                <a:gd name="T3" fmla="*/ 29 h 95"/>
                <a:gd name="T4" fmla="*/ 73 w 94"/>
                <a:gd name="T5" fmla="*/ 20 h 95"/>
                <a:gd name="T6" fmla="*/ 78 w 94"/>
                <a:gd name="T7" fmla="*/ 12 h 95"/>
                <a:gd name="T8" fmla="*/ 65 w 94"/>
                <a:gd name="T9" fmla="*/ 4 h 95"/>
                <a:gd name="T10" fmla="*/ 60 w 94"/>
                <a:gd name="T11" fmla="*/ 12 h 95"/>
                <a:gd name="T12" fmla="*/ 49 w 94"/>
                <a:gd name="T13" fmla="*/ 10 h 95"/>
                <a:gd name="T14" fmla="*/ 48 w 94"/>
                <a:gd name="T15" fmla="*/ 0 h 95"/>
                <a:gd name="T16" fmla="*/ 33 w 94"/>
                <a:gd name="T17" fmla="*/ 2 h 95"/>
                <a:gd name="T18" fmla="*/ 34 w 94"/>
                <a:gd name="T19" fmla="*/ 12 h 95"/>
                <a:gd name="T20" fmla="*/ 25 w 94"/>
                <a:gd name="T21" fmla="*/ 17 h 95"/>
                <a:gd name="T22" fmla="*/ 17 w 94"/>
                <a:gd name="T23" fmla="*/ 10 h 95"/>
                <a:gd name="T24" fmla="*/ 7 w 94"/>
                <a:gd name="T25" fmla="*/ 22 h 95"/>
                <a:gd name="T26" fmla="*/ 14 w 94"/>
                <a:gd name="T27" fmla="*/ 29 h 95"/>
                <a:gd name="T28" fmla="*/ 10 w 94"/>
                <a:gd name="T29" fmla="*/ 39 h 95"/>
                <a:gd name="T30" fmla="*/ 0 w 94"/>
                <a:gd name="T31" fmla="*/ 38 h 95"/>
                <a:gd name="T32" fmla="*/ 0 w 94"/>
                <a:gd name="T33" fmla="*/ 54 h 95"/>
                <a:gd name="T34" fmla="*/ 9 w 94"/>
                <a:gd name="T35" fmla="*/ 54 h 95"/>
                <a:gd name="T36" fmla="*/ 13 w 94"/>
                <a:gd name="T37" fmla="*/ 64 h 95"/>
                <a:gd name="T38" fmla="*/ 5 w 94"/>
                <a:gd name="T39" fmla="*/ 71 h 95"/>
                <a:gd name="T40" fmla="*/ 15 w 94"/>
                <a:gd name="T41" fmla="*/ 83 h 95"/>
                <a:gd name="T42" fmla="*/ 22 w 94"/>
                <a:gd name="T43" fmla="*/ 77 h 95"/>
                <a:gd name="T44" fmla="*/ 31 w 94"/>
                <a:gd name="T45" fmla="*/ 82 h 95"/>
                <a:gd name="T46" fmla="*/ 29 w 94"/>
                <a:gd name="T47" fmla="*/ 92 h 95"/>
                <a:gd name="T48" fmla="*/ 45 w 94"/>
                <a:gd name="T49" fmla="*/ 95 h 95"/>
                <a:gd name="T50" fmla="*/ 47 w 94"/>
                <a:gd name="T51" fmla="*/ 86 h 95"/>
                <a:gd name="T52" fmla="*/ 52 w 94"/>
                <a:gd name="T53" fmla="*/ 85 h 95"/>
                <a:gd name="T54" fmla="*/ 57 w 94"/>
                <a:gd name="T55" fmla="*/ 84 h 95"/>
                <a:gd name="T56" fmla="*/ 62 w 94"/>
                <a:gd name="T57" fmla="*/ 93 h 95"/>
                <a:gd name="T58" fmla="*/ 76 w 94"/>
                <a:gd name="T59" fmla="*/ 86 h 95"/>
                <a:gd name="T60" fmla="*/ 71 w 94"/>
                <a:gd name="T61" fmla="*/ 77 h 95"/>
                <a:gd name="T62" fmla="*/ 78 w 94"/>
                <a:gd name="T63" fmla="*/ 69 h 95"/>
                <a:gd name="T64" fmla="*/ 88 w 94"/>
                <a:gd name="T65" fmla="*/ 73 h 95"/>
                <a:gd name="T66" fmla="*/ 93 w 94"/>
                <a:gd name="T67" fmla="*/ 58 h 95"/>
                <a:gd name="T68" fmla="*/ 84 w 94"/>
                <a:gd name="T69" fmla="*/ 54 h 95"/>
                <a:gd name="T70" fmla="*/ 85 w 94"/>
                <a:gd name="T71" fmla="*/ 44 h 95"/>
                <a:gd name="T72" fmla="*/ 94 w 94"/>
                <a:gd name="T73" fmla="*/ 41 h 95"/>
                <a:gd name="T74" fmla="*/ 89 w 94"/>
                <a:gd name="T75" fmla="*/ 26 h 95"/>
                <a:gd name="T76" fmla="*/ 50 w 94"/>
                <a:gd name="T77" fmla="*/ 68 h 95"/>
                <a:gd name="T78" fmla="*/ 27 w 94"/>
                <a:gd name="T79" fmla="*/ 51 h 95"/>
                <a:gd name="T80" fmla="*/ 44 w 94"/>
                <a:gd name="T81" fmla="*/ 28 h 95"/>
                <a:gd name="T82" fmla="*/ 67 w 94"/>
                <a:gd name="T83" fmla="*/ 45 h 95"/>
                <a:gd name="T84" fmla="*/ 50 w 94"/>
                <a:gd name="T85" fmla="*/ 68 h 95"/>
                <a:gd name="T86" fmla="*/ 50 w 94"/>
                <a:gd name="T87" fmla="*/ 68 h 95"/>
                <a:gd name="T88" fmla="*/ 50 w 94"/>
                <a:gd name="T89" fmla="*/ 6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95">
                  <a:moveTo>
                    <a:pt x="89" y="26"/>
                  </a:moveTo>
                  <a:cubicBezTo>
                    <a:pt x="80" y="29"/>
                    <a:pt x="80" y="29"/>
                    <a:pt x="80" y="29"/>
                  </a:cubicBezTo>
                  <a:cubicBezTo>
                    <a:pt x="78" y="26"/>
                    <a:pt x="76" y="23"/>
                    <a:pt x="73" y="20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57" y="11"/>
                    <a:pt x="53" y="10"/>
                    <a:pt x="49" y="1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33" y="2"/>
                    <a:pt x="33" y="2"/>
                    <a:pt x="33" y="2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31" y="13"/>
                    <a:pt x="27" y="15"/>
                    <a:pt x="25" y="17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2" y="32"/>
                    <a:pt x="11" y="35"/>
                    <a:pt x="10" y="39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10" y="58"/>
                    <a:pt x="11" y="61"/>
                    <a:pt x="13" y="64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15" y="83"/>
                    <a:pt x="15" y="83"/>
                    <a:pt x="15" y="83"/>
                  </a:cubicBezTo>
                  <a:cubicBezTo>
                    <a:pt x="22" y="77"/>
                    <a:pt x="22" y="77"/>
                    <a:pt x="22" y="77"/>
                  </a:cubicBezTo>
                  <a:cubicBezTo>
                    <a:pt x="25" y="79"/>
                    <a:pt x="28" y="81"/>
                    <a:pt x="31" y="82"/>
                  </a:cubicBezTo>
                  <a:cubicBezTo>
                    <a:pt x="29" y="92"/>
                    <a:pt x="29" y="92"/>
                    <a:pt x="29" y="92"/>
                  </a:cubicBezTo>
                  <a:cubicBezTo>
                    <a:pt x="45" y="95"/>
                    <a:pt x="45" y="95"/>
                    <a:pt x="45" y="95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6"/>
                    <a:pt x="50" y="86"/>
                    <a:pt x="52" y="85"/>
                  </a:cubicBezTo>
                  <a:cubicBezTo>
                    <a:pt x="54" y="85"/>
                    <a:pt x="56" y="85"/>
                    <a:pt x="57" y="84"/>
                  </a:cubicBezTo>
                  <a:cubicBezTo>
                    <a:pt x="62" y="93"/>
                    <a:pt x="62" y="93"/>
                    <a:pt x="62" y="93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1" y="77"/>
                    <a:pt x="71" y="77"/>
                    <a:pt x="71" y="77"/>
                  </a:cubicBezTo>
                  <a:cubicBezTo>
                    <a:pt x="74" y="75"/>
                    <a:pt x="76" y="72"/>
                    <a:pt x="78" y="69"/>
                  </a:cubicBezTo>
                  <a:cubicBezTo>
                    <a:pt x="88" y="73"/>
                    <a:pt x="88" y="73"/>
                    <a:pt x="88" y="73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5" y="51"/>
                    <a:pt x="85" y="47"/>
                    <a:pt x="85" y="44"/>
                  </a:cubicBezTo>
                  <a:cubicBezTo>
                    <a:pt x="94" y="41"/>
                    <a:pt x="94" y="41"/>
                    <a:pt x="94" y="41"/>
                  </a:cubicBezTo>
                  <a:lnTo>
                    <a:pt x="89" y="26"/>
                  </a:lnTo>
                  <a:close/>
                  <a:moveTo>
                    <a:pt x="50" y="68"/>
                  </a:moveTo>
                  <a:cubicBezTo>
                    <a:pt x="39" y="69"/>
                    <a:pt x="29" y="61"/>
                    <a:pt x="27" y="51"/>
                  </a:cubicBezTo>
                  <a:cubicBezTo>
                    <a:pt x="25" y="40"/>
                    <a:pt x="33" y="29"/>
                    <a:pt x="44" y="28"/>
                  </a:cubicBezTo>
                  <a:cubicBezTo>
                    <a:pt x="55" y="26"/>
                    <a:pt x="65" y="34"/>
                    <a:pt x="67" y="45"/>
                  </a:cubicBezTo>
                  <a:cubicBezTo>
                    <a:pt x="68" y="56"/>
                    <a:pt x="61" y="66"/>
                    <a:pt x="50" y="68"/>
                  </a:cubicBezTo>
                  <a:close/>
                  <a:moveTo>
                    <a:pt x="50" y="68"/>
                  </a:moveTo>
                  <a:cubicBezTo>
                    <a:pt x="50" y="68"/>
                    <a:pt x="50" y="68"/>
                    <a:pt x="50" y="6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1025" name="Freeform 26">
              <a:extLst>
                <a:ext uri="{FF2B5EF4-FFF2-40B4-BE49-F238E27FC236}">
                  <a16:creationId xmlns:a16="http://schemas.microsoft.com/office/drawing/2014/main" id="{4F711783-E128-51DC-D336-E13AC11BF4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71700" y="2312988"/>
              <a:ext cx="498475" cy="496888"/>
            </a:xfrm>
            <a:custGeom>
              <a:avLst/>
              <a:gdLst>
                <a:gd name="T0" fmla="*/ 74 w 75"/>
                <a:gd name="T1" fmla="*/ 45 h 75"/>
                <a:gd name="T2" fmla="*/ 75 w 75"/>
                <a:gd name="T3" fmla="*/ 32 h 75"/>
                <a:gd name="T4" fmla="*/ 67 w 75"/>
                <a:gd name="T5" fmla="*/ 32 h 75"/>
                <a:gd name="T6" fmla="*/ 64 w 75"/>
                <a:gd name="T7" fmla="*/ 24 h 75"/>
                <a:gd name="T8" fmla="*/ 70 w 75"/>
                <a:gd name="T9" fmla="*/ 19 h 75"/>
                <a:gd name="T10" fmla="*/ 63 w 75"/>
                <a:gd name="T11" fmla="*/ 9 h 75"/>
                <a:gd name="T12" fmla="*/ 57 w 75"/>
                <a:gd name="T13" fmla="*/ 14 h 75"/>
                <a:gd name="T14" fmla="*/ 49 w 75"/>
                <a:gd name="T15" fmla="*/ 10 h 75"/>
                <a:gd name="T16" fmla="*/ 51 w 75"/>
                <a:gd name="T17" fmla="*/ 2 h 75"/>
                <a:gd name="T18" fmla="*/ 39 w 75"/>
                <a:gd name="T19" fmla="*/ 0 h 75"/>
                <a:gd name="T20" fmla="*/ 37 w 75"/>
                <a:gd name="T21" fmla="*/ 7 h 75"/>
                <a:gd name="T22" fmla="*/ 29 w 75"/>
                <a:gd name="T23" fmla="*/ 8 h 75"/>
                <a:gd name="T24" fmla="*/ 25 w 75"/>
                <a:gd name="T25" fmla="*/ 2 h 75"/>
                <a:gd name="T26" fmla="*/ 14 w 75"/>
                <a:gd name="T27" fmla="*/ 7 h 75"/>
                <a:gd name="T28" fmla="*/ 18 w 75"/>
                <a:gd name="T29" fmla="*/ 14 h 75"/>
                <a:gd name="T30" fmla="*/ 12 w 75"/>
                <a:gd name="T31" fmla="*/ 21 h 75"/>
                <a:gd name="T32" fmla="*/ 5 w 75"/>
                <a:gd name="T33" fmla="*/ 18 h 75"/>
                <a:gd name="T34" fmla="*/ 1 w 75"/>
                <a:gd name="T35" fmla="*/ 29 h 75"/>
                <a:gd name="T36" fmla="*/ 8 w 75"/>
                <a:gd name="T37" fmla="*/ 32 h 75"/>
                <a:gd name="T38" fmla="*/ 8 w 75"/>
                <a:gd name="T39" fmla="*/ 41 h 75"/>
                <a:gd name="T40" fmla="*/ 0 w 75"/>
                <a:gd name="T41" fmla="*/ 43 h 75"/>
                <a:gd name="T42" fmla="*/ 4 w 75"/>
                <a:gd name="T43" fmla="*/ 55 h 75"/>
                <a:gd name="T44" fmla="*/ 11 w 75"/>
                <a:gd name="T45" fmla="*/ 52 h 75"/>
                <a:gd name="T46" fmla="*/ 17 w 75"/>
                <a:gd name="T47" fmla="*/ 59 h 75"/>
                <a:gd name="T48" fmla="*/ 13 w 75"/>
                <a:gd name="T49" fmla="*/ 66 h 75"/>
                <a:gd name="T50" fmla="*/ 23 w 75"/>
                <a:gd name="T51" fmla="*/ 72 h 75"/>
                <a:gd name="T52" fmla="*/ 27 w 75"/>
                <a:gd name="T53" fmla="*/ 65 h 75"/>
                <a:gd name="T54" fmla="*/ 35 w 75"/>
                <a:gd name="T55" fmla="*/ 67 h 75"/>
                <a:gd name="T56" fmla="*/ 37 w 75"/>
                <a:gd name="T57" fmla="*/ 75 h 75"/>
                <a:gd name="T58" fmla="*/ 49 w 75"/>
                <a:gd name="T59" fmla="*/ 73 h 75"/>
                <a:gd name="T60" fmla="*/ 48 w 75"/>
                <a:gd name="T61" fmla="*/ 65 h 75"/>
                <a:gd name="T62" fmla="*/ 52 w 75"/>
                <a:gd name="T63" fmla="*/ 64 h 75"/>
                <a:gd name="T64" fmla="*/ 55 w 75"/>
                <a:gd name="T65" fmla="*/ 61 h 75"/>
                <a:gd name="T66" fmla="*/ 61 w 75"/>
                <a:gd name="T67" fmla="*/ 67 h 75"/>
                <a:gd name="T68" fmla="*/ 69 w 75"/>
                <a:gd name="T69" fmla="*/ 57 h 75"/>
                <a:gd name="T70" fmla="*/ 63 w 75"/>
                <a:gd name="T71" fmla="*/ 52 h 75"/>
                <a:gd name="T72" fmla="*/ 67 w 75"/>
                <a:gd name="T73" fmla="*/ 44 h 75"/>
                <a:gd name="T74" fmla="*/ 74 w 75"/>
                <a:gd name="T75" fmla="*/ 45 h 75"/>
                <a:gd name="T76" fmla="*/ 45 w 75"/>
                <a:gd name="T77" fmla="*/ 51 h 75"/>
                <a:gd name="T78" fmla="*/ 23 w 75"/>
                <a:gd name="T79" fmla="*/ 45 h 75"/>
                <a:gd name="T80" fmla="*/ 30 w 75"/>
                <a:gd name="T81" fmla="*/ 23 h 75"/>
                <a:gd name="T82" fmla="*/ 51 w 75"/>
                <a:gd name="T83" fmla="*/ 30 h 75"/>
                <a:gd name="T84" fmla="*/ 45 w 75"/>
                <a:gd name="T85" fmla="*/ 51 h 75"/>
                <a:gd name="T86" fmla="*/ 45 w 75"/>
                <a:gd name="T87" fmla="*/ 51 h 75"/>
                <a:gd name="T88" fmla="*/ 45 w 75"/>
                <a:gd name="T89" fmla="*/ 5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5" h="75">
                  <a:moveTo>
                    <a:pt x="74" y="45"/>
                  </a:moveTo>
                  <a:cubicBezTo>
                    <a:pt x="75" y="32"/>
                    <a:pt x="75" y="32"/>
                    <a:pt x="75" y="32"/>
                  </a:cubicBezTo>
                  <a:cubicBezTo>
                    <a:pt x="67" y="32"/>
                    <a:pt x="67" y="32"/>
                    <a:pt x="67" y="32"/>
                  </a:cubicBezTo>
                  <a:cubicBezTo>
                    <a:pt x="66" y="29"/>
                    <a:pt x="66" y="27"/>
                    <a:pt x="64" y="24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57" y="14"/>
                    <a:pt x="57" y="14"/>
                    <a:pt x="57" y="14"/>
                  </a:cubicBezTo>
                  <a:cubicBezTo>
                    <a:pt x="54" y="12"/>
                    <a:pt x="52" y="11"/>
                    <a:pt x="49" y="10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4" y="7"/>
                    <a:pt x="32" y="8"/>
                    <a:pt x="29" y="8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6"/>
                    <a:pt x="14" y="18"/>
                    <a:pt x="12" y="21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7" y="35"/>
                    <a:pt x="7" y="38"/>
                    <a:pt x="8" y="41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3" y="55"/>
                    <a:pt x="15" y="57"/>
                    <a:pt x="17" y="59"/>
                  </a:cubicBezTo>
                  <a:cubicBezTo>
                    <a:pt x="13" y="66"/>
                    <a:pt x="13" y="66"/>
                    <a:pt x="13" y="66"/>
                  </a:cubicBezTo>
                  <a:cubicBezTo>
                    <a:pt x="23" y="72"/>
                    <a:pt x="23" y="72"/>
                    <a:pt x="23" y="72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30" y="66"/>
                    <a:pt x="33" y="67"/>
                    <a:pt x="35" y="67"/>
                  </a:cubicBezTo>
                  <a:cubicBezTo>
                    <a:pt x="37" y="75"/>
                    <a:pt x="37" y="75"/>
                    <a:pt x="37" y="75"/>
                  </a:cubicBezTo>
                  <a:cubicBezTo>
                    <a:pt x="49" y="73"/>
                    <a:pt x="49" y="73"/>
                    <a:pt x="49" y="73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9" y="65"/>
                    <a:pt x="50" y="64"/>
                    <a:pt x="52" y="64"/>
                  </a:cubicBezTo>
                  <a:cubicBezTo>
                    <a:pt x="53" y="63"/>
                    <a:pt x="54" y="62"/>
                    <a:pt x="55" y="61"/>
                  </a:cubicBezTo>
                  <a:cubicBezTo>
                    <a:pt x="61" y="67"/>
                    <a:pt x="61" y="67"/>
                    <a:pt x="61" y="67"/>
                  </a:cubicBezTo>
                  <a:cubicBezTo>
                    <a:pt x="69" y="57"/>
                    <a:pt x="69" y="57"/>
                    <a:pt x="69" y="57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5" y="50"/>
                    <a:pt x="66" y="47"/>
                    <a:pt x="67" y="44"/>
                  </a:cubicBezTo>
                  <a:lnTo>
                    <a:pt x="74" y="45"/>
                  </a:lnTo>
                  <a:close/>
                  <a:moveTo>
                    <a:pt x="45" y="51"/>
                  </a:moveTo>
                  <a:cubicBezTo>
                    <a:pt x="37" y="55"/>
                    <a:pt x="28" y="52"/>
                    <a:pt x="23" y="45"/>
                  </a:cubicBezTo>
                  <a:cubicBezTo>
                    <a:pt x="19" y="37"/>
                    <a:pt x="22" y="27"/>
                    <a:pt x="30" y="23"/>
                  </a:cubicBezTo>
                  <a:cubicBezTo>
                    <a:pt x="38" y="19"/>
                    <a:pt x="47" y="22"/>
                    <a:pt x="51" y="30"/>
                  </a:cubicBezTo>
                  <a:cubicBezTo>
                    <a:pt x="55" y="37"/>
                    <a:pt x="53" y="47"/>
                    <a:pt x="45" y="51"/>
                  </a:cubicBezTo>
                  <a:close/>
                  <a:moveTo>
                    <a:pt x="45" y="51"/>
                  </a:moveTo>
                  <a:cubicBezTo>
                    <a:pt x="45" y="51"/>
                    <a:pt x="45" y="51"/>
                    <a:pt x="45" y="51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" charset="0"/>
              </a:endParaRPr>
            </a:p>
          </p:txBody>
        </p:sp>
      </p:grpSp>
      <p:sp>
        <p:nvSpPr>
          <p:cNvPr id="1026" name="TextBox 1025">
            <a:extLst>
              <a:ext uri="{FF2B5EF4-FFF2-40B4-BE49-F238E27FC236}">
                <a16:creationId xmlns:a16="http://schemas.microsoft.com/office/drawing/2014/main" id="{21EC3E9B-638B-ABD2-DB14-8B6886ECEA77}"/>
              </a:ext>
            </a:extLst>
          </p:cNvPr>
          <p:cNvSpPr txBox="1"/>
          <p:nvPr/>
        </p:nvSpPr>
        <p:spPr>
          <a:xfrm>
            <a:off x="9326443" y="2791819"/>
            <a:ext cx="25342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Product Sales: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With improved targeting, the company can drive higher conversion rates and increase overall sales.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EFF8983-1A3D-A660-7EC9-E0C541B17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4702" y="5486408"/>
            <a:ext cx="1797729" cy="897460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77CD516-9708-6B39-2BA8-0CD1B32F0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466" y="5342141"/>
            <a:ext cx="2065973" cy="1181270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B7DC436-D118-A20B-BBBB-6C5868C00CC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951" y="5571160"/>
            <a:ext cx="1155734" cy="2827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