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DCCF20D-9D0C-28B1-4669-06CCD7A1878A}"/>
              </a:ext>
            </a:extLst>
          </p:cNvPr>
          <p:cNvSpPr>
            <a:spLocks noGrp="1"/>
          </p:cNvSpPr>
          <p:nvPr>
            <p:ph type="title"/>
          </p:nvPr>
        </p:nvSpPr>
        <p:spPr>
          <a:xfrm>
            <a:off x="577562" y="210311"/>
            <a:ext cx="10052329" cy="701553"/>
          </a:xfrm>
        </p:spPr>
        <p:txBody>
          <a:bodyPr>
            <a:noAutofit/>
          </a:bodyPr>
          <a:lstStyle/>
          <a:p>
            <a:r>
              <a:rPr lang="en-IN" dirty="0"/>
              <a:t>BI Transformation: Data Quality, Governance, </a:t>
            </a:r>
            <a:br>
              <a:rPr lang="en-IN" dirty="0"/>
            </a:br>
            <a:r>
              <a:rPr lang="en-IN" dirty="0"/>
              <a:t>Self-Service BI</a:t>
            </a:r>
          </a:p>
        </p:txBody>
      </p:sp>
      <p:sp>
        <p:nvSpPr>
          <p:cNvPr id="8" name="Rectangle 7">
            <a:extLst>
              <a:ext uri="{FF2B5EF4-FFF2-40B4-BE49-F238E27FC236}">
                <a16:creationId xmlns:a16="http://schemas.microsoft.com/office/drawing/2014/main" id="{4D9EFF44-DFBF-2FA7-6408-A39C06F7D86B}"/>
              </a:ext>
            </a:extLst>
          </p:cNvPr>
          <p:cNvSpPr/>
          <p:nvPr/>
        </p:nvSpPr>
        <p:spPr>
          <a:xfrm>
            <a:off x="467272" y="2650782"/>
            <a:ext cx="3570722" cy="381748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rPr>
              <a:t>Data Quality</a:t>
            </a:r>
          </a:p>
          <a:p>
            <a:pPr marL="628650" marR="0" lvl="1"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rPr>
              <a:t>Fragmented sources, limited data governance, and less visibility to data lineage.</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rPr>
              <a:t>Delays in reporting KPIs</a:t>
            </a:r>
          </a:p>
          <a:p>
            <a:pPr marL="628650" marR="0" lvl="1"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rPr>
              <a:t>Time-consuming Business – IT collaboration for interactive dashboard creation due to dependency on IT and lack of reusability</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rPr>
              <a:t>Significant discrepancy between business-driven KPIs and the insights obtained from reporting leading to a substantial gap between anticipated business expectations and the actual BI dashboard output.</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374151"/>
                </a:solidFill>
                <a:effectLst/>
                <a:uLnTx/>
                <a:uFillTx/>
                <a:latin typeface="Poppins"/>
                <a:ea typeface="Calibri" panose="020F0502020204030204" pitchFamily="34" charset="0"/>
                <a:cs typeface="Poppins"/>
              </a:rPr>
              <a:t>Lack of prioritization in adopting new technologies for cloud data services and BI tools, coupled with the absence of an agile framework and process for efficient solution delivery</a:t>
            </a:r>
          </a:p>
        </p:txBody>
      </p:sp>
      <p:sp>
        <p:nvSpPr>
          <p:cNvPr id="16" name="Rectangle 15">
            <a:extLst>
              <a:ext uri="{FF2B5EF4-FFF2-40B4-BE49-F238E27FC236}">
                <a16:creationId xmlns:a16="http://schemas.microsoft.com/office/drawing/2014/main" id="{1868FC05-AFA9-C290-C9B1-F504FBA361DC}"/>
              </a:ext>
            </a:extLst>
          </p:cNvPr>
          <p:cNvSpPr/>
          <p:nvPr/>
        </p:nvSpPr>
        <p:spPr>
          <a:xfrm>
            <a:off x="4137482" y="2638818"/>
            <a:ext cx="3976577" cy="3826150"/>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Deployed a cloud-based data pipeline </a:t>
            </a:r>
            <a:r>
              <a:rPr kumimoji="0" lang="en-US" sz="1100" b="1" i="0" u="none" strike="noStrike" kern="1200" cap="none" spc="0" normalizeH="0" baseline="0" noProof="0">
                <a:ln>
                  <a:noFill/>
                </a:ln>
                <a:solidFill>
                  <a:srgbClr val="374151"/>
                </a:solidFill>
                <a:effectLst/>
                <a:uLnTx/>
                <a:uFillTx/>
                <a:latin typeface="Poppins"/>
                <a:ea typeface="+mn-lt"/>
                <a:cs typeface="Poppins"/>
              </a:rPr>
              <a:t>with AWS S3, Data Glue, Data Brew, and Redshift </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Real-time reporting with business KPIs with enhanced self-service BI capabilities using</a:t>
            </a:r>
            <a:r>
              <a:rPr kumimoji="0" lang="en-US" sz="1100" b="1" i="0" u="none" strike="noStrike" kern="1200" cap="none" spc="0" normalizeH="0" baseline="0" noProof="0">
                <a:ln>
                  <a:noFill/>
                </a:ln>
                <a:solidFill>
                  <a:srgbClr val="374151"/>
                </a:solidFill>
                <a:effectLst/>
                <a:uLnTx/>
                <a:uFillTx/>
                <a:latin typeface="Poppins"/>
                <a:ea typeface="+mn-lt"/>
                <a:cs typeface="Poppins"/>
              </a:rPr>
              <a:t> Tableau</a:t>
            </a:r>
            <a:r>
              <a:rPr kumimoji="0" lang="en-US" sz="1100" b="0" i="0" u="none" strike="noStrike" kern="1200" cap="none" spc="0" normalizeH="0" baseline="0" noProof="0">
                <a:ln>
                  <a:noFill/>
                </a:ln>
                <a:solidFill>
                  <a:srgbClr val="374151"/>
                </a:solidFill>
                <a:effectLst/>
                <a:uLnTx/>
                <a:uFillTx/>
                <a:latin typeface="Poppins"/>
                <a:ea typeface="+mn-lt"/>
                <a:cs typeface="Poppins"/>
              </a:rPr>
              <a:t>.</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Streamlined data governance and provided a comprehensive view of data assets and lineage</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Data Quality improvement using </a:t>
            </a:r>
            <a:r>
              <a:rPr kumimoji="0" lang="en-US" sz="1100" b="1" i="0" u="none" strike="noStrike" kern="1200" cap="none" spc="0" normalizeH="0" baseline="0" noProof="0">
                <a:ln>
                  <a:noFill/>
                </a:ln>
                <a:solidFill>
                  <a:srgbClr val="374151"/>
                </a:solidFill>
                <a:effectLst/>
                <a:uLnTx/>
                <a:uFillTx/>
                <a:latin typeface="Poppins"/>
                <a:ea typeface="+mn-lt"/>
                <a:cs typeface="Poppins"/>
              </a:rPr>
              <a:t>AWS Data Glue </a:t>
            </a:r>
            <a:r>
              <a:rPr kumimoji="0" lang="en-US" sz="1100" b="0" i="0" u="none" strike="noStrike" kern="1200" cap="none" spc="0" normalizeH="0" baseline="0" noProof="0">
                <a:ln>
                  <a:noFill/>
                </a:ln>
                <a:solidFill>
                  <a:srgbClr val="374151"/>
                </a:solidFill>
                <a:effectLst/>
                <a:uLnTx/>
                <a:uFillTx/>
                <a:latin typeface="Poppins"/>
                <a:ea typeface="+mn-lt"/>
                <a:cs typeface="Poppins"/>
              </a:rPr>
              <a:t>and </a:t>
            </a:r>
            <a:r>
              <a:rPr kumimoji="0" lang="en-US" sz="1100" b="1" i="0" u="none" strike="noStrike" kern="1200" cap="none" spc="0" normalizeH="0" baseline="0" noProof="0">
                <a:ln>
                  <a:noFill/>
                </a:ln>
                <a:solidFill>
                  <a:srgbClr val="374151"/>
                </a:solidFill>
                <a:effectLst/>
                <a:uLnTx/>
                <a:uFillTx/>
                <a:latin typeface="Poppins"/>
                <a:ea typeface="+mn-lt"/>
                <a:cs typeface="Poppins"/>
              </a:rPr>
              <a:t>Data Brew</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Implementation of SSOT in </a:t>
            </a:r>
            <a:r>
              <a:rPr kumimoji="0" lang="en-US" sz="1100" b="1" i="0" u="none" strike="noStrike" kern="1200" cap="none" spc="0" normalizeH="0" baseline="0" noProof="0">
                <a:ln>
                  <a:noFill/>
                </a:ln>
                <a:solidFill>
                  <a:srgbClr val="374151"/>
                </a:solidFill>
                <a:effectLst/>
                <a:uLnTx/>
                <a:uFillTx/>
                <a:latin typeface="Poppins"/>
                <a:ea typeface="+mn-lt"/>
                <a:cs typeface="Poppins"/>
              </a:rPr>
              <a:t>Redshift </a:t>
            </a:r>
            <a:r>
              <a:rPr kumimoji="0" lang="en-US" sz="1100" b="0" i="0" u="none" strike="noStrike" kern="1200" cap="none" spc="0" normalizeH="0" baseline="0" noProof="0">
                <a:ln>
                  <a:noFill/>
                </a:ln>
                <a:solidFill>
                  <a:srgbClr val="374151"/>
                </a:solidFill>
                <a:effectLst/>
                <a:uLnTx/>
                <a:uFillTx/>
                <a:latin typeface="Poppins"/>
                <a:ea typeface="+mn-lt"/>
                <a:cs typeface="Poppins"/>
              </a:rPr>
              <a:t>combining various data sources improving trust in data</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Self-Service BI using advanced features of Tableau (NLQ)- Report Generation by Business users without IT involvement </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Data Catalogue for tracking the lineage and data traceability</a:t>
            </a:r>
          </a:p>
          <a:p>
            <a:pPr marL="171450" marR="0" lvl="0" indent="-171450" algn="l" defTabSz="914400" rtl="0" eaLnBrk="1" fontAlgn="auto" latinLnBrk="0" hangingPunct="1">
              <a:lnSpc>
                <a:spcPct val="110000"/>
              </a:lnSpc>
              <a:spcBef>
                <a:spcPts val="0"/>
              </a:spcBef>
              <a:spcAft>
                <a:spcPts val="2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74151"/>
                </a:solidFill>
                <a:effectLst/>
                <a:uLnTx/>
                <a:uFillTx/>
                <a:latin typeface="Poppins"/>
                <a:ea typeface="+mn-lt"/>
                <a:cs typeface="Poppins"/>
              </a:rPr>
              <a:t>Established Agile BI methodology</a:t>
            </a:r>
            <a:endParaRPr kumimoji="0" lang="en-US" sz="1100" b="0" i="0" u="none" strike="noStrike" kern="1200" cap="none" spc="0" normalizeH="0" baseline="0" noProof="0">
              <a:ln>
                <a:noFill/>
              </a:ln>
              <a:solidFill>
                <a:srgbClr val="374151"/>
              </a:solidFill>
              <a:effectLst/>
              <a:uLnTx/>
              <a:uFillTx/>
              <a:latin typeface="Poppins"/>
              <a:ea typeface="+mn-ea"/>
              <a:cs typeface="Poppins"/>
            </a:endParaRPr>
          </a:p>
        </p:txBody>
      </p:sp>
      <p:sp>
        <p:nvSpPr>
          <p:cNvPr id="21" name="Oval 20">
            <a:extLst>
              <a:ext uri="{FF2B5EF4-FFF2-40B4-BE49-F238E27FC236}">
                <a16:creationId xmlns:a16="http://schemas.microsoft.com/office/drawing/2014/main" id="{4DEB5987-ED24-4AB8-1978-35EDE1532E48}"/>
              </a:ext>
            </a:extLst>
          </p:cNvPr>
          <p:cNvSpPr/>
          <p:nvPr/>
        </p:nvSpPr>
        <p:spPr>
          <a:xfrm>
            <a:off x="8801245" y="2512970"/>
            <a:ext cx="640080" cy="640080"/>
          </a:xfrm>
          <a:prstGeom prst="ellipse">
            <a:avLst/>
          </a:prstGeom>
          <a:noFill/>
          <a:ln>
            <a:solidFill>
              <a:srgbClr val="2425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Poppins"/>
              <a:ea typeface="+mn-ea"/>
              <a:cs typeface="+mn-cs"/>
            </a:endParaRPr>
          </a:p>
        </p:txBody>
      </p:sp>
      <p:sp>
        <p:nvSpPr>
          <p:cNvPr id="24" name="Oval 23">
            <a:extLst>
              <a:ext uri="{FF2B5EF4-FFF2-40B4-BE49-F238E27FC236}">
                <a16:creationId xmlns:a16="http://schemas.microsoft.com/office/drawing/2014/main" id="{6D73669E-3D09-A6A7-7FBA-3E0E752D6917}"/>
              </a:ext>
            </a:extLst>
          </p:cNvPr>
          <p:cNvSpPr/>
          <p:nvPr/>
        </p:nvSpPr>
        <p:spPr>
          <a:xfrm>
            <a:off x="8787597" y="3615735"/>
            <a:ext cx="640080" cy="640080"/>
          </a:xfrm>
          <a:prstGeom prst="ellipse">
            <a:avLst/>
          </a:prstGeom>
          <a:noFill/>
          <a:ln>
            <a:solidFill>
              <a:srgbClr val="2425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Poppins"/>
              <a:ea typeface="+mn-ea"/>
              <a:cs typeface="+mn-cs"/>
            </a:endParaRPr>
          </a:p>
        </p:txBody>
      </p:sp>
      <p:sp>
        <p:nvSpPr>
          <p:cNvPr id="26" name="Oval 25">
            <a:extLst>
              <a:ext uri="{FF2B5EF4-FFF2-40B4-BE49-F238E27FC236}">
                <a16:creationId xmlns:a16="http://schemas.microsoft.com/office/drawing/2014/main" id="{5E707041-A989-0969-EFE3-9A8B1F6E44FB}"/>
              </a:ext>
            </a:extLst>
          </p:cNvPr>
          <p:cNvSpPr/>
          <p:nvPr/>
        </p:nvSpPr>
        <p:spPr>
          <a:xfrm>
            <a:off x="8801245" y="4595412"/>
            <a:ext cx="640080" cy="6400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Poppins"/>
              <a:ea typeface="+mn-ea"/>
              <a:cs typeface="+mn-cs"/>
            </a:endParaRPr>
          </a:p>
        </p:txBody>
      </p:sp>
      <p:pic>
        <p:nvPicPr>
          <p:cNvPr id="27" name="Picture 26">
            <a:extLst>
              <a:ext uri="{FF2B5EF4-FFF2-40B4-BE49-F238E27FC236}">
                <a16:creationId xmlns:a16="http://schemas.microsoft.com/office/drawing/2014/main" id="{FD7ED79C-B6A9-EA53-CD07-D21F76DE00ED}"/>
              </a:ext>
            </a:extLst>
          </p:cNvPr>
          <p:cNvPicPr>
            <a:picLocks noChangeAspect="1"/>
          </p:cNvPicPr>
          <p:nvPr/>
        </p:nvPicPr>
        <p:blipFill>
          <a:blip r:embed="rId3"/>
          <a:stretch>
            <a:fillRect/>
          </a:stretch>
        </p:blipFill>
        <p:spPr>
          <a:xfrm>
            <a:off x="8922032" y="1483817"/>
            <a:ext cx="393700" cy="457200"/>
          </a:xfrm>
          <a:prstGeom prst="rect">
            <a:avLst/>
          </a:prstGeom>
        </p:spPr>
      </p:pic>
      <p:pic>
        <p:nvPicPr>
          <p:cNvPr id="28" name="Picture 27">
            <a:extLst>
              <a:ext uri="{FF2B5EF4-FFF2-40B4-BE49-F238E27FC236}">
                <a16:creationId xmlns:a16="http://schemas.microsoft.com/office/drawing/2014/main" id="{16764DA5-4A8A-45C4-BE42-384AB4D14582}"/>
              </a:ext>
            </a:extLst>
          </p:cNvPr>
          <p:cNvPicPr>
            <a:picLocks noChangeAspect="1"/>
          </p:cNvPicPr>
          <p:nvPr/>
        </p:nvPicPr>
        <p:blipFill>
          <a:blip r:embed="rId4"/>
          <a:stretch>
            <a:fillRect/>
          </a:stretch>
        </p:blipFill>
        <p:spPr>
          <a:xfrm>
            <a:off x="8907105" y="2618830"/>
            <a:ext cx="450850" cy="450850"/>
          </a:xfrm>
          <a:prstGeom prst="rect">
            <a:avLst/>
          </a:prstGeom>
          <a:ln>
            <a:solidFill>
              <a:srgbClr val="24255B"/>
            </a:solidFill>
          </a:ln>
        </p:spPr>
      </p:pic>
      <p:pic>
        <p:nvPicPr>
          <p:cNvPr id="29" name="Picture 28">
            <a:extLst>
              <a:ext uri="{FF2B5EF4-FFF2-40B4-BE49-F238E27FC236}">
                <a16:creationId xmlns:a16="http://schemas.microsoft.com/office/drawing/2014/main" id="{D9DA456B-F997-4914-9895-ED86C8D4B2A0}"/>
              </a:ext>
            </a:extLst>
          </p:cNvPr>
          <p:cNvPicPr>
            <a:picLocks noChangeAspect="1"/>
          </p:cNvPicPr>
          <p:nvPr/>
        </p:nvPicPr>
        <p:blipFill>
          <a:blip r:embed="rId5"/>
          <a:stretch>
            <a:fillRect/>
          </a:stretch>
        </p:blipFill>
        <p:spPr>
          <a:xfrm>
            <a:off x="8900150" y="3684542"/>
            <a:ext cx="437464" cy="524957"/>
          </a:xfrm>
          <a:prstGeom prst="rect">
            <a:avLst/>
          </a:prstGeom>
          <a:ln>
            <a:solidFill>
              <a:srgbClr val="24255B"/>
            </a:solidFill>
          </a:ln>
        </p:spPr>
      </p:pic>
      <p:sp>
        <p:nvSpPr>
          <p:cNvPr id="30" name="Rectangle 29">
            <a:extLst>
              <a:ext uri="{FF2B5EF4-FFF2-40B4-BE49-F238E27FC236}">
                <a16:creationId xmlns:a16="http://schemas.microsoft.com/office/drawing/2014/main" id="{BB80D80F-F030-ACE3-4E90-55453C132384}"/>
              </a:ext>
            </a:extLst>
          </p:cNvPr>
          <p:cNvSpPr/>
          <p:nvPr/>
        </p:nvSpPr>
        <p:spPr bwMode="auto">
          <a:xfrm>
            <a:off x="8410316" y="1320754"/>
            <a:ext cx="3487448" cy="3170230"/>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Calibri"/>
            </a:endParaRPr>
          </a:p>
        </p:txBody>
      </p:sp>
      <p:grpSp>
        <p:nvGrpSpPr>
          <p:cNvPr id="31" name="Group 30">
            <a:extLst>
              <a:ext uri="{FF2B5EF4-FFF2-40B4-BE49-F238E27FC236}">
                <a16:creationId xmlns:a16="http://schemas.microsoft.com/office/drawing/2014/main" id="{4EA62CA9-9A99-F25D-CCAF-08029250BF25}"/>
              </a:ext>
            </a:extLst>
          </p:cNvPr>
          <p:cNvGrpSpPr/>
          <p:nvPr/>
        </p:nvGrpSpPr>
        <p:grpSpPr>
          <a:xfrm>
            <a:off x="8168548" y="960041"/>
            <a:ext cx="2979921" cy="658812"/>
            <a:chOff x="7555266" y="1214168"/>
            <a:chExt cx="2979921" cy="658812"/>
          </a:xfrm>
        </p:grpSpPr>
        <p:sp>
          <p:nvSpPr>
            <p:cNvPr id="32" name="Right Triangle 31">
              <a:extLst>
                <a:ext uri="{FF2B5EF4-FFF2-40B4-BE49-F238E27FC236}">
                  <a16:creationId xmlns:a16="http://schemas.microsoft.com/office/drawing/2014/main" id="{B6463D82-76E9-0327-F5A4-CA7325BBF0C5}"/>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ight Triangle 32">
              <a:extLst>
                <a:ext uri="{FF2B5EF4-FFF2-40B4-BE49-F238E27FC236}">
                  <a16:creationId xmlns:a16="http://schemas.microsoft.com/office/drawing/2014/main" id="{2DEAAAE9-E42E-539C-5F65-60F45CD2916C}"/>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D069C10E-DAA1-0945-B7CD-50A2ED7681C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a:ea typeface="+mn-ea"/>
                  <a:cs typeface="+mn-cs"/>
                </a:rPr>
                <a:t> Value Delivered</a:t>
              </a:r>
              <a:endParaRPr kumimoji="0" lang="en-US" sz="1400" b="1" i="0" u="none" strike="noStrike" kern="1200" cap="none" spc="0" normalizeH="0" baseline="0" noProof="0">
                <a:ln>
                  <a:noFill/>
                </a:ln>
                <a:solidFill>
                  <a:prstClr val="white"/>
                </a:solidFill>
                <a:effectLst/>
                <a:uLnTx/>
                <a:uFillTx/>
                <a:latin typeface="Poppins"/>
                <a:ea typeface="+mn-ea"/>
                <a:cs typeface="+mn-cs"/>
              </a:endParaRPr>
            </a:p>
          </p:txBody>
        </p:sp>
      </p:grpSp>
      <p:sp>
        <p:nvSpPr>
          <p:cNvPr id="35" name="Rectangle 34">
            <a:extLst>
              <a:ext uri="{FF2B5EF4-FFF2-40B4-BE49-F238E27FC236}">
                <a16:creationId xmlns:a16="http://schemas.microsoft.com/office/drawing/2014/main" id="{9A5DBB1E-E4BF-819A-E48D-0FC980DBA67E}"/>
              </a:ext>
            </a:extLst>
          </p:cNvPr>
          <p:cNvSpPr/>
          <p:nvPr/>
        </p:nvSpPr>
        <p:spPr>
          <a:xfrm>
            <a:off x="467272" y="938034"/>
            <a:ext cx="7646787" cy="1119366"/>
          </a:xfrm>
          <a:prstGeom prst="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Poppins"/>
                <a:ea typeface="+mn-ea"/>
                <a:cs typeface="Calibri"/>
              </a:rPr>
              <a:t>Project Overview</a:t>
            </a:r>
            <a:r>
              <a:rPr kumimoji="0" lang="en-US" sz="1050" b="0" i="0" u="none" strike="noStrike" kern="1200" cap="none" spc="0" normalizeH="0" baseline="0" noProof="0">
                <a:ln>
                  <a:noFill/>
                </a:ln>
                <a:solidFill>
                  <a:prstClr val="white"/>
                </a:solidFill>
                <a:effectLst/>
                <a:uLnTx/>
                <a:uFillTx/>
                <a:latin typeface="Poppins"/>
                <a:ea typeface="+mn-ea"/>
                <a:cs typeface="Calibri"/>
              </a:rPr>
              <a:t>: </a:t>
            </a:r>
            <a:r>
              <a:rPr kumimoji="0" lang="en-US" sz="1050" b="0" i="0" u="none" strike="noStrike" kern="1200" cap="none" spc="0" normalizeH="0" baseline="0" noProof="0">
                <a:ln>
                  <a:noFill/>
                </a:ln>
                <a:solidFill>
                  <a:prstClr val="white"/>
                </a:solidFill>
                <a:effectLst/>
                <a:uLnTx/>
                <a:uFillTx/>
                <a:latin typeface="Poppins"/>
                <a:ea typeface="+mn-lt"/>
                <a:cs typeface="Poppins"/>
              </a:rPr>
              <a:t>A leading hi-tech client faced challenges within their Business Intelligence (BI) system. Business leaders were concerned about the quality, accuracy, and timeliness of Key Performance Indicators (KPIs)  and turnaround times for new reports. The client was seeking a strategic partner to address these issues by implementing a robust data pipeline with a single source of truth (SSOT), enhancing data quality, transparency in data governance, tracking data lineage, and establishing a self-service BI solution to reduce IT dependency for business users.</a:t>
            </a:r>
          </a:p>
        </p:txBody>
      </p:sp>
      <p:grpSp>
        <p:nvGrpSpPr>
          <p:cNvPr id="41" name="Group 40">
            <a:extLst>
              <a:ext uri="{FF2B5EF4-FFF2-40B4-BE49-F238E27FC236}">
                <a16:creationId xmlns:a16="http://schemas.microsoft.com/office/drawing/2014/main" id="{8FAB0822-631B-7323-AD03-659ABB8466F9}"/>
              </a:ext>
            </a:extLst>
          </p:cNvPr>
          <p:cNvGrpSpPr/>
          <p:nvPr/>
        </p:nvGrpSpPr>
        <p:grpSpPr>
          <a:xfrm>
            <a:off x="4143849" y="2162413"/>
            <a:ext cx="3976577" cy="506676"/>
            <a:chOff x="4602706" y="2803376"/>
            <a:chExt cx="3075565" cy="506676"/>
          </a:xfrm>
        </p:grpSpPr>
        <p:sp>
          <p:nvSpPr>
            <p:cNvPr id="42" name="Pentagon 43">
              <a:extLst>
                <a:ext uri="{FF2B5EF4-FFF2-40B4-BE49-F238E27FC236}">
                  <a16:creationId xmlns:a16="http://schemas.microsoft.com/office/drawing/2014/main" id="{7C44EB57-578A-B7A8-D0B5-9397130BCB17}"/>
                </a:ext>
              </a:extLst>
            </p:cNvPr>
            <p:cNvSpPr/>
            <p:nvPr/>
          </p:nvSpPr>
          <p:spPr>
            <a:xfrm>
              <a:off x="4784520" y="2803376"/>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Pentagon 42">
              <a:extLst>
                <a:ext uri="{FF2B5EF4-FFF2-40B4-BE49-F238E27FC236}">
                  <a16:creationId xmlns:a16="http://schemas.microsoft.com/office/drawing/2014/main" id="{706AD344-6A30-0D78-E84B-8267E49AA087}"/>
                </a:ext>
              </a:extLst>
            </p:cNvPr>
            <p:cNvSpPr/>
            <p:nvPr/>
          </p:nvSpPr>
          <p:spPr>
            <a:xfrm>
              <a:off x="4693613" y="2803664"/>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Pentagon 40">
              <a:extLst>
                <a:ext uri="{FF2B5EF4-FFF2-40B4-BE49-F238E27FC236}">
                  <a16:creationId xmlns:a16="http://schemas.microsoft.com/office/drawing/2014/main" id="{6B0DE0B4-BFB9-0556-61B7-714CF2D54727}"/>
                </a:ext>
              </a:extLst>
            </p:cNvPr>
            <p:cNvSpPr/>
            <p:nvPr/>
          </p:nvSpPr>
          <p:spPr>
            <a:xfrm>
              <a:off x="4602706" y="2803951"/>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2E87"/>
                  </a:solidFill>
                  <a:effectLst/>
                  <a:uLnTx/>
                  <a:uFillTx/>
                  <a:latin typeface="Poppins SemiBold"/>
                  <a:ea typeface="+mn-ea"/>
                  <a:cs typeface="+mn-cs"/>
                </a:rPr>
                <a:t>Approach</a:t>
              </a:r>
              <a:endParaRPr kumimoji="0" lang="en-US" sz="1800" b="0" i="0" u="none" strike="noStrike" kern="1200" cap="none" spc="0" normalizeH="0" baseline="0" noProof="0">
                <a:ln>
                  <a:noFill/>
                </a:ln>
                <a:solidFill>
                  <a:srgbClr val="002E87"/>
                </a:solidFill>
                <a:effectLst/>
                <a:uLnTx/>
                <a:uFillTx/>
                <a:latin typeface="Poppins SemiBold"/>
                <a:ea typeface="+mn-ea"/>
                <a:cs typeface="+mn-cs"/>
              </a:endParaRPr>
            </a:p>
          </p:txBody>
        </p:sp>
      </p:grpSp>
      <p:sp>
        <p:nvSpPr>
          <p:cNvPr id="45" name="TextBox 44">
            <a:extLst>
              <a:ext uri="{FF2B5EF4-FFF2-40B4-BE49-F238E27FC236}">
                <a16:creationId xmlns:a16="http://schemas.microsoft.com/office/drawing/2014/main" id="{F082DBD0-0231-E156-DD90-9CDBF52AD19F}"/>
              </a:ext>
            </a:extLst>
          </p:cNvPr>
          <p:cNvSpPr txBox="1"/>
          <p:nvPr/>
        </p:nvSpPr>
        <p:spPr>
          <a:xfrm>
            <a:off x="9146565" y="1653046"/>
            <a:ext cx="2632759" cy="24929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472C4">
                    <a:lumMod val="50000"/>
                  </a:srgbClr>
                </a:solidFill>
                <a:effectLst/>
                <a:uLnTx/>
                <a:uFillTx/>
                <a:latin typeface="Poppins"/>
                <a:ea typeface="+mn-ea"/>
                <a:cs typeface="+mn-cs"/>
              </a:rPr>
              <a:t>Improved data quality and Governance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472C4">
                  <a:lumMod val="50000"/>
                </a:srgbClr>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472C4">
                    <a:lumMod val="50000"/>
                  </a:srgbClr>
                </a:solidFill>
                <a:effectLst/>
                <a:uLnTx/>
                <a:uFillTx/>
                <a:latin typeface="Poppins"/>
                <a:ea typeface="+mn-ea"/>
                <a:cs typeface="+mn-cs"/>
              </a:rPr>
              <a:t>Real-time Reporting on Business  KPI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472C4">
                  <a:lumMod val="50000"/>
                </a:srgbClr>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472C4">
                    <a:lumMod val="50000"/>
                  </a:srgbClr>
                </a:solidFill>
                <a:effectLst/>
                <a:uLnTx/>
                <a:uFillTx/>
                <a:latin typeface="Poppins"/>
                <a:ea typeface="+mn-ea"/>
                <a:cs typeface="+mn-cs"/>
              </a:rPr>
              <a:t>Enhanced self-service BI capabilities through advanced tool</a:t>
            </a:r>
            <a:br>
              <a:rPr kumimoji="0" lang="en-US" sz="1200" b="0" i="0" u="none" strike="noStrike" kern="1200" cap="none" spc="0" normalizeH="0" baseline="0" noProof="0">
                <a:ln>
                  <a:noFill/>
                </a:ln>
                <a:solidFill>
                  <a:srgbClr val="4472C4">
                    <a:lumMod val="50000"/>
                  </a:srgbClr>
                </a:solidFill>
                <a:effectLst/>
                <a:uLnTx/>
                <a:uFillTx/>
                <a:latin typeface="Poppins"/>
                <a:ea typeface="+mn-ea"/>
                <a:cs typeface="+mn-cs"/>
              </a:rPr>
            </a:br>
            <a:br>
              <a:rPr kumimoji="0" lang="en-US" sz="1200" b="0" i="0" u="none" strike="noStrike" kern="1200" cap="none" spc="0" normalizeH="0" baseline="0" noProof="0">
                <a:ln>
                  <a:noFill/>
                </a:ln>
                <a:solidFill>
                  <a:srgbClr val="4472C4">
                    <a:lumMod val="50000"/>
                  </a:srgbClr>
                </a:solidFill>
                <a:effectLst/>
                <a:uLnTx/>
                <a:uFillTx/>
                <a:latin typeface="Poppins"/>
                <a:ea typeface="+mn-ea"/>
                <a:cs typeface="+mn-cs"/>
              </a:rPr>
            </a:br>
            <a:r>
              <a:rPr kumimoji="0" lang="en-US" sz="1200" b="0" i="0" u="none" strike="noStrike" kern="1200" cap="none" spc="0" normalizeH="0" baseline="0" noProof="0">
                <a:ln>
                  <a:noFill/>
                </a:ln>
                <a:solidFill>
                  <a:srgbClr val="4472C4">
                    <a:lumMod val="50000"/>
                  </a:srgbClr>
                </a:solidFill>
                <a:effectLst/>
                <a:uLnTx/>
                <a:uFillTx/>
                <a:latin typeface="Poppins"/>
                <a:ea typeface="+mn-ea"/>
                <a:cs typeface="+mn-cs"/>
              </a:rPr>
              <a:t>Enabled transparency and compliance with detailed data lineage tracking.</a:t>
            </a:r>
          </a:p>
        </p:txBody>
      </p:sp>
      <p:sp>
        <p:nvSpPr>
          <p:cNvPr id="51" name="Rectangle 50">
            <a:extLst>
              <a:ext uri="{FF2B5EF4-FFF2-40B4-BE49-F238E27FC236}">
                <a16:creationId xmlns:a16="http://schemas.microsoft.com/office/drawing/2014/main" id="{58C702F4-4260-528B-14CD-E71710A416D0}"/>
              </a:ext>
            </a:extLst>
          </p:cNvPr>
          <p:cNvSpPr/>
          <p:nvPr/>
        </p:nvSpPr>
        <p:spPr bwMode="auto">
          <a:xfrm>
            <a:off x="8373237" y="4868244"/>
            <a:ext cx="3487448" cy="1647817"/>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Calibri"/>
            </a:endParaRPr>
          </a:p>
        </p:txBody>
      </p:sp>
      <p:grpSp>
        <p:nvGrpSpPr>
          <p:cNvPr id="52" name="Group 51">
            <a:extLst>
              <a:ext uri="{FF2B5EF4-FFF2-40B4-BE49-F238E27FC236}">
                <a16:creationId xmlns:a16="http://schemas.microsoft.com/office/drawing/2014/main" id="{4E3681C6-0179-3A00-E288-C25FDC1C9BCE}"/>
              </a:ext>
            </a:extLst>
          </p:cNvPr>
          <p:cNvGrpSpPr/>
          <p:nvPr/>
        </p:nvGrpSpPr>
        <p:grpSpPr>
          <a:xfrm>
            <a:off x="8213547" y="4615631"/>
            <a:ext cx="2979921" cy="658812"/>
            <a:chOff x="7555266" y="1214168"/>
            <a:chExt cx="2979921" cy="658812"/>
          </a:xfrm>
        </p:grpSpPr>
        <p:sp>
          <p:nvSpPr>
            <p:cNvPr id="53" name="Right Triangle 52">
              <a:extLst>
                <a:ext uri="{FF2B5EF4-FFF2-40B4-BE49-F238E27FC236}">
                  <a16:creationId xmlns:a16="http://schemas.microsoft.com/office/drawing/2014/main" id="{C9F9F322-21E6-38F3-8D17-0D3F4E42B0E4}"/>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Right Triangle 53">
              <a:extLst>
                <a:ext uri="{FF2B5EF4-FFF2-40B4-BE49-F238E27FC236}">
                  <a16:creationId xmlns:a16="http://schemas.microsoft.com/office/drawing/2014/main" id="{3F4DED60-CA17-4345-DC48-AC82C071014A}"/>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F8B32588-24FB-866B-5402-00A4B037C1FD}"/>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a:ea typeface="+mn-ea"/>
                  <a:cs typeface="+mn-cs"/>
                </a:rPr>
                <a:t>Tools Utilized</a:t>
              </a:r>
            </a:p>
          </p:txBody>
        </p:sp>
      </p:grpSp>
      <p:pic>
        <p:nvPicPr>
          <p:cNvPr id="6" name="Picture 5" descr="Text&#10;&#10;Description automatically generated">
            <a:extLst>
              <a:ext uri="{FF2B5EF4-FFF2-40B4-BE49-F238E27FC236}">
                <a16:creationId xmlns:a16="http://schemas.microsoft.com/office/drawing/2014/main" id="{96C20C49-B067-21CF-9E0F-AE806CD410AC}"/>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2874" b="23655"/>
          <a:stretch/>
        </p:blipFill>
        <p:spPr>
          <a:xfrm>
            <a:off x="8602587" y="6052089"/>
            <a:ext cx="1032590" cy="414109"/>
          </a:xfrm>
          <a:prstGeom prst="rect">
            <a:avLst/>
          </a:prstGeom>
        </p:spPr>
      </p:pic>
      <p:grpSp>
        <p:nvGrpSpPr>
          <p:cNvPr id="15" name="Group 14">
            <a:extLst>
              <a:ext uri="{FF2B5EF4-FFF2-40B4-BE49-F238E27FC236}">
                <a16:creationId xmlns:a16="http://schemas.microsoft.com/office/drawing/2014/main" id="{E140564F-D22A-1D9B-38F1-767B8B3338BD}"/>
              </a:ext>
            </a:extLst>
          </p:cNvPr>
          <p:cNvGrpSpPr/>
          <p:nvPr/>
        </p:nvGrpSpPr>
        <p:grpSpPr>
          <a:xfrm>
            <a:off x="472164" y="2162413"/>
            <a:ext cx="3565830" cy="506676"/>
            <a:chOff x="377675" y="2790487"/>
            <a:chExt cx="3075565" cy="506676"/>
          </a:xfrm>
        </p:grpSpPr>
        <p:sp>
          <p:nvSpPr>
            <p:cNvPr id="17" name="Pentagon 43">
              <a:extLst>
                <a:ext uri="{FF2B5EF4-FFF2-40B4-BE49-F238E27FC236}">
                  <a16:creationId xmlns:a16="http://schemas.microsoft.com/office/drawing/2014/main" id="{8336A6B8-FB2F-8081-1E3B-940D57F6267E}"/>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Pentagon 42">
              <a:extLst>
                <a:ext uri="{FF2B5EF4-FFF2-40B4-BE49-F238E27FC236}">
                  <a16:creationId xmlns:a16="http://schemas.microsoft.com/office/drawing/2014/main" id="{5E6CF2FD-42F0-2B38-7EC8-615157DAA3E3}"/>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Pentagon 40">
              <a:extLst>
                <a:ext uri="{FF2B5EF4-FFF2-40B4-BE49-F238E27FC236}">
                  <a16:creationId xmlns:a16="http://schemas.microsoft.com/office/drawing/2014/main" id="{F4E9CF5C-6754-DFE5-05C7-BFA0E3813E50}"/>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2E87"/>
                  </a:solidFill>
                  <a:effectLst/>
                  <a:uLnTx/>
                  <a:uFillTx/>
                  <a:latin typeface="Poppins SemiBold"/>
                  <a:ea typeface="+mn-ea"/>
                  <a:cs typeface="+mn-cs"/>
                </a:rPr>
                <a:t>Challenges</a:t>
              </a:r>
              <a:endParaRPr kumimoji="0" lang="en-US" sz="1800" b="0" i="0" u="none" strike="noStrike" kern="1200" cap="none" spc="0" normalizeH="0" baseline="0" noProof="0">
                <a:ln>
                  <a:noFill/>
                </a:ln>
                <a:solidFill>
                  <a:srgbClr val="002E87"/>
                </a:solidFill>
                <a:effectLst/>
                <a:uLnTx/>
                <a:uFillTx/>
                <a:latin typeface="Poppins SemiBold"/>
                <a:ea typeface="+mn-ea"/>
                <a:cs typeface="+mn-cs"/>
              </a:endParaRPr>
            </a:p>
          </p:txBody>
        </p:sp>
      </p:grpSp>
      <p:pic>
        <p:nvPicPr>
          <p:cNvPr id="9" name="Graphic 8">
            <a:extLst>
              <a:ext uri="{FF2B5EF4-FFF2-40B4-BE49-F238E27FC236}">
                <a16:creationId xmlns:a16="http://schemas.microsoft.com/office/drawing/2014/main" id="{DFE01DC8-4EE6-FCCD-36B6-F9BE4CA9F88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97998" y="1614033"/>
            <a:ext cx="598796" cy="598796"/>
          </a:xfrm>
          <a:prstGeom prst="rect">
            <a:avLst/>
          </a:prstGeom>
        </p:spPr>
      </p:pic>
      <p:pic>
        <p:nvPicPr>
          <p:cNvPr id="10" name="Graphic 9">
            <a:extLst>
              <a:ext uri="{FF2B5EF4-FFF2-40B4-BE49-F238E27FC236}">
                <a16:creationId xmlns:a16="http://schemas.microsoft.com/office/drawing/2014/main" id="{844FEB9A-5323-DD36-F895-D727024D411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11939" y="2162413"/>
            <a:ext cx="632307" cy="632307"/>
          </a:xfrm>
          <a:prstGeom prst="rect">
            <a:avLst/>
          </a:prstGeom>
        </p:spPr>
      </p:pic>
      <p:pic>
        <p:nvPicPr>
          <p:cNvPr id="12" name="Graphic 11">
            <a:extLst>
              <a:ext uri="{FF2B5EF4-FFF2-40B4-BE49-F238E27FC236}">
                <a16:creationId xmlns:a16="http://schemas.microsoft.com/office/drawing/2014/main" id="{6F496119-0F61-941C-DC15-B1F91C9AE15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508052" y="3468110"/>
            <a:ext cx="640080" cy="640080"/>
          </a:xfrm>
          <a:prstGeom prst="rect">
            <a:avLst/>
          </a:prstGeom>
        </p:spPr>
      </p:pic>
      <p:pic>
        <p:nvPicPr>
          <p:cNvPr id="14" name="Graphic 13">
            <a:extLst>
              <a:ext uri="{FF2B5EF4-FFF2-40B4-BE49-F238E27FC236}">
                <a16:creationId xmlns:a16="http://schemas.microsoft.com/office/drawing/2014/main" id="{17767445-EC3E-B42D-237F-9253CA39BFE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480746" y="2671091"/>
            <a:ext cx="679866" cy="679866"/>
          </a:xfrm>
          <a:prstGeom prst="rect">
            <a:avLst/>
          </a:prstGeom>
        </p:spPr>
      </p:pic>
      <p:pic>
        <p:nvPicPr>
          <p:cNvPr id="1028" name="Picture 4" descr="AWS Glue AWS Compute, 58% OFF">
            <a:extLst>
              <a:ext uri="{FF2B5EF4-FFF2-40B4-BE49-F238E27FC236}">
                <a16:creationId xmlns:a16="http://schemas.microsoft.com/office/drawing/2014/main" id="{C02501D4-F534-01E4-40BE-6DB275AD9433}"/>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a:stretch/>
        </p:blipFill>
        <p:spPr bwMode="auto">
          <a:xfrm>
            <a:off x="8620801" y="5130688"/>
            <a:ext cx="606053" cy="8264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oric + Amazon Redshift | Data Integration">
            <a:extLst>
              <a:ext uri="{FF2B5EF4-FFF2-40B4-BE49-F238E27FC236}">
                <a16:creationId xmlns:a16="http://schemas.microsoft.com/office/drawing/2014/main" id="{3DFF4F44-A2CF-6C01-E7F6-8D52C514E6B1}"/>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a:stretch/>
        </p:blipFill>
        <p:spPr bwMode="auto">
          <a:xfrm>
            <a:off x="9928846" y="5994171"/>
            <a:ext cx="1152274" cy="48447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E69373E6-B4BD-ADB5-7A9B-D6BC857D93D3}"/>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9632403" y="5179805"/>
            <a:ext cx="764071" cy="759235"/>
          </a:xfrm>
          <a:prstGeom prst="rect">
            <a:avLst/>
          </a:prstGeom>
        </p:spPr>
      </p:pic>
      <p:pic>
        <p:nvPicPr>
          <p:cNvPr id="20" name="Picture 19">
            <a:extLst>
              <a:ext uri="{FF2B5EF4-FFF2-40B4-BE49-F238E27FC236}">
                <a16:creationId xmlns:a16="http://schemas.microsoft.com/office/drawing/2014/main" id="{C1DA8F8C-4504-CDA4-948F-223C7CF4770B}"/>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10858354" y="5174712"/>
            <a:ext cx="670227" cy="7528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