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88752072-900F-5BAC-1AC3-0C20D40CD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668" y="257992"/>
            <a:ext cx="10280240" cy="559260"/>
          </a:xfrm>
        </p:spPr>
        <p:txBody>
          <a:bodyPr>
            <a:noAutofit/>
          </a:bodyPr>
          <a:lstStyle/>
          <a:p>
            <a:r>
              <a:rPr lang="en-IN" dirty="0"/>
              <a:t>Data Mesh: Scaling Data Mgmt. &amp; Customer Support</a:t>
            </a:r>
            <a:endParaRPr lang="en-US" dirty="0">
              <a:cs typeface="Poppins SemiBold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41F9AD-F7F6-F83D-BB92-D350AD8F554F}"/>
              </a:ext>
            </a:extLst>
          </p:cNvPr>
          <p:cNvSpPr/>
          <p:nvPr/>
        </p:nvSpPr>
        <p:spPr>
          <a:xfrm>
            <a:off x="478520" y="928794"/>
            <a:ext cx="7111893" cy="912706"/>
          </a:xfrm>
          <a:prstGeom prst="rect">
            <a:avLst/>
          </a:prstGeom>
          <a:solidFill>
            <a:srgbClr val="002E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ABD901-3DEF-B7A1-AD86-ED5297566E4A}"/>
              </a:ext>
            </a:extLst>
          </p:cNvPr>
          <p:cNvSpPr txBox="1"/>
          <p:nvPr/>
        </p:nvSpPr>
        <p:spPr>
          <a:xfrm>
            <a:off x="472007" y="943265"/>
            <a:ext cx="7123082" cy="90024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A prominent provider of collaboration and productivity software has expanded its product portfolio over the past two decades through both internal development and strategic acquisitions. However, this expansion introduced a diverse array of products, each with unique data structures and operational models. The company initially relied on a monolithic billing system, which struggled to keep pace with the increasing complexity and diversity of its expanding product ecosystem.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EFE655-CF4A-86DA-20CA-8B4456CCFFA9}"/>
              </a:ext>
            </a:extLst>
          </p:cNvPr>
          <p:cNvSpPr/>
          <p:nvPr/>
        </p:nvSpPr>
        <p:spPr bwMode="auto">
          <a:xfrm>
            <a:off x="7986181" y="1245402"/>
            <a:ext cx="3913129" cy="53553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66639FD-4722-F008-205D-08A4EAEAA461}"/>
              </a:ext>
            </a:extLst>
          </p:cNvPr>
          <p:cNvGrpSpPr/>
          <p:nvPr/>
        </p:nvGrpSpPr>
        <p:grpSpPr>
          <a:xfrm>
            <a:off x="7744415" y="898058"/>
            <a:ext cx="2979921" cy="658812"/>
            <a:chOff x="7555266" y="1214168"/>
            <a:chExt cx="2979921" cy="658812"/>
          </a:xfrm>
        </p:grpSpPr>
        <p:sp>
          <p:nvSpPr>
            <p:cNvPr id="8" name="Right Triangle 7">
              <a:extLst>
                <a:ext uri="{FF2B5EF4-FFF2-40B4-BE49-F238E27FC236}">
                  <a16:creationId xmlns:a16="http://schemas.microsoft.com/office/drawing/2014/main" id="{E77460D4-A0A8-95A9-1D42-0C625D073148}"/>
                </a:ext>
              </a:extLst>
            </p:cNvPr>
            <p:cNvSpPr/>
            <p:nvPr/>
          </p:nvSpPr>
          <p:spPr bwMode="auto">
            <a:xfrm>
              <a:off x="10287623" y="1224031"/>
              <a:ext cx="247564" cy="350848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ight Triangle 8">
              <a:extLst>
                <a:ext uri="{FF2B5EF4-FFF2-40B4-BE49-F238E27FC236}">
                  <a16:creationId xmlns:a16="http://schemas.microsoft.com/office/drawing/2014/main" id="{F76B02E5-1E47-6530-939D-22E1B273EF34}"/>
                </a:ext>
              </a:extLst>
            </p:cNvPr>
            <p:cNvSpPr/>
            <p:nvPr/>
          </p:nvSpPr>
          <p:spPr bwMode="auto">
            <a:xfrm rot="10800000">
              <a:off x="7555266" y="1683704"/>
              <a:ext cx="247564" cy="189276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1F51ECA-D44E-2E19-91E2-2D709569D611}"/>
                </a:ext>
              </a:extLst>
            </p:cNvPr>
            <p:cNvSpPr/>
            <p:nvPr/>
          </p:nvSpPr>
          <p:spPr bwMode="auto">
            <a:xfrm>
              <a:off x="7555266" y="1214168"/>
              <a:ext cx="2732357" cy="469537"/>
            </a:xfrm>
            <a:prstGeom prst="rect">
              <a:avLst/>
            </a:prstGeom>
            <a:solidFill>
              <a:srgbClr val="39C1BF"/>
            </a:solidFill>
            <a:ln w="9525">
              <a:noFill/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 Value Delivered</a:t>
              </a:r>
              <a:endPara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FE4FCA6-7C2C-F51C-57A2-66EA50527837}"/>
              </a:ext>
            </a:extLst>
          </p:cNvPr>
          <p:cNvSpPr txBox="1"/>
          <p:nvPr/>
        </p:nvSpPr>
        <p:spPr>
          <a:xfrm>
            <a:off x="8014717" y="1545378"/>
            <a:ext cx="3917625" cy="41549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marR="0" lvl="0" indent="-28575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Enhanced Data Consistency:</a:t>
            </a: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 The data mesh architecture standardized formats, ensuring accurate and reliable data representation.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lt"/>
              <a:cs typeface="Poppins"/>
            </a:endParaRPr>
          </a:p>
          <a:p>
            <a:pPr marL="285750" marR="0" lvl="0" indent="-28575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Improved Data Accessibility:</a:t>
            </a: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 Decentralized data ownership empowered domain teams, streamlining data discovery and integration.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lt"/>
              <a:cs typeface="Poppins"/>
            </a:endParaRPr>
          </a:p>
          <a:p>
            <a:pPr marL="285750" marR="0" lvl="0" indent="-28575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Reduced Latency:</a:t>
            </a: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 Real-time processing enabled faster insights, ensuring customer support teams had up-to-date information.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lt"/>
              <a:cs typeface="Poppins"/>
            </a:endParaRPr>
          </a:p>
          <a:p>
            <a:pPr marL="285750" marR="0" lvl="0" indent="-28575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Scalability:</a:t>
            </a: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 The modular microservices architecture supported seamless expansion while maintaining high system performance.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lt"/>
              <a:cs typeface="Poppins"/>
            </a:endParaRPr>
          </a:p>
          <a:p>
            <a:pPr marL="285750" marR="0" lvl="0" indent="-28575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Operational Efficiency:</a:t>
            </a: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 Offloading processing tasks to microservices optimized system responsiveness and performance.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lt"/>
              <a:cs typeface="Poppins"/>
            </a:endParaRPr>
          </a:p>
          <a:p>
            <a:pPr marL="285750" marR="0" lvl="0" indent="-28575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Enhanced Customer Satisfaction:</a:t>
            </a: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 Timely, accurate data availability enabled faster issue resolution, improving customer experience.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ＭＳ Ｐゴシック"/>
              <a:cs typeface="Helvetic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0DD72F-AD2F-25EA-4D5B-04D48A7DDBD6}"/>
              </a:ext>
            </a:extLst>
          </p:cNvPr>
          <p:cNvSpPr/>
          <p:nvPr/>
        </p:nvSpPr>
        <p:spPr>
          <a:xfrm>
            <a:off x="4078582" y="2427611"/>
            <a:ext cx="3511831" cy="4032005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F46DB8-5250-9D40-403C-FC7C64268B47}"/>
              </a:ext>
            </a:extLst>
          </p:cNvPr>
          <p:cNvSpPr/>
          <p:nvPr/>
        </p:nvSpPr>
        <p:spPr>
          <a:xfrm>
            <a:off x="455084" y="2427609"/>
            <a:ext cx="3525199" cy="4032005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CEC274-819F-7186-1E72-81DBEC8F2C1A}"/>
              </a:ext>
            </a:extLst>
          </p:cNvPr>
          <p:cNvSpPr txBox="1"/>
          <p:nvPr/>
        </p:nvSpPr>
        <p:spPr>
          <a:xfrm>
            <a:off x="460547" y="2426551"/>
            <a:ext cx="3487923" cy="299312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Scattered Data Sources: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 Dispersed data made aggregation and unified access difficult. 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Non-Source Agnostic Systems: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 Frequent source changes required constant back-end updates, increasing maintenance. 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Heavy Back-End Services: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 Intensive data processing caused latency and reduced responsiveness. 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Latency and Stale Information: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 Batch processing delayed data availability, leading to outdated insights. 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High Resolution Time: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 Inefficient data handling prolonged customer issue resolution.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04B64E-F908-7CC4-83D9-6AAE75F7D658}"/>
              </a:ext>
            </a:extLst>
          </p:cNvPr>
          <p:cNvSpPr txBox="1"/>
          <p:nvPr/>
        </p:nvSpPr>
        <p:spPr>
          <a:xfrm>
            <a:off x="4081923" y="2391382"/>
            <a:ext cx="3657547" cy="43306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To address these challenges, the client adopted a data mesh with domain-driven decentralization and a product-focused approach.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Arial"/>
              </a:rPr>
              <a:t> </a:t>
            </a:r>
            <a:b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</a:b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Streaming: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 AWS Kinesis enabling real-time data ingestion, ensuring immediate processing and analysis.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Arial"/>
              </a:rPr>
              <a:t> 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Queue Management: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 AWS SQS handling message queues efficiently, ensuring reliable service communication.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Arial"/>
              </a:rPr>
              <a:t> 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Microservices: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 Flask-based microservices facilitating modular and scalable data processing workflows.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Arial"/>
              </a:rPr>
              <a:t> 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Storage Solutions: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Arial"/>
              </a:rPr>
              <a:t> 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AWS S3: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 Storing raw and processed data securely with scalable infrastructure.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Arial"/>
              </a:rPr>
              <a:t> 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DynamoDB: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 Managing semi-structured data with flexible and efficient querying.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Arial"/>
              </a:rPr>
              <a:t> 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Elasticsearch: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 Indexing and retrieving processed data rapidly with customized search capabilities.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Arial"/>
              </a:rPr>
              <a:t> 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Analytics Platform: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 Databricks supporting advanced data processing, analytics, and collaborative data science.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Calibri"/>
              <a:cs typeface="Times New Roman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1A56958-E41E-AD0D-70AA-8C4A6C2C9FD3}"/>
              </a:ext>
            </a:extLst>
          </p:cNvPr>
          <p:cNvGrpSpPr/>
          <p:nvPr/>
        </p:nvGrpSpPr>
        <p:grpSpPr>
          <a:xfrm>
            <a:off x="454840" y="1881632"/>
            <a:ext cx="3505147" cy="506676"/>
            <a:chOff x="377675" y="2790487"/>
            <a:chExt cx="3075565" cy="506676"/>
          </a:xfrm>
        </p:grpSpPr>
        <p:sp>
          <p:nvSpPr>
            <p:cNvPr id="31" name="Pentagon 43">
              <a:extLst>
                <a:ext uri="{FF2B5EF4-FFF2-40B4-BE49-F238E27FC236}">
                  <a16:creationId xmlns:a16="http://schemas.microsoft.com/office/drawing/2014/main" id="{8643CA11-5F94-5DE4-A3B9-5664AF91CD27}"/>
                </a:ext>
              </a:extLst>
            </p:cNvPr>
            <p:cNvSpPr/>
            <p:nvPr/>
          </p:nvSpPr>
          <p:spPr>
            <a:xfrm>
              <a:off x="559489" y="2790487"/>
              <a:ext cx="2893751" cy="50610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2" name="Pentagon 42">
              <a:extLst>
                <a:ext uri="{FF2B5EF4-FFF2-40B4-BE49-F238E27FC236}">
                  <a16:creationId xmlns:a16="http://schemas.microsoft.com/office/drawing/2014/main" id="{80EEAC50-A152-DA68-3E0A-90CCE77DEED7}"/>
                </a:ext>
              </a:extLst>
            </p:cNvPr>
            <p:cNvSpPr/>
            <p:nvPr/>
          </p:nvSpPr>
          <p:spPr>
            <a:xfrm>
              <a:off x="468582" y="2790775"/>
              <a:ext cx="2893751" cy="506101"/>
            </a:xfrm>
            <a:prstGeom prst="roundRect">
              <a:avLst/>
            </a:prstGeom>
            <a:solidFill>
              <a:srgbClr val="002E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3" name="Pentagon 40">
              <a:extLst>
                <a:ext uri="{FF2B5EF4-FFF2-40B4-BE49-F238E27FC236}">
                  <a16:creationId xmlns:a16="http://schemas.microsoft.com/office/drawing/2014/main" id="{EF39AE5D-985A-3F2B-BDF3-ECEB16DE8715}"/>
                </a:ext>
              </a:extLst>
            </p:cNvPr>
            <p:cNvSpPr/>
            <p:nvPr/>
          </p:nvSpPr>
          <p:spPr>
            <a:xfrm>
              <a:off x="377675" y="2791062"/>
              <a:ext cx="2893751" cy="506101"/>
            </a:xfrm>
            <a:prstGeom prst="roundRect">
              <a:avLst/>
            </a:prstGeom>
            <a:solidFill>
              <a:srgbClr val="9DC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2E87"/>
                  </a:solidFill>
                  <a:effectLst/>
                  <a:uLnTx/>
                  <a:uFillTx/>
                  <a:latin typeface="Poppins SemiBold"/>
                  <a:ea typeface="+mn-ea"/>
                  <a:cs typeface="Calibri"/>
                </a:rPr>
                <a:t>Challenges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4A6BDFE-7BDF-C25F-C6AD-6FF4983EBB72}"/>
              </a:ext>
            </a:extLst>
          </p:cNvPr>
          <p:cNvGrpSpPr/>
          <p:nvPr/>
        </p:nvGrpSpPr>
        <p:grpSpPr>
          <a:xfrm>
            <a:off x="4065212" y="1886352"/>
            <a:ext cx="3505147" cy="506676"/>
            <a:chOff x="377675" y="2790487"/>
            <a:chExt cx="3075565" cy="506676"/>
          </a:xfrm>
        </p:grpSpPr>
        <p:sp>
          <p:nvSpPr>
            <p:cNvPr id="39" name="Pentagon 43">
              <a:extLst>
                <a:ext uri="{FF2B5EF4-FFF2-40B4-BE49-F238E27FC236}">
                  <a16:creationId xmlns:a16="http://schemas.microsoft.com/office/drawing/2014/main" id="{8983FC74-F30B-C7B9-B3ED-AFB561D4F2E7}"/>
                </a:ext>
              </a:extLst>
            </p:cNvPr>
            <p:cNvSpPr/>
            <p:nvPr/>
          </p:nvSpPr>
          <p:spPr>
            <a:xfrm>
              <a:off x="559489" y="2790487"/>
              <a:ext cx="2893751" cy="50610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0" name="Pentagon 42">
              <a:extLst>
                <a:ext uri="{FF2B5EF4-FFF2-40B4-BE49-F238E27FC236}">
                  <a16:creationId xmlns:a16="http://schemas.microsoft.com/office/drawing/2014/main" id="{89C8543D-7478-2B0F-346E-0D7A0EA6DB6C}"/>
                </a:ext>
              </a:extLst>
            </p:cNvPr>
            <p:cNvSpPr/>
            <p:nvPr/>
          </p:nvSpPr>
          <p:spPr>
            <a:xfrm>
              <a:off x="468582" y="2790775"/>
              <a:ext cx="2893751" cy="506101"/>
            </a:xfrm>
            <a:prstGeom prst="roundRect">
              <a:avLst/>
            </a:prstGeom>
            <a:solidFill>
              <a:srgbClr val="002E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1" name="Pentagon 40">
              <a:extLst>
                <a:ext uri="{FF2B5EF4-FFF2-40B4-BE49-F238E27FC236}">
                  <a16:creationId xmlns:a16="http://schemas.microsoft.com/office/drawing/2014/main" id="{A1921AA2-7B21-122E-DDC7-D091015699AD}"/>
                </a:ext>
              </a:extLst>
            </p:cNvPr>
            <p:cNvSpPr/>
            <p:nvPr/>
          </p:nvSpPr>
          <p:spPr>
            <a:xfrm>
              <a:off x="377675" y="2791062"/>
              <a:ext cx="2893751" cy="506101"/>
            </a:xfrm>
            <a:prstGeom prst="roundRect">
              <a:avLst/>
            </a:prstGeom>
            <a:solidFill>
              <a:srgbClr val="9DC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2E87"/>
                  </a:solidFill>
                  <a:effectLst/>
                  <a:uLnTx/>
                  <a:uFillTx/>
                  <a:latin typeface="Poppins SemiBold"/>
                  <a:ea typeface="+mn-ea"/>
                  <a:cs typeface="Poppins SemiBold"/>
                </a:rPr>
                <a:t>Solutions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