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C7E7ADC-1740-51E1-2606-44C1874A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257992"/>
            <a:ext cx="9146536" cy="559260"/>
          </a:xfrm>
        </p:spPr>
        <p:txBody>
          <a:bodyPr>
            <a:normAutofit/>
          </a:bodyPr>
          <a:lstStyle/>
          <a:p>
            <a:r>
              <a:rPr lang="en-US" dirty="0"/>
              <a:t>Cloud Migration for Hi-Tech Industry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41FEC-E3DD-B1F1-25E9-E38519576F18}"/>
              </a:ext>
            </a:extLst>
          </p:cNvPr>
          <p:cNvSpPr/>
          <p:nvPr/>
        </p:nvSpPr>
        <p:spPr>
          <a:xfrm>
            <a:off x="462069" y="976842"/>
            <a:ext cx="7006111" cy="1064322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F81740-E98D-F2CC-AE8D-992E5C8DB4FA}"/>
              </a:ext>
            </a:extLst>
          </p:cNvPr>
          <p:cNvSpPr/>
          <p:nvPr/>
        </p:nvSpPr>
        <p:spPr>
          <a:xfrm>
            <a:off x="462069" y="3060580"/>
            <a:ext cx="3133702" cy="127213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C86A7-4575-E212-4A5D-436A0B57235E}"/>
              </a:ext>
            </a:extLst>
          </p:cNvPr>
          <p:cNvSpPr/>
          <p:nvPr/>
        </p:nvSpPr>
        <p:spPr>
          <a:xfrm>
            <a:off x="3777586" y="3059929"/>
            <a:ext cx="3747150" cy="127213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879F8D-ECCF-061A-35D9-A60333C95D15}"/>
              </a:ext>
            </a:extLst>
          </p:cNvPr>
          <p:cNvSpPr/>
          <p:nvPr/>
        </p:nvSpPr>
        <p:spPr bwMode="auto">
          <a:xfrm>
            <a:off x="7879612" y="1337555"/>
            <a:ext cx="4109770" cy="23793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entagon 46">
            <a:extLst>
              <a:ext uri="{FF2B5EF4-FFF2-40B4-BE49-F238E27FC236}">
                <a16:creationId xmlns:a16="http://schemas.microsoft.com/office/drawing/2014/main" id="{58A1F759-AE8C-CFCD-2280-37C8B7B58EF7}"/>
              </a:ext>
            </a:extLst>
          </p:cNvPr>
          <p:cNvSpPr/>
          <p:nvPr/>
        </p:nvSpPr>
        <p:spPr>
          <a:xfrm>
            <a:off x="3799723" y="2466521"/>
            <a:ext cx="3719048" cy="505526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Pentagon 47">
            <a:extLst>
              <a:ext uri="{FF2B5EF4-FFF2-40B4-BE49-F238E27FC236}">
                <a16:creationId xmlns:a16="http://schemas.microsoft.com/office/drawing/2014/main" id="{204A8EDF-E429-D28F-C3B6-AE7439098D37}"/>
              </a:ext>
            </a:extLst>
          </p:cNvPr>
          <p:cNvSpPr/>
          <p:nvPr/>
        </p:nvSpPr>
        <p:spPr>
          <a:xfrm>
            <a:off x="3884897" y="2466808"/>
            <a:ext cx="3517039" cy="505526"/>
          </a:xfrm>
          <a:prstGeom prst="round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Pentagon 48">
            <a:extLst>
              <a:ext uri="{FF2B5EF4-FFF2-40B4-BE49-F238E27FC236}">
                <a16:creationId xmlns:a16="http://schemas.microsoft.com/office/drawing/2014/main" id="{C37E3A56-7E8F-643E-85FF-FB226C95C953}"/>
              </a:ext>
            </a:extLst>
          </p:cNvPr>
          <p:cNvSpPr/>
          <p:nvPr/>
        </p:nvSpPr>
        <p:spPr>
          <a:xfrm>
            <a:off x="3793758" y="2467096"/>
            <a:ext cx="3491346" cy="505526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07967-7A37-75E9-729D-9440E4DE36C0}"/>
              </a:ext>
            </a:extLst>
          </p:cNvPr>
          <p:cNvSpPr txBox="1"/>
          <p:nvPr/>
        </p:nvSpPr>
        <p:spPr>
          <a:xfrm>
            <a:off x="3890863" y="2546995"/>
            <a:ext cx="3267704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Integration</a:t>
            </a:r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D697A4DE-29EE-038E-6019-53C00BEC4D80}"/>
              </a:ext>
            </a:extLst>
          </p:cNvPr>
          <p:cNvSpPr/>
          <p:nvPr/>
        </p:nvSpPr>
        <p:spPr bwMode="auto">
          <a:xfrm>
            <a:off x="10364405" y="986706"/>
            <a:ext cx="247564" cy="350848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39CCFA-FB7B-3A2C-3F39-4B7301993D6F}"/>
              </a:ext>
            </a:extLst>
          </p:cNvPr>
          <p:cNvSpPr/>
          <p:nvPr/>
        </p:nvSpPr>
        <p:spPr bwMode="auto">
          <a:xfrm>
            <a:off x="7632048" y="976843"/>
            <a:ext cx="2061573" cy="469537"/>
          </a:xfrm>
          <a:prstGeom prst="rect">
            <a:avLst/>
          </a:prstGeom>
          <a:solidFill>
            <a:srgbClr val="39C1B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7F6171B9-6F9A-BADC-BBC6-B02213210F7E}"/>
              </a:ext>
            </a:extLst>
          </p:cNvPr>
          <p:cNvSpPr/>
          <p:nvPr/>
        </p:nvSpPr>
        <p:spPr bwMode="auto">
          <a:xfrm rot="10800000">
            <a:off x="7632048" y="1446379"/>
            <a:ext cx="247564" cy="189276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36FE7D-809A-E2A5-25FA-A7D5DB26C6F2}"/>
              </a:ext>
            </a:extLst>
          </p:cNvPr>
          <p:cNvSpPr/>
          <p:nvPr/>
        </p:nvSpPr>
        <p:spPr bwMode="auto">
          <a:xfrm>
            <a:off x="7632048" y="976843"/>
            <a:ext cx="2732357" cy="469537"/>
          </a:xfrm>
          <a:prstGeom prst="rect">
            <a:avLst/>
          </a:prstGeom>
          <a:solidFill>
            <a:srgbClr val="39C1BF"/>
          </a:solidFill>
          <a:ln w="9525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SemiBold"/>
                <a:ea typeface="+mn-ea"/>
                <a:cs typeface="Calibri" panose="020F0502020204030204" pitchFamily="34" charset="0"/>
              </a:rPr>
              <a:t>BENEFITS DELIVERED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SemiBold"/>
              <a:ea typeface="+mn-ea"/>
              <a:cs typeface="+mn-cs"/>
            </a:endParaRPr>
          </a:p>
        </p:txBody>
      </p:sp>
      <p:sp>
        <p:nvSpPr>
          <p:cNvPr id="36" name="Pentagon 43">
            <a:extLst>
              <a:ext uri="{FF2B5EF4-FFF2-40B4-BE49-F238E27FC236}">
                <a16:creationId xmlns:a16="http://schemas.microsoft.com/office/drawing/2014/main" id="{AEE79D72-2B94-E796-D112-D8A7A510F0A9}"/>
              </a:ext>
            </a:extLst>
          </p:cNvPr>
          <p:cNvSpPr/>
          <p:nvPr/>
        </p:nvSpPr>
        <p:spPr>
          <a:xfrm>
            <a:off x="702020" y="2461806"/>
            <a:ext cx="2893751" cy="50610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Pentagon 42">
            <a:extLst>
              <a:ext uri="{FF2B5EF4-FFF2-40B4-BE49-F238E27FC236}">
                <a16:creationId xmlns:a16="http://schemas.microsoft.com/office/drawing/2014/main" id="{5801C406-998D-69A1-49EC-251BA125DFC4}"/>
              </a:ext>
            </a:extLst>
          </p:cNvPr>
          <p:cNvSpPr/>
          <p:nvPr/>
        </p:nvSpPr>
        <p:spPr>
          <a:xfrm>
            <a:off x="608864" y="2462094"/>
            <a:ext cx="2893751" cy="506101"/>
          </a:xfrm>
          <a:prstGeom prst="round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Pentagon 40">
            <a:extLst>
              <a:ext uri="{FF2B5EF4-FFF2-40B4-BE49-F238E27FC236}">
                <a16:creationId xmlns:a16="http://schemas.microsoft.com/office/drawing/2014/main" id="{24E09196-5A64-E42A-3924-457FCAA571FB}"/>
              </a:ext>
            </a:extLst>
          </p:cNvPr>
          <p:cNvSpPr/>
          <p:nvPr/>
        </p:nvSpPr>
        <p:spPr>
          <a:xfrm>
            <a:off x="454457" y="2462381"/>
            <a:ext cx="2962288" cy="506101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956A1B-D321-DA96-33EC-E9AF9812FF11}"/>
              </a:ext>
            </a:extLst>
          </p:cNvPr>
          <p:cNvSpPr/>
          <p:nvPr/>
        </p:nvSpPr>
        <p:spPr>
          <a:xfrm>
            <a:off x="542048" y="2555797"/>
            <a:ext cx="31337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Migration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D675AD-E3B3-95D0-35BB-5BD9E0FD3545}"/>
              </a:ext>
            </a:extLst>
          </p:cNvPr>
          <p:cNvSpPr txBox="1"/>
          <p:nvPr/>
        </p:nvSpPr>
        <p:spPr>
          <a:xfrm>
            <a:off x="506072" y="922318"/>
            <a:ext cx="6932336" cy="114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Business Context: 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Calibri" panose="020F0502020204030204" pitchFamily="34" charset="0"/>
              </a:rPr>
              <a:t>A leading technology company specializing in the development, manufacturing, &amp; networking of hardware, telecommunications equipment, &amp; other high-tech products for various industries. The client wanted to adopt a standardized approach to migrate from an on-premises database to the cloud and looking for a partner who could help them in identifying the right solution and methodologies to migrate to the cloud.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0904B-CEBA-B7D5-8E8E-5B5C8A348E14}"/>
              </a:ext>
            </a:extLst>
          </p:cNvPr>
          <p:cNvSpPr txBox="1"/>
          <p:nvPr/>
        </p:nvSpPr>
        <p:spPr>
          <a:xfrm>
            <a:off x="506072" y="3085328"/>
            <a:ext cx="2945389" cy="116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Migrate Data from on-premise Oracle and Casagrande database to Postgres in the cloud using AWS S3 for archives and Snowflake for downstream data movement</a:t>
            </a:r>
          </a:p>
          <a:p>
            <a:pPr marL="114300" marR="0" lvl="0" indent="-1143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Tahoma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Migrate AWS to GCP Cloud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6AAC-5529-09C5-BD30-8222BC4ECCC7}"/>
              </a:ext>
            </a:extLst>
          </p:cNvPr>
          <p:cNvSpPr txBox="1"/>
          <p:nvPr/>
        </p:nvSpPr>
        <p:spPr>
          <a:xfrm>
            <a:off x="3799406" y="3059354"/>
            <a:ext cx="34856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158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Integrate Salesforce data into a heterogeneous database using Informatica workflows</a:t>
            </a:r>
          </a:p>
          <a:p>
            <a:pPr marL="228600" marR="0" lvl="0" indent="-158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endParaRPr kumimoji="0" lang="en-US" sz="11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Tahoma"/>
            </a:endParaRPr>
          </a:p>
          <a:p>
            <a:pPr marL="228600" marR="0" lvl="0" indent="-158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Establish ETL pipelines and triggers to monitor and ensure smooth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E29C8-DCC9-6E84-4BEF-17BA62C8A5E2}"/>
              </a:ext>
            </a:extLst>
          </p:cNvPr>
          <p:cNvSpPr/>
          <p:nvPr/>
        </p:nvSpPr>
        <p:spPr bwMode="auto">
          <a:xfrm>
            <a:off x="8016051" y="4320159"/>
            <a:ext cx="4050042" cy="22798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003DE023-9739-DE61-E4F0-46E019677DFF}"/>
              </a:ext>
            </a:extLst>
          </p:cNvPr>
          <p:cNvSpPr/>
          <p:nvPr/>
        </p:nvSpPr>
        <p:spPr bwMode="auto">
          <a:xfrm>
            <a:off x="10486769" y="3861616"/>
            <a:ext cx="251453" cy="350848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E8CEB6-710C-8C59-7DCC-826E25E8167A}"/>
              </a:ext>
            </a:extLst>
          </p:cNvPr>
          <p:cNvSpPr/>
          <p:nvPr/>
        </p:nvSpPr>
        <p:spPr bwMode="auto">
          <a:xfrm>
            <a:off x="7754413" y="3851753"/>
            <a:ext cx="2093958" cy="469537"/>
          </a:xfrm>
          <a:prstGeom prst="rect">
            <a:avLst/>
          </a:prstGeom>
          <a:solidFill>
            <a:srgbClr val="39C1B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63DA9CAE-2D19-1244-3D19-7FCD0D7A3BC5}"/>
              </a:ext>
            </a:extLst>
          </p:cNvPr>
          <p:cNvSpPr/>
          <p:nvPr/>
        </p:nvSpPr>
        <p:spPr bwMode="auto">
          <a:xfrm rot="10800000">
            <a:off x="7754412" y="4143196"/>
            <a:ext cx="251453" cy="189276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5BFF11-8D7F-8043-704E-BD4C2FDA9E76}"/>
              </a:ext>
            </a:extLst>
          </p:cNvPr>
          <p:cNvSpPr/>
          <p:nvPr/>
        </p:nvSpPr>
        <p:spPr bwMode="auto">
          <a:xfrm>
            <a:off x="7754413" y="3851753"/>
            <a:ext cx="2775279" cy="469537"/>
          </a:xfrm>
          <a:prstGeom prst="rect">
            <a:avLst/>
          </a:prstGeom>
          <a:solidFill>
            <a:srgbClr val="39C1BF"/>
          </a:solidFill>
          <a:ln w="9525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TOOLS UTILIZED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SemiBold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CBE32F-E635-7E35-F943-B472002D49C8}"/>
              </a:ext>
            </a:extLst>
          </p:cNvPr>
          <p:cNvSpPr txBox="1"/>
          <p:nvPr/>
        </p:nvSpPr>
        <p:spPr>
          <a:xfrm>
            <a:off x="8646967" y="1613852"/>
            <a:ext cx="32738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Decrease in data processing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Reduction in server load and storage costs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Reduced data transfer errors through automation and ETL pipelines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12000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 users handled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Data velocity &gt;  2.5 M transactions/week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9B67C5-ACA0-B941-1B06-BB7AC7D43721}"/>
              </a:ext>
            </a:extLst>
          </p:cNvPr>
          <p:cNvSpPr/>
          <p:nvPr/>
        </p:nvSpPr>
        <p:spPr>
          <a:xfrm>
            <a:off x="448811" y="5006028"/>
            <a:ext cx="3133702" cy="15939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D7A2CF-9EDE-88B3-DB65-7E6F1557861D}"/>
              </a:ext>
            </a:extLst>
          </p:cNvPr>
          <p:cNvSpPr/>
          <p:nvPr/>
        </p:nvSpPr>
        <p:spPr>
          <a:xfrm>
            <a:off x="3764328" y="5005376"/>
            <a:ext cx="3747150" cy="15939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Pentagon 46">
            <a:extLst>
              <a:ext uri="{FF2B5EF4-FFF2-40B4-BE49-F238E27FC236}">
                <a16:creationId xmlns:a16="http://schemas.microsoft.com/office/drawing/2014/main" id="{2773F5FE-ED31-D3F7-F0D2-67EA5C515EB3}"/>
              </a:ext>
            </a:extLst>
          </p:cNvPr>
          <p:cNvSpPr/>
          <p:nvPr/>
        </p:nvSpPr>
        <p:spPr>
          <a:xfrm>
            <a:off x="3786465" y="4411968"/>
            <a:ext cx="3719048" cy="505526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Pentagon 47">
            <a:extLst>
              <a:ext uri="{FF2B5EF4-FFF2-40B4-BE49-F238E27FC236}">
                <a16:creationId xmlns:a16="http://schemas.microsoft.com/office/drawing/2014/main" id="{47A1CA8D-1A9B-F1F5-9FB4-E2ABAEF1C079}"/>
              </a:ext>
            </a:extLst>
          </p:cNvPr>
          <p:cNvSpPr/>
          <p:nvPr/>
        </p:nvSpPr>
        <p:spPr>
          <a:xfrm>
            <a:off x="3871639" y="4412255"/>
            <a:ext cx="3517039" cy="505526"/>
          </a:xfrm>
          <a:prstGeom prst="round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Pentagon 48">
            <a:extLst>
              <a:ext uri="{FF2B5EF4-FFF2-40B4-BE49-F238E27FC236}">
                <a16:creationId xmlns:a16="http://schemas.microsoft.com/office/drawing/2014/main" id="{44694F05-2FFB-1F40-673E-CCC80EC6FA8C}"/>
              </a:ext>
            </a:extLst>
          </p:cNvPr>
          <p:cNvSpPr/>
          <p:nvPr/>
        </p:nvSpPr>
        <p:spPr>
          <a:xfrm>
            <a:off x="3780500" y="4412543"/>
            <a:ext cx="3491346" cy="505526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74E633-06E9-0785-4461-36BC12E5D64A}"/>
              </a:ext>
            </a:extLst>
          </p:cNvPr>
          <p:cNvSpPr txBox="1"/>
          <p:nvPr/>
        </p:nvSpPr>
        <p:spPr>
          <a:xfrm>
            <a:off x="3877605" y="4492442"/>
            <a:ext cx="2956639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Performance</a:t>
            </a:r>
          </a:p>
        </p:txBody>
      </p:sp>
      <p:sp>
        <p:nvSpPr>
          <p:cNvPr id="58" name="Pentagon 43">
            <a:extLst>
              <a:ext uri="{FF2B5EF4-FFF2-40B4-BE49-F238E27FC236}">
                <a16:creationId xmlns:a16="http://schemas.microsoft.com/office/drawing/2014/main" id="{AD5B8DE9-3BC1-339C-A3C3-55BA0BA06CB4}"/>
              </a:ext>
            </a:extLst>
          </p:cNvPr>
          <p:cNvSpPr/>
          <p:nvPr/>
        </p:nvSpPr>
        <p:spPr>
          <a:xfrm>
            <a:off x="688762" y="4407253"/>
            <a:ext cx="2893751" cy="50610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9" name="Pentagon 42">
            <a:extLst>
              <a:ext uri="{FF2B5EF4-FFF2-40B4-BE49-F238E27FC236}">
                <a16:creationId xmlns:a16="http://schemas.microsoft.com/office/drawing/2014/main" id="{EB5B39E0-7202-0C5E-DC9B-4CF98BCD942C}"/>
              </a:ext>
            </a:extLst>
          </p:cNvPr>
          <p:cNvSpPr/>
          <p:nvPr/>
        </p:nvSpPr>
        <p:spPr>
          <a:xfrm>
            <a:off x="595606" y="4407541"/>
            <a:ext cx="2893751" cy="506101"/>
          </a:xfrm>
          <a:prstGeom prst="round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Pentagon 40">
            <a:extLst>
              <a:ext uri="{FF2B5EF4-FFF2-40B4-BE49-F238E27FC236}">
                <a16:creationId xmlns:a16="http://schemas.microsoft.com/office/drawing/2014/main" id="{A9E78326-10C9-4B09-4966-741D88B4178B}"/>
              </a:ext>
            </a:extLst>
          </p:cNvPr>
          <p:cNvSpPr/>
          <p:nvPr/>
        </p:nvSpPr>
        <p:spPr>
          <a:xfrm>
            <a:off x="441199" y="4407828"/>
            <a:ext cx="2962288" cy="506101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CAF80AD-D5F4-33E5-4DFB-8550B20914ED}"/>
              </a:ext>
            </a:extLst>
          </p:cNvPr>
          <p:cNvSpPr/>
          <p:nvPr/>
        </p:nvSpPr>
        <p:spPr>
          <a:xfrm>
            <a:off x="528790" y="4478434"/>
            <a:ext cx="28061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Data Load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20D802-1CD8-0B82-6FE7-6C96F3EBD8FF}"/>
              </a:ext>
            </a:extLst>
          </p:cNvPr>
          <p:cNvSpPr txBox="1"/>
          <p:nvPr/>
        </p:nvSpPr>
        <p:spPr>
          <a:xfrm>
            <a:off x="492814" y="5030775"/>
            <a:ext cx="3300944" cy="146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Perform data load process that involves both full and incremental data loads, which are managed through scheduled jobs</a:t>
            </a:r>
          </a:p>
          <a:p>
            <a:pPr marL="114300" marR="0" lvl="0" indent="-1143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Tahoma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To streamline the data transfer process and ensure efficient migration to the cloud, a load automation process is established using Scala &amp; Spark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84F557-F61D-AA0B-75E7-CEC026015FE4}"/>
              </a:ext>
            </a:extLst>
          </p:cNvPr>
          <p:cNvSpPr txBox="1"/>
          <p:nvPr/>
        </p:nvSpPr>
        <p:spPr>
          <a:xfrm>
            <a:off x="3786148" y="5030775"/>
            <a:ext cx="3755290" cy="116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158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Fine-tune the queries and optimize the loading performance</a:t>
            </a:r>
          </a:p>
          <a:p>
            <a:pPr marL="228600" marR="0" lvl="0" indent="-158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Migrate to more efficient database structures and automate performance measurements</a:t>
            </a:r>
          </a:p>
          <a:p>
            <a:pPr marL="228600" marR="0" lvl="0" indent="-158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sz="1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Tahoma"/>
              </a:rPr>
              <a:t>Conduct both internal and external performance audits to ensure optimal performance</a:t>
            </a:r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5C65A85E-B701-42AC-5451-1548C88CFF8E}"/>
              </a:ext>
            </a:extLst>
          </p:cNvPr>
          <p:cNvSpPr/>
          <p:nvPr/>
        </p:nvSpPr>
        <p:spPr bwMode="auto">
          <a:xfrm rot="10800000">
            <a:off x="7749387" y="4320159"/>
            <a:ext cx="251453" cy="189276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927043-3365-BF01-CC19-814E3511BB4A}"/>
              </a:ext>
            </a:extLst>
          </p:cNvPr>
          <p:cNvSpPr txBox="1"/>
          <p:nvPr/>
        </p:nvSpPr>
        <p:spPr>
          <a:xfrm>
            <a:off x="429678" y="2074830"/>
            <a:ext cx="551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RELANTO’S INVOLVEMENT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A8545ED-7C59-7788-2C75-055ADF51D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3895" y="5462568"/>
            <a:ext cx="519630" cy="17647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F3F70FF-39FF-9955-90CB-638832F91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5325" y="5476301"/>
            <a:ext cx="1164753" cy="17647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FFCF9F17-946C-ADA2-C889-3E6CB110ED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3661" y="5503000"/>
            <a:ext cx="1129886" cy="141790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DFA65602-C517-A192-22EE-49EE4D0B4C6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549" y="5018585"/>
            <a:ext cx="1264616" cy="309426"/>
          </a:xfrm>
          <a:prstGeom prst="rect">
            <a:avLst/>
          </a:prstGeom>
        </p:spPr>
      </p:pic>
      <p:pic>
        <p:nvPicPr>
          <p:cNvPr id="54" name="Picture 20" descr="Informatica Power Center Logo, HD Png Download - kindpng">
            <a:extLst>
              <a:ext uri="{FF2B5EF4-FFF2-40B4-BE49-F238E27FC236}">
                <a16:creationId xmlns:a16="http://schemas.microsoft.com/office/drawing/2014/main" id="{7CE8B7F7-5368-1764-AA67-698B77F58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5" b="98286" l="2907" r="91860">
                        <a14:foregroundMark x1="3372" y1="57143" x2="48605" y2="8571"/>
                        <a14:foregroundMark x1="48605" y1="8571" x2="96860" y2="40381"/>
                        <a14:foregroundMark x1="96860" y1="40381" x2="43488" y2="98476"/>
                        <a14:foregroundMark x1="43488" y1="98476" x2="4419" y2="57143"/>
                        <a14:foregroundMark x1="1977" y1="60571" x2="52326" y2="70286"/>
                        <a14:foregroundMark x1="52326" y1="70286" x2="4767" y2="98667"/>
                        <a14:foregroundMark x1="4767" y1="98667" x2="52674" y2="80571"/>
                        <a14:foregroundMark x1="52674" y1="80571" x2="3023" y2="79238"/>
                        <a14:foregroundMark x1="3023" y1="79238" x2="64302" y2="84190"/>
                        <a14:foregroundMark x1="64302" y1="84190" x2="55233" y2="84571"/>
                        <a14:foregroundMark x1="66977" y1="79810" x2="81512" y2="88000"/>
                        <a14:foregroundMark x1="82209" y1="80381" x2="91860" y2="85143"/>
                        <a14:foregroundMark x1="91860" y1="84571" x2="91860" y2="84571"/>
                        <a14:backgroundMark x1="48140" y1="762" x2="48140" y2="7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244" y="4392221"/>
            <a:ext cx="626960" cy="38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aphic 21">
            <a:extLst>
              <a:ext uri="{FF2B5EF4-FFF2-40B4-BE49-F238E27FC236}">
                <a16:creationId xmlns:a16="http://schemas.microsoft.com/office/drawing/2014/main" id="{AC403BBF-D4BE-12E3-ADA5-5BC44D1885A2}"/>
              </a:ext>
            </a:extLst>
          </p:cNvPr>
          <p:cNvGrpSpPr/>
          <p:nvPr/>
        </p:nvGrpSpPr>
        <p:grpSpPr>
          <a:xfrm>
            <a:off x="9804247" y="5022633"/>
            <a:ext cx="479669" cy="284199"/>
            <a:chOff x="5419176" y="1388657"/>
            <a:chExt cx="764685" cy="457278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3126366-1922-475E-E977-E61D79E98C58}"/>
                </a:ext>
              </a:extLst>
            </p:cNvPr>
            <p:cNvSpPr/>
            <p:nvPr/>
          </p:nvSpPr>
          <p:spPr>
            <a:xfrm>
              <a:off x="5450794" y="1388657"/>
              <a:ext cx="701431" cy="239066"/>
            </a:xfrm>
            <a:custGeom>
              <a:avLst/>
              <a:gdLst>
                <a:gd name="connsiteX0" fmla="*/ 183878 w 701431"/>
                <a:gd name="connsiteY0" fmla="*/ 166075 h 239066"/>
                <a:gd name="connsiteX1" fmla="*/ 186676 w 701431"/>
                <a:gd name="connsiteY1" fmla="*/ 188710 h 239066"/>
                <a:gd name="connsiteX2" fmla="*/ 194814 w 701431"/>
                <a:gd name="connsiteY2" fmla="*/ 207022 h 239066"/>
                <a:gd name="connsiteX3" fmla="*/ 196594 w 701431"/>
                <a:gd name="connsiteY3" fmla="*/ 212871 h 239066"/>
                <a:gd name="connsiteX4" fmla="*/ 191762 w 701431"/>
                <a:gd name="connsiteY4" fmla="*/ 220501 h 239066"/>
                <a:gd name="connsiteX5" fmla="*/ 175739 w 701431"/>
                <a:gd name="connsiteY5" fmla="*/ 231183 h 239066"/>
                <a:gd name="connsiteX6" fmla="*/ 169127 w 701431"/>
                <a:gd name="connsiteY6" fmla="*/ 233472 h 239066"/>
                <a:gd name="connsiteX7" fmla="*/ 161497 w 701431"/>
                <a:gd name="connsiteY7" fmla="*/ 229911 h 239066"/>
                <a:gd name="connsiteX8" fmla="*/ 152341 w 701431"/>
                <a:gd name="connsiteY8" fmla="*/ 217958 h 239066"/>
                <a:gd name="connsiteX9" fmla="*/ 144457 w 701431"/>
                <a:gd name="connsiteY9" fmla="*/ 202952 h 239066"/>
                <a:gd name="connsiteX10" fmla="*/ 69685 w 701431"/>
                <a:gd name="connsiteY10" fmla="*/ 238049 h 239066"/>
                <a:gd name="connsiteX11" fmla="*/ 18820 w 701431"/>
                <a:gd name="connsiteY11" fmla="*/ 219738 h 239066"/>
                <a:gd name="connsiteX12" fmla="*/ 0 w 701431"/>
                <a:gd name="connsiteY12" fmla="*/ 170907 h 239066"/>
                <a:gd name="connsiteX13" fmla="*/ 23144 w 701431"/>
                <a:gd name="connsiteY13" fmla="*/ 118516 h 239066"/>
                <a:gd name="connsiteX14" fmla="*/ 85454 w 701431"/>
                <a:gd name="connsiteY14" fmla="*/ 98679 h 239066"/>
                <a:gd name="connsiteX15" fmla="*/ 112412 w 701431"/>
                <a:gd name="connsiteY15" fmla="*/ 100713 h 239066"/>
                <a:gd name="connsiteX16" fmla="*/ 141660 w 701431"/>
                <a:gd name="connsiteY16" fmla="*/ 106308 h 239066"/>
                <a:gd name="connsiteX17" fmla="*/ 141660 w 701431"/>
                <a:gd name="connsiteY17" fmla="*/ 87743 h 239066"/>
                <a:gd name="connsiteX18" fmla="*/ 129706 w 701431"/>
                <a:gd name="connsiteY18" fmla="*/ 47050 h 239066"/>
                <a:gd name="connsiteX19" fmla="*/ 88251 w 701431"/>
                <a:gd name="connsiteY19" fmla="*/ 35351 h 239066"/>
                <a:gd name="connsiteX20" fmla="*/ 60784 w 701431"/>
                <a:gd name="connsiteY20" fmla="*/ 38658 h 239066"/>
                <a:gd name="connsiteX21" fmla="*/ 33317 w 701431"/>
                <a:gd name="connsiteY21" fmla="*/ 47305 h 239066"/>
                <a:gd name="connsiteX22" fmla="*/ 24415 w 701431"/>
                <a:gd name="connsiteY22" fmla="*/ 50611 h 239066"/>
                <a:gd name="connsiteX23" fmla="*/ 20346 w 701431"/>
                <a:gd name="connsiteY23" fmla="*/ 51374 h 239066"/>
                <a:gd name="connsiteX24" fmla="*/ 15005 w 701431"/>
                <a:gd name="connsiteY24" fmla="*/ 43490 h 239066"/>
                <a:gd name="connsiteX25" fmla="*/ 15005 w 701431"/>
                <a:gd name="connsiteY25" fmla="*/ 31028 h 239066"/>
                <a:gd name="connsiteX26" fmla="*/ 16786 w 701431"/>
                <a:gd name="connsiteY26" fmla="*/ 22126 h 239066"/>
                <a:gd name="connsiteX27" fmla="*/ 23907 w 701431"/>
                <a:gd name="connsiteY27" fmla="*/ 16786 h 239066"/>
                <a:gd name="connsiteX28" fmla="*/ 55952 w 701431"/>
                <a:gd name="connsiteY28" fmla="*/ 5341 h 239066"/>
                <a:gd name="connsiteX29" fmla="*/ 95627 w 701431"/>
                <a:gd name="connsiteY29" fmla="*/ 509 h 239066"/>
                <a:gd name="connsiteX30" fmla="*/ 162260 w 701431"/>
                <a:gd name="connsiteY30" fmla="*/ 21109 h 239066"/>
                <a:gd name="connsiteX31" fmla="*/ 183369 w 701431"/>
                <a:gd name="connsiteY31" fmla="*/ 83673 h 239066"/>
                <a:gd name="connsiteX32" fmla="*/ 183369 w 701431"/>
                <a:gd name="connsiteY32" fmla="*/ 166075 h 239066"/>
                <a:gd name="connsiteX33" fmla="*/ 80621 w 701431"/>
                <a:gd name="connsiteY33" fmla="*/ 204733 h 239066"/>
                <a:gd name="connsiteX34" fmla="*/ 106817 w 701431"/>
                <a:gd name="connsiteY34" fmla="*/ 200155 h 239066"/>
                <a:gd name="connsiteX35" fmla="*/ 130978 w 701431"/>
                <a:gd name="connsiteY35" fmla="*/ 183878 h 239066"/>
                <a:gd name="connsiteX36" fmla="*/ 139625 w 701431"/>
                <a:gd name="connsiteY36" fmla="*/ 167601 h 239066"/>
                <a:gd name="connsiteX37" fmla="*/ 142168 w 701431"/>
                <a:gd name="connsiteY37" fmla="*/ 145475 h 239066"/>
                <a:gd name="connsiteX38" fmla="*/ 142168 w 701431"/>
                <a:gd name="connsiteY38" fmla="*/ 134793 h 239066"/>
                <a:gd name="connsiteX39" fmla="*/ 118770 w 701431"/>
                <a:gd name="connsiteY39" fmla="*/ 130469 h 239066"/>
                <a:gd name="connsiteX40" fmla="*/ 94864 w 701431"/>
                <a:gd name="connsiteY40" fmla="*/ 128943 h 239066"/>
                <a:gd name="connsiteX41" fmla="*/ 56969 w 701431"/>
                <a:gd name="connsiteY41" fmla="*/ 139117 h 239066"/>
                <a:gd name="connsiteX42" fmla="*/ 44507 w 701431"/>
                <a:gd name="connsiteY42" fmla="*/ 168364 h 239066"/>
                <a:gd name="connsiteX43" fmla="*/ 53917 w 701431"/>
                <a:gd name="connsiteY43" fmla="*/ 195323 h 239066"/>
                <a:gd name="connsiteX44" fmla="*/ 80621 w 701431"/>
                <a:gd name="connsiteY44" fmla="*/ 204733 h 239066"/>
                <a:gd name="connsiteX45" fmla="*/ 284845 w 701431"/>
                <a:gd name="connsiteY45" fmla="*/ 232200 h 239066"/>
                <a:gd name="connsiteX46" fmla="*/ 275181 w 701431"/>
                <a:gd name="connsiteY46" fmla="*/ 229657 h 239066"/>
                <a:gd name="connsiteX47" fmla="*/ 269840 w 701431"/>
                <a:gd name="connsiteY47" fmla="*/ 219738 h 239066"/>
                <a:gd name="connsiteX48" fmla="*/ 210074 w 701431"/>
                <a:gd name="connsiteY48" fmla="*/ 23144 h 239066"/>
                <a:gd name="connsiteX49" fmla="*/ 207785 w 701431"/>
                <a:gd name="connsiteY49" fmla="*/ 12971 h 239066"/>
                <a:gd name="connsiteX50" fmla="*/ 213888 w 701431"/>
                <a:gd name="connsiteY50" fmla="*/ 6612 h 239066"/>
                <a:gd name="connsiteX51" fmla="*/ 238812 w 701431"/>
                <a:gd name="connsiteY51" fmla="*/ 6612 h 239066"/>
                <a:gd name="connsiteX52" fmla="*/ 248731 w 701431"/>
                <a:gd name="connsiteY52" fmla="*/ 9156 h 239066"/>
                <a:gd name="connsiteX53" fmla="*/ 253818 w 701431"/>
                <a:gd name="connsiteY53" fmla="*/ 19074 h 239066"/>
                <a:gd name="connsiteX54" fmla="*/ 296544 w 701431"/>
                <a:gd name="connsiteY54" fmla="*/ 187439 h 239066"/>
                <a:gd name="connsiteX55" fmla="*/ 336219 w 701431"/>
                <a:gd name="connsiteY55" fmla="*/ 19074 h 239066"/>
                <a:gd name="connsiteX56" fmla="*/ 341052 w 701431"/>
                <a:gd name="connsiteY56" fmla="*/ 9156 h 239066"/>
                <a:gd name="connsiteX57" fmla="*/ 351225 w 701431"/>
                <a:gd name="connsiteY57" fmla="*/ 6612 h 239066"/>
                <a:gd name="connsiteX58" fmla="*/ 371571 w 701431"/>
                <a:gd name="connsiteY58" fmla="*/ 6612 h 239066"/>
                <a:gd name="connsiteX59" fmla="*/ 381744 w 701431"/>
                <a:gd name="connsiteY59" fmla="*/ 9156 h 239066"/>
                <a:gd name="connsiteX60" fmla="*/ 386576 w 701431"/>
                <a:gd name="connsiteY60" fmla="*/ 19074 h 239066"/>
                <a:gd name="connsiteX61" fmla="*/ 426760 w 701431"/>
                <a:gd name="connsiteY61" fmla="*/ 189473 h 239066"/>
                <a:gd name="connsiteX62" fmla="*/ 470758 w 701431"/>
                <a:gd name="connsiteY62" fmla="*/ 19074 h 239066"/>
                <a:gd name="connsiteX63" fmla="*/ 475845 w 701431"/>
                <a:gd name="connsiteY63" fmla="*/ 9156 h 239066"/>
                <a:gd name="connsiteX64" fmla="*/ 485763 w 701431"/>
                <a:gd name="connsiteY64" fmla="*/ 6612 h 239066"/>
                <a:gd name="connsiteX65" fmla="*/ 509416 w 701431"/>
                <a:gd name="connsiteY65" fmla="*/ 6612 h 239066"/>
                <a:gd name="connsiteX66" fmla="*/ 515774 w 701431"/>
                <a:gd name="connsiteY66" fmla="*/ 12971 h 239066"/>
                <a:gd name="connsiteX67" fmla="*/ 515265 w 701431"/>
                <a:gd name="connsiteY67" fmla="*/ 17040 h 239066"/>
                <a:gd name="connsiteX68" fmla="*/ 513485 w 701431"/>
                <a:gd name="connsiteY68" fmla="*/ 23398 h 239066"/>
                <a:gd name="connsiteX69" fmla="*/ 452192 w 701431"/>
                <a:gd name="connsiteY69" fmla="*/ 219992 h 239066"/>
                <a:gd name="connsiteX70" fmla="*/ 446851 w 701431"/>
                <a:gd name="connsiteY70" fmla="*/ 229911 h 239066"/>
                <a:gd name="connsiteX71" fmla="*/ 437187 w 701431"/>
                <a:gd name="connsiteY71" fmla="*/ 232454 h 239066"/>
                <a:gd name="connsiteX72" fmla="*/ 415315 w 701431"/>
                <a:gd name="connsiteY72" fmla="*/ 232454 h 239066"/>
                <a:gd name="connsiteX73" fmla="*/ 405142 w 701431"/>
                <a:gd name="connsiteY73" fmla="*/ 229911 h 239066"/>
                <a:gd name="connsiteX74" fmla="*/ 400310 w 701431"/>
                <a:gd name="connsiteY74" fmla="*/ 219738 h 239066"/>
                <a:gd name="connsiteX75" fmla="*/ 360889 w 701431"/>
                <a:gd name="connsiteY75" fmla="*/ 55697 h 239066"/>
                <a:gd name="connsiteX76" fmla="*/ 321723 w 701431"/>
                <a:gd name="connsiteY76" fmla="*/ 219484 h 239066"/>
                <a:gd name="connsiteX77" fmla="*/ 316891 w 701431"/>
                <a:gd name="connsiteY77" fmla="*/ 229657 h 239066"/>
                <a:gd name="connsiteX78" fmla="*/ 306718 w 701431"/>
                <a:gd name="connsiteY78" fmla="*/ 232200 h 239066"/>
                <a:gd name="connsiteX79" fmla="*/ 284845 w 701431"/>
                <a:gd name="connsiteY79" fmla="*/ 232200 h 239066"/>
                <a:gd name="connsiteX80" fmla="*/ 611655 w 701431"/>
                <a:gd name="connsiteY80" fmla="*/ 239067 h 239066"/>
                <a:gd name="connsiteX81" fmla="*/ 572489 w 701431"/>
                <a:gd name="connsiteY81" fmla="*/ 234489 h 239066"/>
                <a:gd name="connsiteX82" fmla="*/ 543241 w 701431"/>
                <a:gd name="connsiteY82" fmla="*/ 224316 h 239066"/>
                <a:gd name="connsiteX83" fmla="*/ 535357 w 701431"/>
                <a:gd name="connsiteY83" fmla="*/ 217195 h 239066"/>
                <a:gd name="connsiteX84" fmla="*/ 533831 w 701431"/>
                <a:gd name="connsiteY84" fmla="*/ 210074 h 239066"/>
                <a:gd name="connsiteX85" fmla="*/ 533831 w 701431"/>
                <a:gd name="connsiteY85" fmla="*/ 197103 h 239066"/>
                <a:gd name="connsiteX86" fmla="*/ 539680 w 701431"/>
                <a:gd name="connsiteY86" fmla="*/ 189219 h 239066"/>
                <a:gd name="connsiteX87" fmla="*/ 544258 w 701431"/>
                <a:gd name="connsiteY87" fmla="*/ 189982 h 239066"/>
                <a:gd name="connsiteX88" fmla="*/ 550617 w 701431"/>
                <a:gd name="connsiteY88" fmla="*/ 192525 h 239066"/>
                <a:gd name="connsiteX89" fmla="*/ 578592 w 701431"/>
                <a:gd name="connsiteY89" fmla="*/ 201427 h 239066"/>
                <a:gd name="connsiteX90" fmla="*/ 608857 w 701431"/>
                <a:gd name="connsiteY90" fmla="*/ 204478 h 239066"/>
                <a:gd name="connsiteX91" fmla="*/ 645989 w 701431"/>
                <a:gd name="connsiteY91" fmla="*/ 196086 h 239066"/>
                <a:gd name="connsiteX92" fmla="*/ 659214 w 701431"/>
                <a:gd name="connsiteY92" fmla="*/ 171925 h 239066"/>
                <a:gd name="connsiteX93" fmla="*/ 652347 w 701431"/>
                <a:gd name="connsiteY93" fmla="*/ 154122 h 239066"/>
                <a:gd name="connsiteX94" fmla="*/ 626660 w 701431"/>
                <a:gd name="connsiteY94" fmla="*/ 140897 h 239066"/>
                <a:gd name="connsiteX95" fmla="*/ 589783 w 701431"/>
                <a:gd name="connsiteY95" fmla="*/ 129452 h 239066"/>
                <a:gd name="connsiteX96" fmla="*/ 549091 w 701431"/>
                <a:gd name="connsiteY96" fmla="*/ 103511 h 239066"/>
                <a:gd name="connsiteX97" fmla="*/ 536374 w 701431"/>
                <a:gd name="connsiteY97" fmla="*/ 66634 h 239066"/>
                <a:gd name="connsiteX98" fmla="*/ 543241 w 701431"/>
                <a:gd name="connsiteY98" fmla="*/ 38403 h 239066"/>
                <a:gd name="connsiteX99" fmla="*/ 561553 w 701431"/>
                <a:gd name="connsiteY99" fmla="*/ 17549 h 239066"/>
                <a:gd name="connsiteX100" fmla="*/ 588002 w 701431"/>
                <a:gd name="connsiteY100" fmla="*/ 4324 h 239066"/>
                <a:gd name="connsiteX101" fmla="*/ 620048 w 701431"/>
                <a:gd name="connsiteY101" fmla="*/ 0 h 239066"/>
                <a:gd name="connsiteX102" fmla="*/ 637087 w 701431"/>
                <a:gd name="connsiteY102" fmla="*/ 1017 h 239066"/>
                <a:gd name="connsiteX103" fmla="*/ 653619 w 701431"/>
                <a:gd name="connsiteY103" fmla="*/ 3815 h 239066"/>
                <a:gd name="connsiteX104" fmla="*/ 668115 w 701431"/>
                <a:gd name="connsiteY104" fmla="*/ 7884 h 239066"/>
                <a:gd name="connsiteX105" fmla="*/ 678797 w 701431"/>
                <a:gd name="connsiteY105" fmla="*/ 12462 h 239066"/>
                <a:gd name="connsiteX106" fmla="*/ 686427 w 701431"/>
                <a:gd name="connsiteY106" fmla="*/ 18820 h 239066"/>
                <a:gd name="connsiteX107" fmla="*/ 688716 w 701431"/>
                <a:gd name="connsiteY107" fmla="*/ 27213 h 239066"/>
                <a:gd name="connsiteX108" fmla="*/ 688716 w 701431"/>
                <a:gd name="connsiteY108" fmla="*/ 39166 h 239066"/>
                <a:gd name="connsiteX109" fmla="*/ 682866 w 701431"/>
                <a:gd name="connsiteY109" fmla="*/ 47305 h 239066"/>
                <a:gd name="connsiteX110" fmla="*/ 673202 w 701431"/>
                <a:gd name="connsiteY110" fmla="*/ 44253 h 239066"/>
                <a:gd name="connsiteX111" fmla="*/ 624371 w 701431"/>
                <a:gd name="connsiteY111" fmla="*/ 34334 h 239066"/>
                <a:gd name="connsiteX112" fmla="*/ 590546 w 701431"/>
                <a:gd name="connsiteY112" fmla="*/ 41455 h 239066"/>
                <a:gd name="connsiteX113" fmla="*/ 578592 w 701431"/>
                <a:gd name="connsiteY113" fmla="*/ 64090 h 239066"/>
                <a:gd name="connsiteX114" fmla="*/ 586222 w 701431"/>
                <a:gd name="connsiteY114" fmla="*/ 82147 h 239066"/>
                <a:gd name="connsiteX115" fmla="*/ 614198 w 701431"/>
                <a:gd name="connsiteY115" fmla="*/ 96135 h 239066"/>
                <a:gd name="connsiteX116" fmla="*/ 650312 w 701431"/>
                <a:gd name="connsiteY116" fmla="*/ 107580 h 239066"/>
                <a:gd name="connsiteX117" fmla="*/ 689733 w 701431"/>
                <a:gd name="connsiteY117" fmla="*/ 131995 h 239066"/>
                <a:gd name="connsiteX118" fmla="*/ 701432 w 701431"/>
                <a:gd name="connsiteY118" fmla="*/ 167601 h 239066"/>
                <a:gd name="connsiteX119" fmla="*/ 694819 w 701431"/>
                <a:gd name="connsiteY119" fmla="*/ 197103 h 239066"/>
                <a:gd name="connsiteX120" fmla="*/ 676254 w 701431"/>
                <a:gd name="connsiteY120" fmla="*/ 219484 h 239066"/>
                <a:gd name="connsiteX121" fmla="*/ 648023 w 701431"/>
                <a:gd name="connsiteY121" fmla="*/ 233726 h 239066"/>
                <a:gd name="connsiteX122" fmla="*/ 611655 w 701431"/>
                <a:gd name="connsiteY122" fmla="*/ 239067 h 2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701431" h="239066">
                  <a:moveTo>
                    <a:pt x="183878" y="166075"/>
                  </a:moveTo>
                  <a:cubicBezTo>
                    <a:pt x="183878" y="175485"/>
                    <a:pt x="184895" y="183115"/>
                    <a:pt x="186676" y="188710"/>
                  </a:cubicBezTo>
                  <a:cubicBezTo>
                    <a:pt x="188710" y="194305"/>
                    <a:pt x="191253" y="200409"/>
                    <a:pt x="194814" y="207022"/>
                  </a:cubicBezTo>
                  <a:cubicBezTo>
                    <a:pt x="196086" y="209056"/>
                    <a:pt x="196594" y="211091"/>
                    <a:pt x="196594" y="212871"/>
                  </a:cubicBezTo>
                  <a:cubicBezTo>
                    <a:pt x="196594" y="215414"/>
                    <a:pt x="195068" y="217958"/>
                    <a:pt x="191762" y="220501"/>
                  </a:cubicBezTo>
                  <a:lnTo>
                    <a:pt x="175739" y="231183"/>
                  </a:lnTo>
                  <a:cubicBezTo>
                    <a:pt x="173451" y="232709"/>
                    <a:pt x="171162" y="233472"/>
                    <a:pt x="169127" y="233472"/>
                  </a:cubicBezTo>
                  <a:cubicBezTo>
                    <a:pt x="166584" y="233472"/>
                    <a:pt x="164040" y="232200"/>
                    <a:pt x="161497" y="229911"/>
                  </a:cubicBezTo>
                  <a:cubicBezTo>
                    <a:pt x="157937" y="226096"/>
                    <a:pt x="154885" y="222027"/>
                    <a:pt x="152341" y="217958"/>
                  </a:cubicBezTo>
                  <a:cubicBezTo>
                    <a:pt x="149798" y="213634"/>
                    <a:pt x="147255" y="208802"/>
                    <a:pt x="144457" y="202952"/>
                  </a:cubicBezTo>
                  <a:cubicBezTo>
                    <a:pt x="124620" y="226350"/>
                    <a:pt x="99696" y="238049"/>
                    <a:pt x="69685" y="238049"/>
                  </a:cubicBezTo>
                  <a:cubicBezTo>
                    <a:pt x="48322" y="238049"/>
                    <a:pt x="31282" y="231946"/>
                    <a:pt x="18820" y="219738"/>
                  </a:cubicBezTo>
                  <a:cubicBezTo>
                    <a:pt x="6358" y="207530"/>
                    <a:pt x="0" y="191253"/>
                    <a:pt x="0" y="170907"/>
                  </a:cubicBezTo>
                  <a:cubicBezTo>
                    <a:pt x="0" y="149290"/>
                    <a:pt x="7630" y="131741"/>
                    <a:pt x="23144" y="118516"/>
                  </a:cubicBezTo>
                  <a:cubicBezTo>
                    <a:pt x="38658" y="105291"/>
                    <a:pt x="59258" y="98679"/>
                    <a:pt x="85454" y="98679"/>
                  </a:cubicBezTo>
                  <a:cubicBezTo>
                    <a:pt x="94101" y="98679"/>
                    <a:pt x="103002" y="99442"/>
                    <a:pt x="112412" y="100713"/>
                  </a:cubicBezTo>
                  <a:cubicBezTo>
                    <a:pt x="121822" y="101985"/>
                    <a:pt x="131487" y="104019"/>
                    <a:pt x="141660" y="106308"/>
                  </a:cubicBezTo>
                  <a:lnTo>
                    <a:pt x="141660" y="87743"/>
                  </a:lnTo>
                  <a:cubicBezTo>
                    <a:pt x="141660" y="68414"/>
                    <a:pt x="137591" y="54935"/>
                    <a:pt x="129706" y="47050"/>
                  </a:cubicBezTo>
                  <a:cubicBezTo>
                    <a:pt x="121568" y="39166"/>
                    <a:pt x="107834" y="35351"/>
                    <a:pt x="88251" y="35351"/>
                  </a:cubicBezTo>
                  <a:cubicBezTo>
                    <a:pt x="79350" y="35351"/>
                    <a:pt x="70194" y="36369"/>
                    <a:pt x="60784" y="38658"/>
                  </a:cubicBezTo>
                  <a:cubicBezTo>
                    <a:pt x="51374" y="40947"/>
                    <a:pt x="42218" y="43744"/>
                    <a:pt x="33317" y="47305"/>
                  </a:cubicBezTo>
                  <a:cubicBezTo>
                    <a:pt x="29248" y="49085"/>
                    <a:pt x="26196" y="50102"/>
                    <a:pt x="24415" y="50611"/>
                  </a:cubicBezTo>
                  <a:cubicBezTo>
                    <a:pt x="22635" y="51120"/>
                    <a:pt x="21363" y="51374"/>
                    <a:pt x="20346" y="51374"/>
                  </a:cubicBezTo>
                  <a:cubicBezTo>
                    <a:pt x="16786" y="51374"/>
                    <a:pt x="15005" y="48831"/>
                    <a:pt x="15005" y="43490"/>
                  </a:cubicBezTo>
                  <a:lnTo>
                    <a:pt x="15005" y="31028"/>
                  </a:lnTo>
                  <a:cubicBezTo>
                    <a:pt x="15005" y="26959"/>
                    <a:pt x="15514" y="23907"/>
                    <a:pt x="16786" y="22126"/>
                  </a:cubicBezTo>
                  <a:cubicBezTo>
                    <a:pt x="18057" y="20346"/>
                    <a:pt x="20346" y="18566"/>
                    <a:pt x="23907" y="16786"/>
                  </a:cubicBezTo>
                  <a:cubicBezTo>
                    <a:pt x="32808" y="12208"/>
                    <a:pt x="43490" y="8393"/>
                    <a:pt x="55952" y="5341"/>
                  </a:cubicBezTo>
                  <a:cubicBezTo>
                    <a:pt x="68414" y="2035"/>
                    <a:pt x="81639" y="509"/>
                    <a:pt x="95627" y="509"/>
                  </a:cubicBezTo>
                  <a:cubicBezTo>
                    <a:pt x="125892" y="509"/>
                    <a:pt x="148018" y="7375"/>
                    <a:pt x="162260" y="21109"/>
                  </a:cubicBezTo>
                  <a:cubicBezTo>
                    <a:pt x="176248" y="34843"/>
                    <a:pt x="183369" y="55697"/>
                    <a:pt x="183369" y="83673"/>
                  </a:cubicBezTo>
                  <a:lnTo>
                    <a:pt x="183369" y="166075"/>
                  </a:lnTo>
                  <a:close/>
                  <a:moveTo>
                    <a:pt x="80621" y="204733"/>
                  </a:moveTo>
                  <a:cubicBezTo>
                    <a:pt x="89014" y="204733"/>
                    <a:pt x="97661" y="203207"/>
                    <a:pt x="106817" y="200155"/>
                  </a:cubicBezTo>
                  <a:cubicBezTo>
                    <a:pt x="115973" y="197103"/>
                    <a:pt x="124111" y="191508"/>
                    <a:pt x="130978" y="183878"/>
                  </a:cubicBezTo>
                  <a:cubicBezTo>
                    <a:pt x="135047" y="179046"/>
                    <a:pt x="138099" y="173705"/>
                    <a:pt x="139625" y="167601"/>
                  </a:cubicBezTo>
                  <a:cubicBezTo>
                    <a:pt x="141151" y="161497"/>
                    <a:pt x="142168" y="154122"/>
                    <a:pt x="142168" y="145475"/>
                  </a:cubicBezTo>
                  <a:lnTo>
                    <a:pt x="142168" y="134793"/>
                  </a:lnTo>
                  <a:cubicBezTo>
                    <a:pt x="134793" y="133013"/>
                    <a:pt x="126909" y="131487"/>
                    <a:pt x="118770" y="130469"/>
                  </a:cubicBezTo>
                  <a:cubicBezTo>
                    <a:pt x="110632" y="129452"/>
                    <a:pt x="102748" y="128943"/>
                    <a:pt x="94864" y="128943"/>
                  </a:cubicBezTo>
                  <a:cubicBezTo>
                    <a:pt x="77824" y="128943"/>
                    <a:pt x="65362" y="132250"/>
                    <a:pt x="56969" y="139117"/>
                  </a:cubicBezTo>
                  <a:cubicBezTo>
                    <a:pt x="48576" y="145983"/>
                    <a:pt x="44507" y="155648"/>
                    <a:pt x="44507" y="168364"/>
                  </a:cubicBezTo>
                  <a:cubicBezTo>
                    <a:pt x="44507" y="180317"/>
                    <a:pt x="47559" y="189219"/>
                    <a:pt x="53917" y="195323"/>
                  </a:cubicBezTo>
                  <a:cubicBezTo>
                    <a:pt x="60021" y="201681"/>
                    <a:pt x="68922" y="204733"/>
                    <a:pt x="80621" y="204733"/>
                  </a:cubicBezTo>
                  <a:close/>
                  <a:moveTo>
                    <a:pt x="284845" y="232200"/>
                  </a:moveTo>
                  <a:cubicBezTo>
                    <a:pt x="280268" y="232200"/>
                    <a:pt x="277216" y="231437"/>
                    <a:pt x="275181" y="229657"/>
                  </a:cubicBezTo>
                  <a:cubicBezTo>
                    <a:pt x="273146" y="228131"/>
                    <a:pt x="271366" y="224570"/>
                    <a:pt x="269840" y="219738"/>
                  </a:cubicBezTo>
                  <a:lnTo>
                    <a:pt x="210074" y="23144"/>
                  </a:lnTo>
                  <a:cubicBezTo>
                    <a:pt x="208548" y="18057"/>
                    <a:pt x="207785" y="14751"/>
                    <a:pt x="207785" y="12971"/>
                  </a:cubicBezTo>
                  <a:cubicBezTo>
                    <a:pt x="207785" y="8901"/>
                    <a:pt x="209819" y="6612"/>
                    <a:pt x="213888" y="6612"/>
                  </a:cubicBezTo>
                  <a:lnTo>
                    <a:pt x="238812" y="6612"/>
                  </a:lnTo>
                  <a:cubicBezTo>
                    <a:pt x="243645" y="6612"/>
                    <a:pt x="246951" y="7375"/>
                    <a:pt x="248731" y="9156"/>
                  </a:cubicBezTo>
                  <a:cubicBezTo>
                    <a:pt x="250766" y="10682"/>
                    <a:pt x="252292" y="14242"/>
                    <a:pt x="253818" y="19074"/>
                  </a:cubicBezTo>
                  <a:lnTo>
                    <a:pt x="296544" y="187439"/>
                  </a:lnTo>
                  <a:lnTo>
                    <a:pt x="336219" y="19074"/>
                  </a:lnTo>
                  <a:cubicBezTo>
                    <a:pt x="337491" y="13988"/>
                    <a:pt x="339017" y="10682"/>
                    <a:pt x="341052" y="9156"/>
                  </a:cubicBezTo>
                  <a:cubicBezTo>
                    <a:pt x="343086" y="7630"/>
                    <a:pt x="346647" y="6612"/>
                    <a:pt x="351225" y="6612"/>
                  </a:cubicBezTo>
                  <a:lnTo>
                    <a:pt x="371571" y="6612"/>
                  </a:lnTo>
                  <a:cubicBezTo>
                    <a:pt x="376403" y="6612"/>
                    <a:pt x="379709" y="7375"/>
                    <a:pt x="381744" y="9156"/>
                  </a:cubicBezTo>
                  <a:cubicBezTo>
                    <a:pt x="383778" y="10682"/>
                    <a:pt x="385559" y="14242"/>
                    <a:pt x="386576" y="19074"/>
                  </a:cubicBezTo>
                  <a:lnTo>
                    <a:pt x="426760" y="189473"/>
                  </a:lnTo>
                  <a:lnTo>
                    <a:pt x="470758" y="19074"/>
                  </a:lnTo>
                  <a:cubicBezTo>
                    <a:pt x="472284" y="13988"/>
                    <a:pt x="474064" y="10682"/>
                    <a:pt x="475845" y="9156"/>
                  </a:cubicBezTo>
                  <a:cubicBezTo>
                    <a:pt x="477879" y="7630"/>
                    <a:pt x="481185" y="6612"/>
                    <a:pt x="485763" y="6612"/>
                  </a:cubicBezTo>
                  <a:lnTo>
                    <a:pt x="509416" y="6612"/>
                  </a:lnTo>
                  <a:cubicBezTo>
                    <a:pt x="513485" y="6612"/>
                    <a:pt x="515774" y="8647"/>
                    <a:pt x="515774" y="12971"/>
                  </a:cubicBezTo>
                  <a:cubicBezTo>
                    <a:pt x="515774" y="14242"/>
                    <a:pt x="515519" y="15514"/>
                    <a:pt x="515265" y="17040"/>
                  </a:cubicBezTo>
                  <a:cubicBezTo>
                    <a:pt x="515011" y="18566"/>
                    <a:pt x="514502" y="20600"/>
                    <a:pt x="513485" y="23398"/>
                  </a:cubicBezTo>
                  <a:lnTo>
                    <a:pt x="452192" y="219992"/>
                  </a:lnTo>
                  <a:cubicBezTo>
                    <a:pt x="450666" y="225079"/>
                    <a:pt x="448886" y="228385"/>
                    <a:pt x="446851" y="229911"/>
                  </a:cubicBezTo>
                  <a:cubicBezTo>
                    <a:pt x="444817" y="231437"/>
                    <a:pt x="441510" y="232454"/>
                    <a:pt x="437187" y="232454"/>
                  </a:cubicBezTo>
                  <a:lnTo>
                    <a:pt x="415315" y="232454"/>
                  </a:lnTo>
                  <a:cubicBezTo>
                    <a:pt x="410483" y="232454"/>
                    <a:pt x="407176" y="231691"/>
                    <a:pt x="405142" y="229911"/>
                  </a:cubicBezTo>
                  <a:cubicBezTo>
                    <a:pt x="403107" y="228131"/>
                    <a:pt x="401327" y="224825"/>
                    <a:pt x="400310" y="219738"/>
                  </a:cubicBezTo>
                  <a:lnTo>
                    <a:pt x="360889" y="55697"/>
                  </a:lnTo>
                  <a:lnTo>
                    <a:pt x="321723" y="219484"/>
                  </a:lnTo>
                  <a:cubicBezTo>
                    <a:pt x="320451" y="224570"/>
                    <a:pt x="318925" y="227876"/>
                    <a:pt x="316891" y="229657"/>
                  </a:cubicBezTo>
                  <a:cubicBezTo>
                    <a:pt x="314856" y="231437"/>
                    <a:pt x="311295" y="232200"/>
                    <a:pt x="306718" y="232200"/>
                  </a:cubicBezTo>
                  <a:lnTo>
                    <a:pt x="284845" y="232200"/>
                  </a:lnTo>
                  <a:close/>
                  <a:moveTo>
                    <a:pt x="611655" y="239067"/>
                  </a:moveTo>
                  <a:cubicBezTo>
                    <a:pt x="598430" y="239067"/>
                    <a:pt x="585205" y="237541"/>
                    <a:pt x="572489" y="234489"/>
                  </a:cubicBezTo>
                  <a:cubicBezTo>
                    <a:pt x="559772" y="231437"/>
                    <a:pt x="549854" y="228131"/>
                    <a:pt x="543241" y="224316"/>
                  </a:cubicBezTo>
                  <a:cubicBezTo>
                    <a:pt x="539172" y="222027"/>
                    <a:pt x="536374" y="219484"/>
                    <a:pt x="535357" y="217195"/>
                  </a:cubicBezTo>
                  <a:cubicBezTo>
                    <a:pt x="534340" y="214906"/>
                    <a:pt x="533831" y="212363"/>
                    <a:pt x="533831" y="210074"/>
                  </a:cubicBezTo>
                  <a:lnTo>
                    <a:pt x="533831" y="197103"/>
                  </a:lnTo>
                  <a:cubicBezTo>
                    <a:pt x="533831" y="191762"/>
                    <a:pt x="535866" y="189219"/>
                    <a:pt x="539680" y="189219"/>
                  </a:cubicBezTo>
                  <a:cubicBezTo>
                    <a:pt x="541206" y="189219"/>
                    <a:pt x="542732" y="189473"/>
                    <a:pt x="544258" y="189982"/>
                  </a:cubicBezTo>
                  <a:cubicBezTo>
                    <a:pt x="545784" y="190490"/>
                    <a:pt x="548073" y="191508"/>
                    <a:pt x="550617" y="192525"/>
                  </a:cubicBezTo>
                  <a:cubicBezTo>
                    <a:pt x="559264" y="196340"/>
                    <a:pt x="568674" y="199392"/>
                    <a:pt x="578592" y="201427"/>
                  </a:cubicBezTo>
                  <a:cubicBezTo>
                    <a:pt x="588765" y="203461"/>
                    <a:pt x="598684" y="204478"/>
                    <a:pt x="608857" y="204478"/>
                  </a:cubicBezTo>
                  <a:cubicBezTo>
                    <a:pt x="624880" y="204478"/>
                    <a:pt x="637342" y="201681"/>
                    <a:pt x="645989" y="196086"/>
                  </a:cubicBezTo>
                  <a:cubicBezTo>
                    <a:pt x="654636" y="190490"/>
                    <a:pt x="659214" y="182352"/>
                    <a:pt x="659214" y="171925"/>
                  </a:cubicBezTo>
                  <a:cubicBezTo>
                    <a:pt x="659214" y="164804"/>
                    <a:pt x="656925" y="158954"/>
                    <a:pt x="652347" y="154122"/>
                  </a:cubicBezTo>
                  <a:cubicBezTo>
                    <a:pt x="647769" y="149290"/>
                    <a:pt x="639122" y="144966"/>
                    <a:pt x="626660" y="140897"/>
                  </a:cubicBezTo>
                  <a:lnTo>
                    <a:pt x="589783" y="129452"/>
                  </a:lnTo>
                  <a:cubicBezTo>
                    <a:pt x="571217" y="123603"/>
                    <a:pt x="557483" y="114956"/>
                    <a:pt x="549091" y="103511"/>
                  </a:cubicBezTo>
                  <a:cubicBezTo>
                    <a:pt x="540698" y="92320"/>
                    <a:pt x="536374" y="79858"/>
                    <a:pt x="536374" y="66634"/>
                  </a:cubicBezTo>
                  <a:cubicBezTo>
                    <a:pt x="536374" y="55952"/>
                    <a:pt x="538663" y="46542"/>
                    <a:pt x="543241" y="38403"/>
                  </a:cubicBezTo>
                  <a:cubicBezTo>
                    <a:pt x="547819" y="30265"/>
                    <a:pt x="553923" y="23144"/>
                    <a:pt x="561553" y="17549"/>
                  </a:cubicBezTo>
                  <a:cubicBezTo>
                    <a:pt x="569182" y="11699"/>
                    <a:pt x="577829" y="7375"/>
                    <a:pt x="588002" y="4324"/>
                  </a:cubicBezTo>
                  <a:cubicBezTo>
                    <a:pt x="598176" y="1272"/>
                    <a:pt x="608857" y="0"/>
                    <a:pt x="620048" y="0"/>
                  </a:cubicBezTo>
                  <a:cubicBezTo>
                    <a:pt x="625643" y="0"/>
                    <a:pt x="631492" y="254"/>
                    <a:pt x="637087" y="1017"/>
                  </a:cubicBezTo>
                  <a:cubicBezTo>
                    <a:pt x="642937" y="1780"/>
                    <a:pt x="648278" y="2798"/>
                    <a:pt x="653619" y="3815"/>
                  </a:cubicBezTo>
                  <a:cubicBezTo>
                    <a:pt x="658705" y="5087"/>
                    <a:pt x="663537" y="6358"/>
                    <a:pt x="668115" y="7884"/>
                  </a:cubicBezTo>
                  <a:cubicBezTo>
                    <a:pt x="672693" y="9410"/>
                    <a:pt x="676254" y="10936"/>
                    <a:pt x="678797" y="12462"/>
                  </a:cubicBezTo>
                  <a:cubicBezTo>
                    <a:pt x="682358" y="14497"/>
                    <a:pt x="684901" y="16531"/>
                    <a:pt x="686427" y="18820"/>
                  </a:cubicBezTo>
                  <a:cubicBezTo>
                    <a:pt x="687953" y="20855"/>
                    <a:pt x="688716" y="23652"/>
                    <a:pt x="688716" y="27213"/>
                  </a:cubicBezTo>
                  <a:lnTo>
                    <a:pt x="688716" y="39166"/>
                  </a:lnTo>
                  <a:cubicBezTo>
                    <a:pt x="688716" y="44507"/>
                    <a:pt x="686681" y="47305"/>
                    <a:pt x="682866" y="47305"/>
                  </a:cubicBezTo>
                  <a:cubicBezTo>
                    <a:pt x="680832" y="47305"/>
                    <a:pt x="677525" y="46287"/>
                    <a:pt x="673202" y="44253"/>
                  </a:cubicBezTo>
                  <a:cubicBezTo>
                    <a:pt x="658705" y="37640"/>
                    <a:pt x="642428" y="34334"/>
                    <a:pt x="624371" y="34334"/>
                  </a:cubicBezTo>
                  <a:cubicBezTo>
                    <a:pt x="609875" y="34334"/>
                    <a:pt x="598430" y="36623"/>
                    <a:pt x="590546" y="41455"/>
                  </a:cubicBezTo>
                  <a:cubicBezTo>
                    <a:pt x="582662" y="46287"/>
                    <a:pt x="578592" y="53663"/>
                    <a:pt x="578592" y="64090"/>
                  </a:cubicBezTo>
                  <a:cubicBezTo>
                    <a:pt x="578592" y="71211"/>
                    <a:pt x="581136" y="77315"/>
                    <a:pt x="586222" y="82147"/>
                  </a:cubicBezTo>
                  <a:cubicBezTo>
                    <a:pt x="591309" y="86980"/>
                    <a:pt x="600719" y="91812"/>
                    <a:pt x="614198" y="96135"/>
                  </a:cubicBezTo>
                  <a:lnTo>
                    <a:pt x="650312" y="107580"/>
                  </a:lnTo>
                  <a:cubicBezTo>
                    <a:pt x="668624" y="113430"/>
                    <a:pt x="681849" y="121568"/>
                    <a:pt x="689733" y="131995"/>
                  </a:cubicBezTo>
                  <a:cubicBezTo>
                    <a:pt x="697617" y="142423"/>
                    <a:pt x="701432" y="154376"/>
                    <a:pt x="701432" y="167601"/>
                  </a:cubicBezTo>
                  <a:cubicBezTo>
                    <a:pt x="701432" y="178537"/>
                    <a:pt x="699143" y="188456"/>
                    <a:pt x="694819" y="197103"/>
                  </a:cubicBezTo>
                  <a:cubicBezTo>
                    <a:pt x="690242" y="205750"/>
                    <a:pt x="684138" y="213380"/>
                    <a:pt x="676254" y="219484"/>
                  </a:cubicBezTo>
                  <a:cubicBezTo>
                    <a:pt x="668370" y="225842"/>
                    <a:pt x="658960" y="230420"/>
                    <a:pt x="648023" y="233726"/>
                  </a:cubicBezTo>
                  <a:cubicBezTo>
                    <a:pt x="636579" y="237287"/>
                    <a:pt x="624625" y="239067"/>
                    <a:pt x="611655" y="239067"/>
                  </a:cubicBezTo>
                  <a:close/>
                </a:path>
              </a:pathLst>
            </a:custGeom>
            <a:solidFill>
              <a:schemeClr val="tx1"/>
            </a:solidFill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" name="Graphic 21">
              <a:extLst>
                <a:ext uri="{FF2B5EF4-FFF2-40B4-BE49-F238E27FC236}">
                  <a16:creationId xmlns:a16="http://schemas.microsoft.com/office/drawing/2014/main" id="{69A8FB7E-8727-DED6-7C93-DDD370BA19C0}"/>
                </a:ext>
              </a:extLst>
            </p:cNvPr>
            <p:cNvGrpSpPr/>
            <p:nvPr/>
          </p:nvGrpSpPr>
          <p:grpSpPr>
            <a:xfrm>
              <a:off x="5419176" y="1673737"/>
              <a:ext cx="764685" cy="172198"/>
              <a:chOff x="5419176" y="1673737"/>
              <a:chExt cx="764685" cy="172198"/>
            </a:xfrm>
            <a:solidFill>
              <a:srgbClr val="FF9900"/>
            </a:solidFill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B54765C-0A6E-CF9E-6F90-C409063B2C52}"/>
                  </a:ext>
                </a:extLst>
              </p:cNvPr>
              <p:cNvSpPr/>
              <p:nvPr/>
            </p:nvSpPr>
            <p:spPr>
              <a:xfrm>
                <a:off x="5419176" y="1688871"/>
                <a:ext cx="697411" cy="157064"/>
              </a:xfrm>
              <a:custGeom>
                <a:avLst/>
                <a:gdLst>
                  <a:gd name="connsiteX0" fmla="*/ 691340 w 697411"/>
                  <a:gd name="connsiteY0" fmla="*/ 62455 h 157064"/>
                  <a:gd name="connsiteX1" fmla="*/ 381571 w 697411"/>
                  <a:gd name="connsiteY1" fmla="*/ 157064 h 157064"/>
                  <a:gd name="connsiteX2" fmla="*/ 3388 w 697411"/>
                  <a:gd name="connsiteY2" fmla="*/ 12861 h 157064"/>
                  <a:gd name="connsiteX3" fmla="*/ 12035 w 697411"/>
                  <a:gd name="connsiteY3" fmla="*/ 1671 h 157064"/>
                  <a:gd name="connsiteX4" fmla="*/ 390472 w 697411"/>
                  <a:gd name="connsiteY4" fmla="*/ 102130 h 157064"/>
                  <a:gd name="connsiteX5" fmla="*/ 679133 w 697411"/>
                  <a:gd name="connsiteY5" fmla="*/ 43126 h 157064"/>
                  <a:gd name="connsiteX6" fmla="*/ 691340 w 697411"/>
                  <a:gd name="connsiteY6" fmla="*/ 62455 h 157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97411" h="157064">
                    <a:moveTo>
                      <a:pt x="691340" y="62455"/>
                    </a:moveTo>
                    <a:cubicBezTo>
                      <a:pt x="607667" y="124256"/>
                      <a:pt x="486099" y="157064"/>
                      <a:pt x="381571" y="157064"/>
                    </a:cubicBezTo>
                    <a:cubicBezTo>
                      <a:pt x="235079" y="157064"/>
                      <a:pt x="103084" y="102893"/>
                      <a:pt x="3388" y="12861"/>
                    </a:cubicBezTo>
                    <a:cubicBezTo>
                      <a:pt x="-4496" y="5740"/>
                      <a:pt x="2625" y="-3924"/>
                      <a:pt x="12035" y="1671"/>
                    </a:cubicBezTo>
                    <a:cubicBezTo>
                      <a:pt x="119869" y="64235"/>
                      <a:pt x="252882" y="102130"/>
                      <a:pt x="390472" y="102130"/>
                    </a:cubicBezTo>
                    <a:cubicBezTo>
                      <a:pt x="483301" y="102130"/>
                      <a:pt x="585286" y="82801"/>
                      <a:pt x="679133" y="43126"/>
                    </a:cubicBezTo>
                    <a:cubicBezTo>
                      <a:pt x="693121" y="36768"/>
                      <a:pt x="705074" y="52282"/>
                      <a:pt x="691340" y="62455"/>
                    </a:cubicBezTo>
                    <a:close/>
                  </a:path>
                </a:pathLst>
              </a:custGeom>
              <a:solidFill>
                <a:srgbClr val="FF9900"/>
              </a:solidFill>
              <a:ln w="2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CC91F120-45CC-81B8-BA1B-F84A09DF26AD}"/>
                  </a:ext>
                </a:extLst>
              </p:cNvPr>
              <p:cNvSpPr/>
              <p:nvPr/>
            </p:nvSpPr>
            <p:spPr>
              <a:xfrm>
                <a:off x="6040542" y="1673737"/>
                <a:ext cx="143318" cy="141177"/>
              </a:xfrm>
              <a:custGeom>
                <a:avLst/>
                <a:gdLst>
                  <a:gd name="connsiteX0" fmla="*/ 104816 w 143318"/>
                  <a:gd name="connsiteY0" fmla="*/ 37914 h 141177"/>
                  <a:gd name="connsiteX1" fmla="*/ 6901 w 143318"/>
                  <a:gd name="connsiteY1" fmla="*/ 34608 h 141177"/>
                  <a:gd name="connsiteX2" fmla="*/ 4866 w 143318"/>
                  <a:gd name="connsiteY2" fmla="*/ 23163 h 141177"/>
                  <a:gd name="connsiteX3" fmla="*/ 140422 w 143318"/>
                  <a:gd name="connsiteY3" fmla="*/ 10447 h 141177"/>
                  <a:gd name="connsiteX4" fmla="*/ 93117 w 143318"/>
                  <a:gd name="connsiteY4" fmla="*/ 138119 h 141177"/>
                  <a:gd name="connsiteX5" fmla="*/ 82690 w 143318"/>
                  <a:gd name="connsiteY5" fmla="*/ 133287 h 141177"/>
                  <a:gd name="connsiteX6" fmla="*/ 104816 w 143318"/>
                  <a:gd name="connsiteY6" fmla="*/ 37914 h 141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3318" h="141177">
                    <a:moveTo>
                      <a:pt x="104816" y="37914"/>
                    </a:moveTo>
                    <a:cubicBezTo>
                      <a:pt x="94135" y="24181"/>
                      <a:pt x="34114" y="31302"/>
                      <a:pt x="6901" y="34608"/>
                    </a:cubicBezTo>
                    <a:cubicBezTo>
                      <a:pt x="-1238" y="35625"/>
                      <a:pt x="-2509" y="28504"/>
                      <a:pt x="4866" y="23163"/>
                    </a:cubicBezTo>
                    <a:cubicBezTo>
                      <a:pt x="52680" y="-10408"/>
                      <a:pt x="131266" y="-743"/>
                      <a:pt x="140422" y="10447"/>
                    </a:cubicBezTo>
                    <a:cubicBezTo>
                      <a:pt x="149578" y="21892"/>
                      <a:pt x="137879" y="100479"/>
                      <a:pt x="93117" y="138119"/>
                    </a:cubicBezTo>
                    <a:cubicBezTo>
                      <a:pt x="86251" y="143968"/>
                      <a:pt x="79638" y="140917"/>
                      <a:pt x="82690" y="133287"/>
                    </a:cubicBezTo>
                    <a:cubicBezTo>
                      <a:pt x="92863" y="108108"/>
                      <a:pt x="115498" y="51394"/>
                      <a:pt x="104816" y="37914"/>
                    </a:cubicBezTo>
                    <a:close/>
                  </a:path>
                </a:pathLst>
              </a:custGeom>
              <a:solidFill>
                <a:srgbClr val="FF9900"/>
              </a:solidFill>
              <a:ln w="2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68" name="Picture 67" descr="Circle&#10;&#10;Description automatically generated with low confidence">
            <a:extLst>
              <a:ext uri="{FF2B5EF4-FFF2-40B4-BE49-F238E27FC236}">
                <a16:creationId xmlns:a16="http://schemas.microsoft.com/office/drawing/2014/main" id="{8B90DE9B-4EBD-EA92-4B8A-CECBF28DD2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637" y="4958025"/>
            <a:ext cx="437299" cy="30611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5E58B585-D3A7-1631-4B9A-9A6EA61D359F}"/>
              </a:ext>
            </a:extLst>
          </p:cNvPr>
          <p:cNvGrpSpPr/>
          <p:nvPr/>
        </p:nvGrpSpPr>
        <p:grpSpPr>
          <a:xfrm>
            <a:off x="8159615" y="4464950"/>
            <a:ext cx="1043561" cy="370563"/>
            <a:chOff x="8537361" y="4498923"/>
            <a:chExt cx="925019" cy="282942"/>
          </a:xfrm>
          <a:noFill/>
        </p:grpSpPr>
        <p:sp>
          <p:nvSpPr>
            <p:cNvPr id="70" name="Rounded Rectangle 9">
              <a:extLst>
                <a:ext uri="{FF2B5EF4-FFF2-40B4-BE49-F238E27FC236}">
                  <a16:creationId xmlns:a16="http://schemas.microsoft.com/office/drawing/2014/main" id="{8BE35A1E-D2BA-8A64-134D-0C9133F3BC82}"/>
                </a:ext>
              </a:extLst>
            </p:cNvPr>
            <p:cNvSpPr/>
            <p:nvPr/>
          </p:nvSpPr>
          <p:spPr>
            <a:xfrm>
              <a:off x="8537361" y="4498923"/>
              <a:ext cx="925019" cy="2829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1" name="Picture 12">
              <a:extLst>
                <a:ext uri="{FF2B5EF4-FFF2-40B4-BE49-F238E27FC236}">
                  <a16:creationId xmlns:a16="http://schemas.microsoft.com/office/drawing/2014/main" id="{35B0C690-5D8B-1308-4DD8-9DD84861CD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9928" y="4540002"/>
              <a:ext cx="839884" cy="200785"/>
            </a:xfrm>
            <a:prstGeom prst="rect">
              <a:avLst/>
            </a:prstGeom>
            <a:grpFill/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7E94AFC-01F8-3EDF-60D6-2DE94CEA3649}"/>
              </a:ext>
            </a:extLst>
          </p:cNvPr>
          <p:cNvGrpSpPr/>
          <p:nvPr/>
        </p:nvGrpSpPr>
        <p:grpSpPr>
          <a:xfrm>
            <a:off x="9251198" y="4393573"/>
            <a:ext cx="598785" cy="423425"/>
            <a:chOff x="7376710" y="4214354"/>
            <a:chExt cx="635816" cy="535079"/>
          </a:xfrm>
          <a:noFill/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978A7C0-B867-0437-ED3F-961FF4BCEF16}"/>
                </a:ext>
              </a:extLst>
            </p:cNvPr>
            <p:cNvSpPr/>
            <p:nvPr/>
          </p:nvSpPr>
          <p:spPr>
            <a:xfrm>
              <a:off x="7376710" y="4214354"/>
              <a:ext cx="635816" cy="5350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4" name="Picture 26" descr="MuleSoft">
              <a:extLst>
                <a:ext uri="{FF2B5EF4-FFF2-40B4-BE49-F238E27FC236}">
                  <a16:creationId xmlns:a16="http://schemas.microsoft.com/office/drawing/2014/main" id="{E4BC6978-A637-8009-0976-2015646F0D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7777" y="4282202"/>
              <a:ext cx="553682" cy="399383"/>
            </a:xfrm>
            <a:prstGeom prst="rect">
              <a:avLst/>
            </a:prstGeom>
            <a:grpFill/>
          </p:spPr>
        </p:pic>
      </p:grpSp>
      <p:pic>
        <p:nvPicPr>
          <p:cNvPr id="75" name="Picture 74" descr="Logo&#10;&#10;Description automatically generated">
            <a:extLst>
              <a:ext uri="{FF2B5EF4-FFF2-40B4-BE49-F238E27FC236}">
                <a16:creationId xmlns:a16="http://schemas.microsoft.com/office/drawing/2014/main" id="{61786114-D72E-D1D9-B0B1-1BB7265E07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385" y="4490622"/>
            <a:ext cx="319218" cy="319218"/>
          </a:xfrm>
          <a:prstGeom prst="rect">
            <a:avLst/>
          </a:prstGeom>
        </p:spPr>
      </p:pic>
      <p:pic>
        <p:nvPicPr>
          <p:cNvPr id="76" name="Picture 22" descr="Control-M - Apps on Google Play">
            <a:extLst>
              <a:ext uri="{FF2B5EF4-FFF2-40B4-BE49-F238E27FC236}">
                <a16:creationId xmlns:a16="http://schemas.microsoft.com/office/drawing/2014/main" id="{ACEFD482-6F73-4AD7-6348-54703E34A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950" y="4938353"/>
            <a:ext cx="302024" cy="30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4" descr="Python icon - Free download on Iconfinder">
            <a:extLst>
              <a:ext uri="{FF2B5EF4-FFF2-40B4-BE49-F238E27FC236}">
                <a16:creationId xmlns:a16="http://schemas.microsoft.com/office/drawing/2014/main" id="{C7F846FF-7ED2-DF03-A1F7-144946BEA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803" y="5844847"/>
            <a:ext cx="433220" cy="43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6" descr="Scala - Free logo icons">
            <a:extLst>
              <a:ext uri="{FF2B5EF4-FFF2-40B4-BE49-F238E27FC236}">
                <a16:creationId xmlns:a16="http://schemas.microsoft.com/office/drawing/2014/main" id="{D744EB9C-A0CD-3DF6-906F-64AADFE57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3415" y="4923977"/>
            <a:ext cx="355698" cy="35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8">
            <a:extLst>
              <a:ext uri="{FF2B5EF4-FFF2-40B4-BE49-F238E27FC236}">
                <a16:creationId xmlns:a16="http://schemas.microsoft.com/office/drawing/2014/main" id="{2DE3CC16-FA14-F7B0-84CA-A2E877AEF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805" y="4948485"/>
            <a:ext cx="509218" cy="34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30">
            <a:extLst>
              <a:ext uri="{FF2B5EF4-FFF2-40B4-BE49-F238E27FC236}">
                <a16:creationId xmlns:a16="http://schemas.microsoft.com/office/drawing/2014/main" id="{8471C5F8-97F4-86CE-43E2-A56A049B6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315" y="4414797"/>
            <a:ext cx="702120" cy="36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32" descr="Heroku Logo PNG Transparent &amp; SVG Vector - Freebie Supply">
            <a:extLst>
              <a:ext uri="{FF2B5EF4-FFF2-40B4-BE49-F238E27FC236}">
                <a16:creationId xmlns:a16="http://schemas.microsoft.com/office/drawing/2014/main" id="{530BE30D-6C02-C392-71AB-5CBB662E5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973" y="5971307"/>
            <a:ext cx="644950" cy="18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34" descr="Angular - PRESS KIT">
            <a:extLst>
              <a:ext uri="{FF2B5EF4-FFF2-40B4-BE49-F238E27FC236}">
                <a16:creationId xmlns:a16="http://schemas.microsoft.com/office/drawing/2014/main" id="{147ACE3F-4268-553C-E09F-23EDB648A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6811" y="5348072"/>
            <a:ext cx="322004" cy="32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7CA10C55-345B-0F23-51AA-9C27EFEFD69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34488" y="1604483"/>
            <a:ext cx="243498" cy="310849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1A62B22C-940B-D2BD-AE3D-7A04E75FC5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34487" y="1990261"/>
            <a:ext cx="256815" cy="310849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94AF71B8-6B86-5798-AE1B-5A585D4FEBE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207333" y="2435781"/>
            <a:ext cx="326216" cy="328201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58D98640-63F9-8508-E1E6-7D1DBEBA34A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238398" y="2871678"/>
            <a:ext cx="330222" cy="34998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3EFE5FD1-2E88-4050-4FC4-D70664EFBF4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29142" y="3339318"/>
            <a:ext cx="282597" cy="30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