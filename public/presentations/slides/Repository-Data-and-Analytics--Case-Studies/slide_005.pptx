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004E6B5-E6D6-0095-09F4-34EC3989C7B3}"/>
              </a:ext>
            </a:extLst>
          </p:cNvPr>
          <p:cNvSpPr/>
          <p:nvPr/>
        </p:nvSpPr>
        <p:spPr>
          <a:xfrm>
            <a:off x="464893" y="960746"/>
            <a:ext cx="5999408" cy="939547"/>
          </a:xfrm>
          <a:prstGeom prst="roundRect">
            <a:avLst>
              <a:gd name="adj" fmla="val 9368"/>
            </a:avLst>
          </a:prstGeom>
          <a:solidFill>
            <a:srgbClr val="002E8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A leading SaaS company with a global user base of millions faced significant challenges in monitoring application performance, tracking user interactions, and rapidly diagnosing issues. Ensuring a seamless user experience was critical, but the lack of real-time visibility into system health and user behavior made it difficult to proactively address performance bottlenecks and operational inefficiencies. </a:t>
            </a:r>
            <a:endParaRPr kumimoji="0" lang="en-US" sz="105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/>
              <a:ea typeface="+mn-ea"/>
              <a:cs typeface="Poppins Medium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F3DA1F-EE84-B7A0-71E7-31DD2B5721EE}"/>
              </a:ext>
            </a:extLst>
          </p:cNvPr>
          <p:cNvSpPr/>
          <p:nvPr/>
        </p:nvSpPr>
        <p:spPr>
          <a:xfrm>
            <a:off x="467274" y="2570257"/>
            <a:ext cx="2728620" cy="3891503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4572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Limited Observability: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The existing monitoring framework lacked end-to-end visibility into application performance and user interactions, hindering proactive anomaly detection and incident response. </a:t>
            </a:r>
            <a:b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</a:b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Fragmented Data Sources: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Metrics, logs, and traces were scattered across multiple tools, complicating data correlation and prolonging the troubleshooting process. </a:t>
            </a:r>
            <a:b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</a:b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lt"/>
              <a:cs typeface="Poppi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Scalability Concerns: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As the platform scaled, the observability stack struggled to keep pace, leading to potential blind spots in performance monitoring and system reliability.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Poppins" panose="00000500000000000000" pitchFamily="2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D76F36-A6E4-BAFA-5260-980633B41A3A}"/>
              </a:ext>
            </a:extLst>
          </p:cNvPr>
          <p:cNvSpPr/>
          <p:nvPr/>
        </p:nvSpPr>
        <p:spPr>
          <a:xfrm>
            <a:off x="3357009" y="2570257"/>
            <a:ext cx="3107292" cy="3891503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4572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Datadog for Unified Monitoring: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Implemented Datadog to leverage real-time monitoring, APM, and distributed tracing, enabling deep visibility into application performance. Its extensive integrations ensured seamless telemetry ingestion across the technology stack.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SignalFx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 for Advanced Visualization and Alerting: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 </a:t>
            </a: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Deployed </a:t>
            </a:r>
            <a:r>
              <a:rPr kumimoji="0" lang="en-IN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SignalFx</a:t>
            </a: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 to build dynamic dashboards and establish real-time, anomaly-driven alerting. Its ability to process high-resolution metrics at scale enhanced performance monitoring and expedited issue detection.</a:t>
            </a:r>
            <a:b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</a:b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Splunk for Centralized Logging: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Integrated Splunk for log aggregation and advanced indexing, streamlining log correlation and root cause analysis. This ensured robust compliance with data retention policies while enhancing investigative efficiency.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  <a:p>
            <a:pPr marL="285750" marR="0" lvl="0" indent="-143510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D195D33-84F8-CBFA-E23F-878FE77C1DEA}"/>
              </a:ext>
            </a:extLst>
          </p:cNvPr>
          <p:cNvGrpSpPr/>
          <p:nvPr/>
        </p:nvGrpSpPr>
        <p:grpSpPr>
          <a:xfrm>
            <a:off x="467274" y="2026411"/>
            <a:ext cx="2728620" cy="506676"/>
            <a:chOff x="377675" y="2790487"/>
            <a:chExt cx="3075565" cy="506676"/>
          </a:xfrm>
        </p:grpSpPr>
        <p:sp>
          <p:nvSpPr>
            <p:cNvPr id="17" name="Pentagon 43">
              <a:extLst>
                <a:ext uri="{FF2B5EF4-FFF2-40B4-BE49-F238E27FC236}">
                  <a16:creationId xmlns:a16="http://schemas.microsoft.com/office/drawing/2014/main" id="{EE0F56D2-8C06-5E58-7CE4-B0FDE6974B6A}"/>
                </a:ext>
              </a:extLst>
            </p:cNvPr>
            <p:cNvSpPr/>
            <p:nvPr/>
          </p:nvSpPr>
          <p:spPr>
            <a:xfrm>
              <a:off x="559489" y="2790487"/>
              <a:ext cx="2893751" cy="506101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/>
                <a:ea typeface="+mn-ea"/>
                <a:cs typeface="+mn-cs"/>
              </a:endParaRPr>
            </a:p>
          </p:txBody>
        </p:sp>
        <p:sp>
          <p:nvSpPr>
            <p:cNvPr id="18" name="Pentagon 42">
              <a:extLst>
                <a:ext uri="{FF2B5EF4-FFF2-40B4-BE49-F238E27FC236}">
                  <a16:creationId xmlns:a16="http://schemas.microsoft.com/office/drawing/2014/main" id="{932893C0-6D91-8A5B-C17C-BC7636896C65}"/>
                </a:ext>
              </a:extLst>
            </p:cNvPr>
            <p:cNvSpPr/>
            <p:nvPr/>
          </p:nvSpPr>
          <p:spPr>
            <a:xfrm>
              <a:off x="468582" y="2790775"/>
              <a:ext cx="2893751" cy="506101"/>
            </a:xfrm>
            <a:prstGeom prst="roundRect">
              <a:avLst/>
            </a:prstGeom>
            <a:solidFill>
              <a:srgbClr val="002E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/>
                <a:ea typeface="+mn-ea"/>
                <a:cs typeface="+mn-cs"/>
              </a:endParaRPr>
            </a:p>
          </p:txBody>
        </p:sp>
        <p:sp>
          <p:nvSpPr>
            <p:cNvPr id="19" name="Pentagon 40">
              <a:extLst>
                <a:ext uri="{FF2B5EF4-FFF2-40B4-BE49-F238E27FC236}">
                  <a16:creationId xmlns:a16="http://schemas.microsoft.com/office/drawing/2014/main" id="{5D136DCA-F1CA-96B5-DF62-5FCB6F306860}"/>
                </a:ext>
              </a:extLst>
            </p:cNvPr>
            <p:cNvSpPr/>
            <p:nvPr/>
          </p:nvSpPr>
          <p:spPr>
            <a:xfrm>
              <a:off x="377675" y="2791062"/>
              <a:ext cx="2893751" cy="506101"/>
            </a:xfrm>
            <a:prstGeom prst="roundRect">
              <a:avLst/>
            </a:prstGeom>
            <a:solidFill>
              <a:srgbClr val="9DC3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2E87"/>
                  </a:solidFill>
                  <a:effectLst/>
                  <a:uLnTx/>
                  <a:uFillTx/>
                  <a:latin typeface="Poppins SemiBold"/>
                  <a:ea typeface="+mn-ea"/>
                  <a:cs typeface="+mn-cs"/>
                </a:rPr>
                <a:t>Challenges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34F9814-842D-3581-F9A9-04A50C765D42}"/>
              </a:ext>
            </a:extLst>
          </p:cNvPr>
          <p:cNvGrpSpPr/>
          <p:nvPr/>
        </p:nvGrpSpPr>
        <p:grpSpPr>
          <a:xfrm>
            <a:off x="3357009" y="2026411"/>
            <a:ext cx="3107292" cy="506676"/>
            <a:chOff x="4293689" y="2803376"/>
            <a:chExt cx="3384582" cy="506676"/>
          </a:xfrm>
        </p:grpSpPr>
        <p:sp>
          <p:nvSpPr>
            <p:cNvPr id="38" name="Pentagon 43">
              <a:extLst>
                <a:ext uri="{FF2B5EF4-FFF2-40B4-BE49-F238E27FC236}">
                  <a16:creationId xmlns:a16="http://schemas.microsoft.com/office/drawing/2014/main" id="{81BB0A34-58C0-0794-8B2F-974D335C9954}"/>
                </a:ext>
              </a:extLst>
            </p:cNvPr>
            <p:cNvSpPr/>
            <p:nvPr/>
          </p:nvSpPr>
          <p:spPr>
            <a:xfrm>
              <a:off x="4784520" y="2803376"/>
              <a:ext cx="2893751" cy="506101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/>
                <a:ea typeface="+mn-ea"/>
                <a:cs typeface="+mn-cs"/>
              </a:endParaRPr>
            </a:p>
          </p:txBody>
        </p:sp>
        <p:sp>
          <p:nvSpPr>
            <p:cNvPr id="46" name="Pentagon 42">
              <a:extLst>
                <a:ext uri="{FF2B5EF4-FFF2-40B4-BE49-F238E27FC236}">
                  <a16:creationId xmlns:a16="http://schemas.microsoft.com/office/drawing/2014/main" id="{6612A408-5A13-5BE7-CED5-14BDB23E7863}"/>
                </a:ext>
              </a:extLst>
            </p:cNvPr>
            <p:cNvSpPr/>
            <p:nvPr/>
          </p:nvSpPr>
          <p:spPr>
            <a:xfrm>
              <a:off x="4693613" y="2803664"/>
              <a:ext cx="2893751" cy="506101"/>
            </a:xfrm>
            <a:prstGeom prst="roundRect">
              <a:avLst/>
            </a:prstGeom>
            <a:solidFill>
              <a:srgbClr val="002E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/>
                <a:ea typeface="+mn-ea"/>
                <a:cs typeface="+mn-cs"/>
              </a:endParaRPr>
            </a:p>
          </p:txBody>
        </p:sp>
        <p:sp>
          <p:nvSpPr>
            <p:cNvPr id="50" name="Pentagon 40">
              <a:extLst>
                <a:ext uri="{FF2B5EF4-FFF2-40B4-BE49-F238E27FC236}">
                  <a16:creationId xmlns:a16="http://schemas.microsoft.com/office/drawing/2014/main" id="{A68FB91A-37FD-F9B2-BD77-631EA6117A11}"/>
                </a:ext>
              </a:extLst>
            </p:cNvPr>
            <p:cNvSpPr/>
            <p:nvPr/>
          </p:nvSpPr>
          <p:spPr>
            <a:xfrm>
              <a:off x="4293689" y="2803951"/>
              <a:ext cx="3202768" cy="506101"/>
            </a:xfrm>
            <a:prstGeom prst="roundRect">
              <a:avLst/>
            </a:prstGeom>
            <a:solidFill>
              <a:srgbClr val="9DC3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2E87"/>
                  </a:solidFill>
                  <a:effectLst/>
                  <a:uLnTx/>
                  <a:uFillTx/>
                  <a:latin typeface="Poppins SemiBold"/>
                  <a:ea typeface="+mn-ea"/>
                  <a:cs typeface="+mn-cs"/>
                </a:rPr>
                <a:t>Solutions</a:t>
              </a:r>
            </a:p>
          </p:txBody>
        </p: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6C1FA0D3-4179-8930-3A69-30C36541C54C}"/>
              </a:ext>
            </a:extLst>
          </p:cNvPr>
          <p:cNvSpPr/>
          <p:nvPr/>
        </p:nvSpPr>
        <p:spPr bwMode="auto">
          <a:xfrm>
            <a:off x="6854970" y="1309365"/>
            <a:ext cx="4869756" cy="321303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vert="horz" wrap="square" lIns="822960" tIns="2743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>
                <a:srgbClr val="70AD47">
                  <a:lumMod val="50000"/>
                </a:srgbClr>
              </a:buClr>
              <a:buSzTx/>
              <a:buFontTx/>
              <a:buNone/>
              <a:tabLst/>
              <a:defRPr/>
            </a:pP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</a:b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>
                <a:srgbClr val="70AD47">
                  <a:lumMod val="50000"/>
                </a:srgbClr>
              </a:buClr>
              <a:buSzTx/>
              <a:buFontTx/>
              <a:buNone/>
              <a:tabLst/>
              <a:defRPr/>
            </a:pP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</a:b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</a:b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</a:b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</a:b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</a:b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</a:b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</a:b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FFD700A3-EB78-F373-E0B5-A8CC6C832B38}"/>
              </a:ext>
            </a:extLst>
          </p:cNvPr>
          <p:cNvGrpSpPr/>
          <p:nvPr/>
        </p:nvGrpSpPr>
        <p:grpSpPr>
          <a:xfrm>
            <a:off x="6607156" y="960746"/>
            <a:ext cx="2979921" cy="658812"/>
            <a:chOff x="7555266" y="1214168"/>
            <a:chExt cx="2979921" cy="658812"/>
          </a:xfrm>
        </p:grpSpPr>
        <p:sp>
          <p:nvSpPr>
            <p:cNvPr id="56" name="Right Triangle 55">
              <a:extLst>
                <a:ext uri="{FF2B5EF4-FFF2-40B4-BE49-F238E27FC236}">
                  <a16:creationId xmlns:a16="http://schemas.microsoft.com/office/drawing/2014/main" id="{F383E40B-2F32-2821-FED1-0FB5DBCC50B9}"/>
                </a:ext>
              </a:extLst>
            </p:cNvPr>
            <p:cNvSpPr/>
            <p:nvPr/>
          </p:nvSpPr>
          <p:spPr bwMode="auto">
            <a:xfrm>
              <a:off x="10287623" y="1224031"/>
              <a:ext cx="247564" cy="350848"/>
            </a:xfrm>
            <a:prstGeom prst="rtTriangle">
              <a:avLst/>
            </a:prstGeom>
            <a:solidFill>
              <a:srgbClr val="28888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Right Triangle 56">
              <a:extLst>
                <a:ext uri="{FF2B5EF4-FFF2-40B4-BE49-F238E27FC236}">
                  <a16:creationId xmlns:a16="http://schemas.microsoft.com/office/drawing/2014/main" id="{4AA43C4E-860F-4390-915A-10354367A58E}"/>
                </a:ext>
              </a:extLst>
            </p:cNvPr>
            <p:cNvSpPr/>
            <p:nvPr/>
          </p:nvSpPr>
          <p:spPr bwMode="auto">
            <a:xfrm rot="10800000">
              <a:off x="7555266" y="1683704"/>
              <a:ext cx="247564" cy="189276"/>
            </a:xfrm>
            <a:prstGeom prst="rtTriangle">
              <a:avLst/>
            </a:prstGeom>
            <a:solidFill>
              <a:srgbClr val="28888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CAB7BE0A-C6DF-BC2C-6A82-E65942CF4916}"/>
                </a:ext>
              </a:extLst>
            </p:cNvPr>
            <p:cNvSpPr/>
            <p:nvPr/>
          </p:nvSpPr>
          <p:spPr bwMode="auto">
            <a:xfrm>
              <a:off x="7555266" y="1214168"/>
              <a:ext cx="2732357" cy="469537"/>
            </a:xfrm>
            <a:prstGeom prst="rect">
              <a:avLst/>
            </a:prstGeom>
            <a:solidFill>
              <a:srgbClr val="39C1BF"/>
            </a:solidFill>
            <a:ln w="9525">
              <a:noFill/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"/>
                  <a:ea typeface="+mn-ea"/>
                  <a:cs typeface="+mn-cs"/>
                </a:rPr>
                <a:t>Benefits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</p:grpSp>
      <p:sp>
        <p:nvSpPr>
          <p:cNvPr id="60" name="Rectangle 59">
            <a:extLst>
              <a:ext uri="{FF2B5EF4-FFF2-40B4-BE49-F238E27FC236}">
                <a16:creationId xmlns:a16="http://schemas.microsoft.com/office/drawing/2014/main" id="{185A19C1-4307-D177-CFF3-29C293079553}"/>
              </a:ext>
            </a:extLst>
          </p:cNvPr>
          <p:cNvSpPr/>
          <p:nvPr/>
        </p:nvSpPr>
        <p:spPr bwMode="auto">
          <a:xfrm>
            <a:off x="6908865" y="4996189"/>
            <a:ext cx="4861295" cy="146557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vert="horz" wrap="square" lIns="91440" tIns="45720" rIns="91440" bIns="91440" numCol="1" rtlCol="0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8967878-E77B-A9A7-5085-D19FEBB73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Observability: Datadog | </a:t>
            </a:r>
            <a:r>
              <a:rPr lang="en-US" dirty="0" err="1"/>
              <a:t>SignalFx</a:t>
            </a:r>
            <a:r>
              <a:rPr lang="en-US" dirty="0"/>
              <a:t> |Splunk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2EDCA4F-39E4-A849-6522-B26FC056E354}"/>
              </a:ext>
            </a:extLst>
          </p:cNvPr>
          <p:cNvGrpSpPr/>
          <p:nvPr/>
        </p:nvGrpSpPr>
        <p:grpSpPr>
          <a:xfrm>
            <a:off x="6668959" y="4631228"/>
            <a:ext cx="2979921" cy="658812"/>
            <a:chOff x="7555266" y="1214168"/>
            <a:chExt cx="2979921" cy="658812"/>
          </a:xfrm>
        </p:grpSpPr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08E79DC8-CC1F-5FFE-CF52-BC48794F7324}"/>
                </a:ext>
              </a:extLst>
            </p:cNvPr>
            <p:cNvSpPr/>
            <p:nvPr/>
          </p:nvSpPr>
          <p:spPr bwMode="auto">
            <a:xfrm>
              <a:off x="10287623" y="1224031"/>
              <a:ext cx="247564" cy="350848"/>
            </a:xfrm>
            <a:prstGeom prst="rtTriangle">
              <a:avLst/>
            </a:prstGeom>
            <a:solidFill>
              <a:srgbClr val="28888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716C531B-92F4-C71C-27E8-B8229FA102BC}"/>
                </a:ext>
              </a:extLst>
            </p:cNvPr>
            <p:cNvSpPr/>
            <p:nvPr/>
          </p:nvSpPr>
          <p:spPr bwMode="auto">
            <a:xfrm rot="10800000">
              <a:off x="7555266" y="1683704"/>
              <a:ext cx="247564" cy="189276"/>
            </a:xfrm>
            <a:prstGeom prst="rtTriangle">
              <a:avLst/>
            </a:prstGeom>
            <a:solidFill>
              <a:srgbClr val="28888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C56F3DB-5CE3-304D-A68A-84EEB70A2A2F}"/>
                </a:ext>
              </a:extLst>
            </p:cNvPr>
            <p:cNvSpPr/>
            <p:nvPr/>
          </p:nvSpPr>
          <p:spPr bwMode="auto">
            <a:xfrm>
              <a:off x="7555266" y="1214168"/>
              <a:ext cx="2732357" cy="469537"/>
            </a:xfrm>
            <a:prstGeom prst="rect">
              <a:avLst/>
            </a:prstGeom>
            <a:solidFill>
              <a:srgbClr val="39C1BF"/>
            </a:solidFill>
            <a:ln w="9525">
              <a:noFill/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"/>
                  <a:ea typeface="+mn-ea"/>
                  <a:cs typeface="+mn-cs"/>
                </a:rPr>
                <a:t>Technology Stack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</p:grpSp>
      <p:pic>
        <p:nvPicPr>
          <p:cNvPr id="9" name="Picture 8" descr="A blue stopwatch with a black background&#10;&#10;AI-generated content may be incorrect.">
            <a:extLst>
              <a:ext uri="{FF2B5EF4-FFF2-40B4-BE49-F238E27FC236}">
                <a16:creationId xmlns:a16="http://schemas.microsoft.com/office/drawing/2014/main" id="{A625EFDB-6D61-CDC1-1F9B-787D38F47FA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29434" y="1619558"/>
            <a:ext cx="461665" cy="461665"/>
          </a:xfrm>
          <a:prstGeom prst="rect">
            <a:avLst/>
          </a:prstGeom>
        </p:spPr>
      </p:pic>
      <p:pic>
        <p:nvPicPr>
          <p:cNvPr id="11" name="Picture 10" descr="A hand with a warning sign and a hand with a warning sign&#10;&#10;AI-generated content may be incorrect.">
            <a:extLst>
              <a:ext uri="{FF2B5EF4-FFF2-40B4-BE49-F238E27FC236}">
                <a16:creationId xmlns:a16="http://schemas.microsoft.com/office/drawing/2014/main" id="{354B1CCE-01E1-E44E-491B-E7764585B14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85504" y="2200824"/>
            <a:ext cx="468715" cy="468715"/>
          </a:xfrm>
          <a:prstGeom prst="rect">
            <a:avLst/>
          </a:prstGeom>
        </p:spPr>
      </p:pic>
      <p:pic>
        <p:nvPicPr>
          <p:cNvPr id="8" name="Picture 7" descr="A blue line drawing of a paper and a stopwatch&#10;&#10;AI-generated content may be incorrect.">
            <a:extLst>
              <a:ext uri="{FF2B5EF4-FFF2-40B4-BE49-F238E27FC236}">
                <a16:creationId xmlns:a16="http://schemas.microsoft.com/office/drawing/2014/main" id="{5CF510EA-24C1-B286-8B58-AE7D7F88122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36089" y="2795828"/>
            <a:ext cx="468715" cy="468715"/>
          </a:xfrm>
          <a:prstGeom prst="rect">
            <a:avLst/>
          </a:prstGeom>
        </p:spPr>
      </p:pic>
      <p:pic>
        <p:nvPicPr>
          <p:cNvPr id="13" name="Picture 12" descr="A blue and white logo&#10;&#10;AI-generated content may be incorrect.">
            <a:extLst>
              <a:ext uri="{FF2B5EF4-FFF2-40B4-BE49-F238E27FC236}">
                <a16:creationId xmlns:a16="http://schemas.microsoft.com/office/drawing/2014/main" id="{EBE41BB5-9FD8-F828-3188-F1E3B42AB3D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65603" y="3406605"/>
            <a:ext cx="445798" cy="445798"/>
          </a:xfrm>
          <a:prstGeom prst="rect">
            <a:avLst/>
          </a:prstGeom>
        </p:spPr>
      </p:pic>
      <p:pic>
        <p:nvPicPr>
          <p:cNvPr id="21" name="Picture 20" descr="A blue line drawing of a device&#10;&#10;AI-generated content may be incorrect.">
            <a:extLst>
              <a:ext uri="{FF2B5EF4-FFF2-40B4-BE49-F238E27FC236}">
                <a16:creationId xmlns:a16="http://schemas.microsoft.com/office/drawing/2014/main" id="{1F086878-DE51-DEC7-87C3-EF17D43FA8B2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15018" y="3828616"/>
            <a:ext cx="609685" cy="60968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E44079A-DF09-76BC-FDF5-F50723F79889}"/>
              </a:ext>
            </a:extLst>
          </p:cNvPr>
          <p:cNvSpPr txBox="1"/>
          <p:nvPr/>
        </p:nvSpPr>
        <p:spPr>
          <a:xfrm>
            <a:off x="7849554" y="2185594"/>
            <a:ext cx="28791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45% decrease in critical incidents through proactive alerting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157B6D7-E6EA-FF26-41DC-8328F4279A84}"/>
              </a:ext>
            </a:extLst>
          </p:cNvPr>
          <p:cNvSpPr txBox="1"/>
          <p:nvPr/>
        </p:nvSpPr>
        <p:spPr>
          <a:xfrm>
            <a:off x="7849553" y="1610579"/>
            <a:ext cx="33136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70% reduction in Mean Time To Resolution (MTTR)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2300458-A146-82BB-226C-50B499C9C916}"/>
              </a:ext>
            </a:extLst>
          </p:cNvPr>
          <p:cNvSpPr txBox="1"/>
          <p:nvPr/>
        </p:nvSpPr>
        <p:spPr>
          <a:xfrm>
            <a:off x="7849554" y="2760609"/>
            <a:ext cx="35106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99.95% uptime achieved (exceeding initial SLAs)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FE5F028-F188-6345-9811-8F0C81EE3E32}"/>
              </a:ext>
            </a:extLst>
          </p:cNvPr>
          <p:cNvSpPr txBox="1"/>
          <p:nvPr/>
        </p:nvSpPr>
        <p:spPr>
          <a:xfrm>
            <a:off x="7849553" y="3335624"/>
            <a:ext cx="36320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Enabled data-driven capacity planning and optimization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D6C4F1B-4FAB-F5A0-AB90-F6AEA6BBDE68}"/>
              </a:ext>
            </a:extLst>
          </p:cNvPr>
          <p:cNvSpPr txBox="1"/>
          <p:nvPr/>
        </p:nvSpPr>
        <p:spPr>
          <a:xfrm>
            <a:off x="7849553" y="3910640"/>
            <a:ext cx="36833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Consolidated view for both technical and business stakeholders</a:t>
            </a:r>
          </a:p>
        </p:txBody>
      </p:sp>
      <p:pic>
        <p:nvPicPr>
          <p:cNvPr id="1026" name="Picture 2" descr="Flask&quot; Icon - Download for free – Iconduck">
            <a:extLst>
              <a:ext uri="{FF2B5EF4-FFF2-40B4-BE49-F238E27FC236}">
                <a16:creationId xmlns:a16="http://schemas.microsoft.com/office/drawing/2014/main" id="{344B92F4-1C76-6193-646C-EACDEE1422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03509" y="5383188"/>
            <a:ext cx="632951" cy="813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A8F231DF-4D0E-EEAE-54D4-F86EDF65E6A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79597" y="5365042"/>
            <a:ext cx="883698" cy="883698"/>
          </a:xfrm>
          <a:prstGeom prst="rect">
            <a:avLst/>
          </a:prstGeom>
        </p:spPr>
      </p:pic>
      <p:pic>
        <p:nvPicPr>
          <p:cNvPr id="1028" name="Picture 4" descr="SignalFX SSO">
            <a:extLst>
              <a:ext uri="{FF2B5EF4-FFF2-40B4-BE49-F238E27FC236}">
                <a16:creationId xmlns:a16="http://schemas.microsoft.com/office/drawing/2014/main" id="{C20F4191-415B-6C27-78FD-5C67E4D02C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49669" y="5920377"/>
            <a:ext cx="1390448" cy="38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71EA6A97-D7FD-452C-D390-7B2B2CA7F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29612" y="5339413"/>
            <a:ext cx="1630562" cy="493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