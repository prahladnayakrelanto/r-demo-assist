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Box 6">
            <a:extLst>
              <a:ext uri="{FF2B5EF4-FFF2-40B4-BE49-F238E27FC236}">
                <a16:creationId xmlns:a16="http://schemas.microsoft.com/office/drawing/2014/main" id="{83BC5016-DB3B-1F55-A85A-49A3350E1040}"/>
              </a:ext>
            </a:extLst>
          </p:cNvPr>
          <p:cNvSpPr txBox="1"/>
          <p:nvPr/>
        </p:nvSpPr>
        <p:spPr>
          <a:xfrm>
            <a:off x="577031" y="297163"/>
            <a:ext cx="9464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Case Study: B2B Sales Agency – Data-Driven Incentives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Poppins SemiBold" panose="00000700000000000000" pitchFamily="2" charset="0"/>
              <a:ea typeface="+mn-ea"/>
              <a:cs typeface="Poppins SemiBold" panose="00000700000000000000" pitchFamily="2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D80EA35-7973-886C-E2FF-DEF7487FF1D7}"/>
              </a:ext>
            </a:extLst>
          </p:cNvPr>
          <p:cNvCxnSpPr/>
          <p:nvPr/>
        </p:nvCxnSpPr>
        <p:spPr>
          <a:xfrm>
            <a:off x="492475" y="243840"/>
            <a:ext cx="0" cy="559260"/>
          </a:xfrm>
          <a:prstGeom prst="line">
            <a:avLst/>
          </a:prstGeom>
          <a:ln w="57150">
            <a:solidFill>
              <a:srgbClr val="DB5D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07B643F-0D6A-827B-81AC-40835D876585}"/>
              </a:ext>
            </a:extLst>
          </p:cNvPr>
          <p:cNvSpPr/>
          <p:nvPr/>
        </p:nvSpPr>
        <p:spPr>
          <a:xfrm>
            <a:off x="307650" y="1023253"/>
            <a:ext cx="7006111" cy="828761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C0323C-50F7-8BB1-8306-258C18B93ACD}"/>
              </a:ext>
            </a:extLst>
          </p:cNvPr>
          <p:cNvSpPr/>
          <p:nvPr/>
        </p:nvSpPr>
        <p:spPr>
          <a:xfrm>
            <a:off x="300038" y="2439348"/>
            <a:ext cx="3013250" cy="3984601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95EC10-3FA5-3481-D5A3-30282C6D1DAA}"/>
              </a:ext>
            </a:extLst>
          </p:cNvPr>
          <p:cNvSpPr/>
          <p:nvPr/>
        </p:nvSpPr>
        <p:spPr>
          <a:xfrm>
            <a:off x="3440256" y="2507732"/>
            <a:ext cx="3930061" cy="3916217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DF75BE-686C-9D4B-0A2C-4EED366C4BAF}"/>
              </a:ext>
            </a:extLst>
          </p:cNvPr>
          <p:cNvSpPr/>
          <p:nvPr/>
        </p:nvSpPr>
        <p:spPr>
          <a:xfrm>
            <a:off x="3429347" y="2592850"/>
            <a:ext cx="3930060" cy="184665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marR="0" lvl="3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2420938" algn="l"/>
              </a:tabLst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Redevelop their entire data pipeline from scratch. </a:t>
            </a:r>
          </a:p>
          <a:p>
            <a:pPr marL="285750" marR="0" lvl="3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2420938" algn="l"/>
              </a:tabLst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Developed Python-based data extractors +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Fivetran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, data transformation scripts, and a rich set of data models. </a:t>
            </a:r>
          </a:p>
          <a:p>
            <a:pPr marL="285750" marR="0" lvl="3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2420938" algn="l"/>
              </a:tabLst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The models are being used by their BI tool to provide accurate, timely reporting for all of their users and clients. </a:t>
            </a:r>
          </a:p>
          <a:p>
            <a:pPr marL="285750" marR="0" lvl="3" indent="-28575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2420938" algn="l"/>
              </a:tabLst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Some of the salient aspects of our implementation are: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406498-25DD-04C4-57BC-CFFE7416E2DE}"/>
              </a:ext>
            </a:extLst>
          </p:cNvPr>
          <p:cNvSpPr txBox="1"/>
          <p:nvPr/>
        </p:nvSpPr>
        <p:spPr>
          <a:xfrm>
            <a:off x="317748" y="2557066"/>
            <a:ext cx="2893751" cy="2631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Lack of reliable reporting metrics for their clients.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Inefficient lead management due to high volume and complexity.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Lack of reliable performance tracking across multiple subdivisions and teams.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Difficulties in accurate incentive calculation leading to sales development representative (SDR) dissatisfaction and higher churn rates.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48BC7F-7762-A0C1-2C9C-E74C9F83DD84}"/>
              </a:ext>
            </a:extLst>
          </p:cNvPr>
          <p:cNvSpPr/>
          <p:nvPr/>
        </p:nvSpPr>
        <p:spPr bwMode="auto">
          <a:xfrm>
            <a:off x="7725193" y="1369155"/>
            <a:ext cx="4315570" cy="505479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D4ED26-4717-A9B6-041F-6E2D96B78464}"/>
              </a:ext>
            </a:extLst>
          </p:cNvPr>
          <p:cNvSpPr txBox="1"/>
          <p:nvPr/>
        </p:nvSpPr>
        <p:spPr>
          <a:xfrm>
            <a:off x="8464509" y="1595661"/>
            <a:ext cx="3506453" cy="4824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Improved Data Management: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Data quality issues were reduced by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90%,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leading to a more reliable lead management system capable of handling high volumes of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Enhanced Performance Tracking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: Introduced a unified performance tracking system that boosted reporting accuracy across subdivisions close to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100%,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enhancing strategic decision-making.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Incentive Accuracy: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Refined the incentive calculation process, resulting in a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60%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decrease in discrepancies and a notable increase in SDR satisfaction and retention.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Operational Efficiency: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Streamlined data extraction and transformation processes reduced their revenue &amp; sales ops calculations by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25%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every month.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Client Reporting: 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Enhanced the BI tool's reporting capabilities, leading to an increase in client satisfaction due to timely and accurate reporting.</a:t>
            </a:r>
          </a:p>
        </p:txBody>
      </p:sp>
      <p:sp>
        <p:nvSpPr>
          <p:cNvPr id="42" name="Pentagon 46">
            <a:extLst>
              <a:ext uri="{FF2B5EF4-FFF2-40B4-BE49-F238E27FC236}">
                <a16:creationId xmlns:a16="http://schemas.microsoft.com/office/drawing/2014/main" id="{41828C85-CE58-5193-337C-A9B36F104A65}"/>
              </a:ext>
            </a:extLst>
          </p:cNvPr>
          <p:cNvSpPr/>
          <p:nvPr/>
        </p:nvSpPr>
        <p:spPr>
          <a:xfrm>
            <a:off x="3645304" y="2006347"/>
            <a:ext cx="3719048" cy="505526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43" name="Pentagon 47">
            <a:extLst>
              <a:ext uri="{FF2B5EF4-FFF2-40B4-BE49-F238E27FC236}">
                <a16:creationId xmlns:a16="http://schemas.microsoft.com/office/drawing/2014/main" id="{91034894-834C-628D-6F97-D75763356AAD}"/>
              </a:ext>
            </a:extLst>
          </p:cNvPr>
          <p:cNvSpPr/>
          <p:nvPr/>
        </p:nvSpPr>
        <p:spPr>
          <a:xfrm>
            <a:off x="3528470" y="2006634"/>
            <a:ext cx="3719048" cy="505526"/>
          </a:xfrm>
          <a:prstGeom prst="round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44" name="Pentagon 48">
            <a:extLst>
              <a:ext uri="{FF2B5EF4-FFF2-40B4-BE49-F238E27FC236}">
                <a16:creationId xmlns:a16="http://schemas.microsoft.com/office/drawing/2014/main" id="{F5C1AEA2-F1AA-84A3-CA2D-76ACB4135BE5}"/>
              </a:ext>
            </a:extLst>
          </p:cNvPr>
          <p:cNvSpPr/>
          <p:nvPr/>
        </p:nvSpPr>
        <p:spPr>
          <a:xfrm>
            <a:off x="3411637" y="2006922"/>
            <a:ext cx="3719048" cy="505526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3A4A5F-445E-0EA9-5EF5-F20574505760}"/>
              </a:ext>
            </a:extLst>
          </p:cNvPr>
          <p:cNvSpPr txBox="1"/>
          <p:nvPr/>
        </p:nvSpPr>
        <p:spPr>
          <a:xfrm>
            <a:off x="3730479" y="2057424"/>
            <a:ext cx="177073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Our Solution</a:t>
            </a: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80018FA0-53D5-64A1-39BF-4F072C86E51F}"/>
              </a:ext>
            </a:extLst>
          </p:cNvPr>
          <p:cNvSpPr/>
          <p:nvPr/>
        </p:nvSpPr>
        <p:spPr bwMode="auto">
          <a:xfrm>
            <a:off x="10209986" y="1018307"/>
            <a:ext cx="247564" cy="350848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40CEDB-90C6-4A45-ADA2-0F80214DF69C}"/>
              </a:ext>
            </a:extLst>
          </p:cNvPr>
          <p:cNvSpPr/>
          <p:nvPr/>
        </p:nvSpPr>
        <p:spPr bwMode="auto">
          <a:xfrm>
            <a:off x="7477629" y="1008444"/>
            <a:ext cx="2061573" cy="469537"/>
          </a:xfrm>
          <a:prstGeom prst="rect">
            <a:avLst/>
          </a:prstGeom>
          <a:solidFill>
            <a:srgbClr val="39C1B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2C150213-1CD2-8FC4-24D6-36561D4989EF}"/>
              </a:ext>
            </a:extLst>
          </p:cNvPr>
          <p:cNvSpPr/>
          <p:nvPr/>
        </p:nvSpPr>
        <p:spPr bwMode="auto">
          <a:xfrm rot="10800000">
            <a:off x="7477629" y="1477980"/>
            <a:ext cx="247564" cy="189276"/>
          </a:xfrm>
          <a:prstGeom prst="rtTriangle">
            <a:avLst/>
          </a:prstGeom>
          <a:solidFill>
            <a:srgbClr val="28888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A61317-2882-A976-4228-05BF3FA49DDF}"/>
              </a:ext>
            </a:extLst>
          </p:cNvPr>
          <p:cNvSpPr/>
          <p:nvPr/>
        </p:nvSpPr>
        <p:spPr bwMode="auto">
          <a:xfrm>
            <a:off x="7477629" y="1008444"/>
            <a:ext cx="2732357" cy="469537"/>
          </a:xfrm>
          <a:prstGeom prst="rect">
            <a:avLst/>
          </a:prstGeom>
          <a:solidFill>
            <a:srgbClr val="39C1BF"/>
          </a:solidFill>
          <a:ln w="9525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Results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0" name="Pentagon 43">
            <a:extLst>
              <a:ext uri="{FF2B5EF4-FFF2-40B4-BE49-F238E27FC236}">
                <a16:creationId xmlns:a16="http://schemas.microsoft.com/office/drawing/2014/main" id="{25228663-590F-D70F-2794-7C96EBDD2154}"/>
              </a:ext>
            </a:extLst>
          </p:cNvPr>
          <p:cNvSpPr/>
          <p:nvPr/>
        </p:nvSpPr>
        <p:spPr>
          <a:xfrm>
            <a:off x="481852" y="2001632"/>
            <a:ext cx="2893751" cy="506101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1" name="Pentagon 42">
            <a:extLst>
              <a:ext uri="{FF2B5EF4-FFF2-40B4-BE49-F238E27FC236}">
                <a16:creationId xmlns:a16="http://schemas.microsoft.com/office/drawing/2014/main" id="{C15F1A10-D8B8-512E-A73F-745468AEC3D3}"/>
              </a:ext>
            </a:extLst>
          </p:cNvPr>
          <p:cNvSpPr/>
          <p:nvPr/>
        </p:nvSpPr>
        <p:spPr>
          <a:xfrm>
            <a:off x="390945" y="2001920"/>
            <a:ext cx="2893751" cy="506101"/>
          </a:xfrm>
          <a:prstGeom prst="round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2" name="Pentagon 40">
            <a:extLst>
              <a:ext uri="{FF2B5EF4-FFF2-40B4-BE49-F238E27FC236}">
                <a16:creationId xmlns:a16="http://schemas.microsoft.com/office/drawing/2014/main" id="{71029B90-4FA5-E2AE-CEDC-5B689F355FDA}"/>
              </a:ext>
            </a:extLst>
          </p:cNvPr>
          <p:cNvSpPr/>
          <p:nvPr/>
        </p:nvSpPr>
        <p:spPr>
          <a:xfrm>
            <a:off x="300038" y="2002207"/>
            <a:ext cx="2893751" cy="506101"/>
          </a:xfrm>
          <a:prstGeom prst="round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FC7E21-AE3E-DE03-4C86-9EC79942E8F5}"/>
              </a:ext>
            </a:extLst>
          </p:cNvPr>
          <p:cNvSpPr/>
          <p:nvPr/>
        </p:nvSpPr>
        <p:spPr>
          <a:xfrm>
            <a:off x="483819" y="2070016"/>
            <a:ext cx="216888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The Problem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586A6-6983-351D-D9C7-C151441A0562}"/>
              </a:ext>
            </a:extLst>
          </p:cNvPr>
          <p:cNvSpPr txBox="1"/>
          <p:nvPr/>
        </p:nvSpPr>
        <p:spPr>
          <a:xfrm>
            <a:off x="3257943" y="4458283"/>
            <a:ext cx="3914356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Business - specific data models on </a:t>
            </a:r>
            <a:r>
              <a:rPr kumimoji="0" lang="en-I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dbt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Automatic data quality checks with proactive alerting for data quality issues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Retention and backup policies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Timely error logging &amp; and alerting on every part of the data pipeline 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The ability to implement data corrections from user errors seamlessly and easily </a:t>
            </a:r>
          </a:p>
        </p:txBody>
      </p:sp>
      <p:grpSp>
        <p:nvGrpSpPr>
          <p:cNvPr id="55" name="Google Shape;9160;p73">
            <a:extLst>
              <a:ext uri="{FF2B5EF4-FFF2-40B4-BE49-F238E27FC236}">
                <a16:creationId xmlns:a16="http://schemas.microsoft.com/office/drawing/2014/main" id="{3CF2E807-D97A-3C80-C7F6-A37C08F083A3}"/>
              </a:ext>
            </a:extLst>
          </p:cNvPr>
          <p:cNvGrpSpPr/>
          <p:nvPr/>
        </p:nvGrpSpPr>
        <p:grpSpPr>
          <a:xfrm>
            <a:off x="7938768" y="3792217"/>
            <a:ext cx="403066" cy="399884"/>
            <a:chOff x="2508825" y="2318350"/>
            <a:chExt cx="297750" cy="295400"/>
          </a:xfrm>
          <a:solidFill>
            <a:srgbClr val="002E87"/>
          </a:solidFill>
        </p:grpSpPr>
        <p:sp>
          <p:nvSpPr>
            <p:cNvPr id="56" name="Google Shape;9161;p73">
              <a:extLst>
                <a:ext uri="{FF2B5EF4-FFF2-40B4-BE49-F238E27FC236}">
                  <a16:creationId xmlns:a16="http://schemas.microsoft.com/office/drawing/2014/main" id="{176A4FAC-1C4B-8A65-103A-7C51AFB36024}"/>
                </a:ext>
              </a:extLst>
            </p:cNvPr>
            <p:cNvSpPr/>
            <p:nvPr/>
          </p:nvSpPr>
          <p:spPr>
            <a:xfrm>
              <a:off x="2508825" y="2318350"/>
              <a:ext cx="297750" cy="295400"/>
            </a:xfrm>
            <a:custGeom>
              <a:avLst/>
              <a:gdLst/>
              <a:ahLst/>
              <a:cxnLst/>
              <a:rect l="l" t="t" r="r" b="b"/>
              <a:pathLst>
                <a:path w="11910" h="11816" extrusionOk="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57" name="Google Shape;9162;p73">
              <a:extLst>
                <a:ext uri="{FF2B5EF4-FFF2-40B4-BE49-F238E27FC236}">
                  <a16:creationId xmlns:a16="http://schemas.microsoft.com/office/drawing/2014/main" id="{8C34CC95-8A9B-3346-0CFD-891FF35530FF}"/>
                </a:ext>
              </a:extLst>
            </p:cNvPr>
            <p:cNvSpPr/>
            <p:nvPr/>
          </p:nvSpPr>
          <p:spPr>
            <a:xfrm>
              <a:off x="2629350" y="2353025"/>
              <a:ext cx="54350" cy="121300"/>
            </a:xfrm>
            <a:custGeom>
              <a:avLst/>
              <a:gdLst/>
              <a:ahLst/>
              <a:cxnLst/>
              <a:rect l="l" t="t" r="r" b="b"/>
              <a:pathLst>
                <a:path w="2174" h="4852" extrusionOk="0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</p:grpSp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4A9E3AFA-5D7C-FABB-80EB-D9F2CF409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2858" y="1663754"/>
            <a:ext cx="563303" cy="563303"/>
          </a:xfrm>
          <a:prstGeom prst="rect">
            <a:avLst/>
          </a:prstGeom>
        </p:spPr>
      </p:pic>
      <p:grpSp>
        <p:nvGrpSpPr>
          <p:cNvPr id="59" name="Google Shape;12520;p89">
            <a:extLst>
              <a:ext uri="{FF2B5EF4-FFF2-40B4-BE49-F238E27FC236}">
                <a16:creationId xmlns:a16="http://schemas.microsoft.com/office/drawing/2014/main" id="{FC174B49-AB6C-5796-B6BD-DC5C9929DDC0}"/>
              </a:ext>
            </a:extLst>
          </p:cNvPr>
          <p:cNvGrpSpPr/>
          <p:nvPr/>
        </p:nvGrpSpPr>
        <p:grpSpPr>
          <a:xfrm>
            <a:off x="7975555" y="5649614"/>
            <a:ext cx="399884" cy="399884"/>
            <a:chOff x="-2419325" y="2408150"/>
            <a:chExt cx="291450" cy="291450"/>
          </a:xfrm>
          <a:solidFill>
            <a:srgbClr val="002E87"/>
          </a:solidFill>
        </p:grpSpPr>
        <p:sp>
          <p:nvSpPr>
            <p:cNvPr id="60" name="Google Shape;12521;p89">
              <a:extLst>
                <a:ext uri="{FF2B5EF4-FFF2-40B4-BE49-F238E27FC236}">
                  <a16:creationId xmlns:a16="http://schemas.microsoft.com/office/drawing/2014/main" id="{DACD3AD3-52BF-3316-0D03-6BD34BA2040A}"/>
                </a:ext>
              </a:extLst>
            </p:cNvPr>
            <p:cNvSpPr/>
            <p:nvPr/>
          </p:nvSpPr>
          <p:spPr>
            <a:xfrm>
              <a:off x="-2419325" y="2408150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8948" y="725"/>
                  </a:moveTo>
                  <a:lnTo>
                    <a:pt x="8948" y="2489"/>
                  </a:lnTo>
                  <a:lnTo>
                    <a:pt x="8948" y="10366"/>
                  </a:lnTo>
                  <a:cubicBezTo>
                    <a:pt x="8948" y="10586"/>
                    <a:pt x="9011" y="10838"/>
                    <a:pt x="9137" y="11027"/>
                  </a:cubicBezTo>
                  <a:lnTo>
                    <a:pt x="1733" y="11027"/>
                  </a:lnTo>
                  <a:cubicBezTo>
                    <a:pt x="1134" y="11027"/>
                    <a:pt x="662" y="10586"/>
                    <a:pt x="662" y="10019"/>
                  </a:cubicBezTo>
                  <a:lnTo>
                    <a:pt x="662" y="725"/>
                  </a:lnTo>
                  <a:close/>
                  <a:moveTo>
                    <a:pt x="11027" y="2836"/>
                  </a:moveTo>
                  <a:lnTo>
                    <a:pt x="11027" y="10366"/>
                  </a:lnTo>
                  <a:lnTo>
                    <a:pt x="10995" y="10366"/>
                  </a:lnTo>
                  <a:cubicBezTo>
                    <a:pt x="10995" y="10744"/>
                    <a:pt x="10680" y="11027"/>
                    <a:pt x="10334" y="11027"/>
                  </a:cubicBezTo>
                  <a:cubicBezTo>
                    <a:pt x="9987" y="11027"/>
                    <a:pt x="9672" y="10712"/>
                    <a:pt x="9672" y="10366"/>
                  </a:cubicBezTo>
                  <a:lnTo>
                    <a:pt x="9672" y="2836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956"/>
                  </a:lnTo>
                  <a:cubicBezTo>
                    <a:pt x="0" y="10901"/>
                    <a:pt x="756" y="11657"/>
                    <a:pt x="1702" y="11657"/>
                  </a:cubicBezTo>
                  <a:lnTo>
                    <a:pt x="10302" y="11657"/>
                  </a:lnTo>
                  <a:cubicBezTo>
                    <a:pt x="11027" y="11657"/>
                    <a:pt x="11657" y="11027"/>
                    <a:pt x="11657" y="10271"/>
                  </a:cubicBezTo>
                  <a:lnTo>
                    <a:pt x="11657" y="2395"/>
                  </a:lnTo>
                  <a:cubicBezTo>
                    <a:pt x="11657" y="2300"/>
                    <a:pt x="11500" y="2143"/>
                    <a:pt x="11342" y="2143"/>
                  </a:cubicBezTo>
                  <a:lnTo>
                    <a:pt x="9641" y="2143"/>
                  </a:lnTo>
                  <a:lnTo>
                    <a:pt x="9641" y="347"/>
                  </a:lnTo>
                  <a:cubicBezTo>
                    <a:pt x="9641" y="158"/>
                    <a:pt x="9483" y="1"/>
                    <a:pt x="9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61" name="Google Shape;12522;p89">
              <a:extLst>
                <a:ext uri="{FF2B5EF4-FFF2-40B4-BE49-F238E27FC236}">
                  <a16:creationId xmlns:a16="http://schemas.microsoft.com/office/drawing/2014/main" id="{92547DBD-C945-7C55-84E0-996209C0BEB4}"/>
                </a:ext>
              </a:extLst>
            </p:cNvPr>
            <p:cNvSpPr/>
            <p:nvPr/>
          </p:nvSpPr>
          <p:spPr>
            <a:xfrm>
              <a:off x="-2385475" y="2444375"/>
              <a:ext cx="173325" cy="86675"/>
            </a:xfrm>
            <a:custGeom>
              <a:avLst/>
              <a:gdLst/>
              <a:ahLst/>
              <a:cxnLst/>
              <a:rect l="l" t="t" r="r" b="b"/>
              <a:pathLst>
                <a:path w="6933" h="3467" extrusionOk="0">
                  <a:moveTo>
                    <a:pt x="6207" y="694"/>
                  </a:moveTo>
                  <a:lnTo>
                    <a:pt x="6207" y="2742"/>
                  </a:lnTo>
                  <a:lnTo>
                    <a:pt x="694" y="2742"/>
                  </a:lnTo>
                  <a:lnTo>
                    <a:pt x="694" y="694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79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6554" y="3466"/>
                  </a:lnTo>
                  <a:cubicBezTo>
                    <a:pt x="6775" y="3466"/>
                    <a:pt x="6932" y="3309"/>
                    <a:pt x="6932" y="3120"/>
                  </a:cubicBezTo>
                  <a:lnTo>
                    <a:pt x="6932" y="379"/>
                  </a:lnTo>
                  <a:cubicBezTo>
                    <a:pt x="6869" y="158"/>
                    <a:pt x="6712" y="1"/>
                    <a:pt x="65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62" name="Google Shape;12523;p89">
              <a:extLst>
                <a:ext uri="{FF2B5EF4-FFF2-40B4-BE49-F238E27FC236}">
                  <a16:creationId xmlns:a16="http://schemas.microsoft.com/office/drawing/2014/main" id="{DA2CE2C1-FA9F-2D6F-4039-153F7E157B02}"/>
                </a:ext>
              </a:extLst>
            </p:cNvPr>
            <p:cNvSpPr/>
            <p:nvPr/>
          </p:nvSpPr>
          <p:spPr>
            <a:xfrm>
              <a:off x="-2385475" y="25459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2742" y="757"/>
                  </a:moveTo>
                  <a:lnTo>
                    <a:pt x="2742" y="2805"/>
                  </a:lnTo>
                  <a:lnTo>
                    <a:pt x="694" y="2805"/>
                  </a:lnTo>
                  <a:lnTo>
                    <a:pt x="694" y="757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3088" y="3466"/>
                  </a:lnTo>
                  <a:cubicBezTo>
                    <a:pt x="3309" y="3466"/>
                    <a:pt x="3467" y="3309"/>
                    <a:pt x="3467" y="3120"/>
                  </a:cubicBezTo>
                  <a:lnTo>
                    <a:pt x="3467" y="347"/>
                  </a:lnTo>
                  <a:cubicBezTo>
                    <a:pt x="3467" y="158"/>
                    <a:pt x="3309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63" name="Google Shape;12524;p89">
              <a:extLst>
                <a:ext uri="{FF2B5EF4-FFF2-40B4-BE49-F238E27FC236}">
                  <a16:creationId xmlns:a16="http://schemas.microsoft.com/office/drawing/2014/main" id="{0DFD7E4D-922F-0A5B-9C64-D1664093E2D2}"/>
                </a:ext>
              </a:extLst>
            </p:cNvPr>
            <p:cNvSpPr/>
            <p:nvPr/>
          </p:nvSpPr>
          <p:spPr>
            <a:xfrm>
              <a:off x="-2281500" y="25467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553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64" name="Google Shape;12525;p89">
              <a:extLst>
                <a:ext uri="{FF2B5EF4-FFF2-40B4-BE49-F238E27FC236}">
                  <a16:creationId xmlns:a16="http://schemas.microsoft.com/office/drawing/2014/main" id="{06F65F55-8FB0-B20F-C753-3E737C370741}"/>
                </a:ext>
              </a:extLst>
            </p:cNvPr>
            <p:cNvSpPr/>
            <p:nvPr/>
          </p:nvSpPr>
          <p:spPr>
            <a:xfrm>
              <a:off x="-2281500" y="2581425"/>
              <a:ext cx="69350" cy="18150"/>
            </a:xfrm>
            <a:custGeom>
              <a:avLst/>
              <a:gdLst/>
              <a:ahLst/>
              <a:cxnLst/>
              <a:rect l="l" t="t" r="r" b="b"/>
              <a:pathLst>
                <a:path w="277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8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65" name="Google Shape;12526;p89">
              <a:extLst>
                <a:ext uri="{FF2B5EF4-FFF2-40B4-BE49-F238E27FC236}">
                  <a16:creationId xmlns:a16="http://schemas.microsoft.com/office/drawing/2014/main" id="{05BD753D-45E3-01A8-2F90-C06F53863435}"/>
                </a:ext>
              </a:extLst>
            </p:cNvPr>
            <p:cNvSpPr/>
            <p:nvPr/>
          </p:nvSpPr>
          <p:spPr>
            <a:xfrm>
              <a:off x="-2281500" y="2616075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616" y="694"/>
                    <a:pt x="2773" y="536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  <p:sp>
          <p:nvSpPr>
            <p:cNvPr id="66" name="Google Shape;12527;p89">
              <a:extLst>
                <a:ext uri="{FF2B5EF4-FFF2-40B4-BE49-F238E27FC236}">
                  <a16:creationId xmlns:a16="http://schemas.microsoft.com/office/drawing/2014/main" id="{96008B54-41EB-E3B0-BC2C-3F226F3D8038}"/>
                </a:ext>
              </a:extLst>
            </p:cNvPr>
            <p:cNvSpPr/>
            <p:nvPr/>
          </p:nvSpPr>
          <p:spPr>
            <a:xfrm>
              <a:off x="-2385475" y="2649150"/>
              <a:ext cx="173325" cy="18150"/>
            </a:xfrm>
            <a:custGeom>
              <a:avLst/>
              <a:gdLst/>
              <a:ahLst/>
              <a:cxnLst/>
              <a:rect l="l" t="t" r="r" b="b"/>
              <a:pathLst>
                <a:path w="6933" h="726" extrusionOk="0">
                  <a:moveTo>
                    <a:pt x="348" y="1"/>
                  </a:moveTo>
                  <a:cubicBezTo>
                    <a:pt x="159" y="1"/>
                    <a:pt x="1" y="159"/>
                    <a:pt x="1" y="379"/>
                  </a:cubicBezTo>
                  <a:cubicBezTo>
                    <a:pt x="1" y="568"/>
                    <a:pt x="159" y="726"/>
                    <a:pt x="348" y="726"/>
                  </a:cubicBezTo>
                  <a:lnTo>
                    <a:pt x="6554" y="726"/>
                  </a:lnTo>
                  <a:cubicBezTo>
                    <a:pt x="6775" y="726"/>
                    <a:pt x="6932" y="568"/>
                    <a:pt x="6932" y="379"/>
                  </a:cubicBezTo>
                  <a:cubicBezTo>
                    <a:pt x="6869" y="159"/>
                    <a:pt x="6712" y="1"/>
                    <a:pt x="65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endParaRPr>
            </a:p>
          </p:txBody>
        </p:sp>
      </p:grpSp>
      <p:pic>
        <p:nvPicPr>
          <p:cNvPr id="67" name="Graphic 66">
            <a:extLst>
              <a:ext uri="{FF2B5EF4-FFF2-40B4-BE49-F238E27FC236}">
                <a16:creationId xmlns:a16="http://schemas.microsoft.com/office/drawing/2014/main" id="{0DC9A61E-920A-6A6B-DCE4-E143479BA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5109" y="4771551"/>
            <a:ext cx="404300" cy="404300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95DEFB1A-4AF6-CA1A-8EA0-D80A7EAB31E5}"/>
              </a:ext>
            </a:extLst>
          </p:cNvPr>
          <p:cNvGrpSpPr/>
          <p:nvPr/>
        </p:nvGrpSpPr>
        <p:grpSpPr>
          <a:xfrm>
            <a:off x="7928221" y="2745590"/>
            <a:ext cx="558220" cy="558312"/>
            <a:chOff x="7928221" y="2272577"/>
            <a:chExt cx="558220" cy="558312"/>
          </a:xfrm>
        </p:grpSpPr>
        <p:pic>
          <p:nvPicPr>
            <p:cNvPr id="69" name="Graphic 68" descr="Bar chart with solid fill">
              <a:extLst>
                <a:ext uri="{FF2B5EF4-FFF2-40B4-BE49-F238E27FC236}">
                  <a16:creationId xmlns:a16="http://schemas.microsoft.com/office/drawing/2014/main" id="{15FE76EF-EEF5-18BD-5637-A24B02D34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28221" y="2272577"/>
              <a:ext cx="441136" cy="441136"/>
            </a:xfrm>
            <a:prstGeom prst="rect">
              <a:avLst/>
            </a:prstGeom>
          </p:spPr>
        </p:pic>
        <p:pic>
          <p:nvPicPr>
            <p:cNvPr id="70" name="Graphic 69" descr="Magnifying glass with solid fill">
              <a:extLst>
                <a:ext uri="{FF2B5EF4-FFF2-40B4-BE49-F238E27FC236}">
                  <a16:creationId xmlns:a16="http://schemas.microsoft.com/office/drawing/2014/main" id="{52B8C056-4A26-1575-C04B-9F0ED5E08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4319208">
              <a:off x="8086556" y="2431004"/>
              <a:ext cx="399885" cy="399885"/>
            </a:xfrm>
            <a:prstGeom prst="rect">
              <a:avLst/>
            </a:prstGeom>
          </p:spPr>
        </p:pic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965B68F7-A3D7-8F4E-CBB2-97E232231506}"/>
              </a:ext>
            </a:extLst>
          </p:cNvPr>
          <p:cNvSpPr txBox="1"/>
          <p:nvPr/>
        </p:nvSpPr>
        <p:spPr>
          <a:xfrm>
            <a:off x="364937" y="1112624"/>
            <a:ext cx="6887138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Customer Information:  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The client is a large B2B sales agency with over 50 clients to cater to. Major challenges were with data quality, sales performance tracking, and reporting for their clients.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