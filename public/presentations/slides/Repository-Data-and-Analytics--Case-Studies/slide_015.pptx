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C8C8DA83-691B-7E33-EDBC-857DACE0D600}"/>
              </a:ext>
            </a:extLst>
          </p:cNvPr>
          <p:cNvSpPr txBox="1"/>
          <p:nvPr/>
        </p:nvSpPr>
        <p:spPr>
          <a:xfrm>
            <a:off x="577031" y="257992"/>
            <a:ext cx="9464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Cisco -CPF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/>
              <a:ea typeface="+mn-ea"/>
              <a:cs typeface="Poppins SemiBold" panose="00000700000000000000" pitchFamily="2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58DCE07-BDEC-D399-CC6D-4AD25BE910BD}"/>
              </a:ext>
            </a:extLst>
          </p:cNvPr>
          <p:cNvCxnSpPr/>
          <p:nvPr/>
        </p:nvCxnSpPr>
        <p:spPr>
          <a:xfrm>
            <a:off x="492475" y="243840"/>
            <a:ext cx="0" cy="559260"/>
          </a:xfrm>
          <a:prstGeom prst="line">
            <a:avLst/>
          </a:prstGeom>
          <a:ln w="57150">
            <a:solidFill>
              <a:srgbClr val="DB5D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F93A86-0483-98B9-F2F6-512145B5DFD9}"/>
              </a:ext>
            </a:extLst>
          </p:cNvPr>
          <p:cNvSpPr/>
          <p:nvPr/>
        </p:nvSpPr>
        <p:spPr>
          <a:xfrm>
            <a:off x="577032" y="2777897"/>
            <a:ext cx="3570720" cy="303665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Times New Roman" panose="02020603050405020304" pitchFamily="18" charset="0"/>
              </a:rPr>
              <a:t>Heavy reliance on partner network as generating 85%+ of their bookings through strong Partner network for bookings and managing co-invested Channel Development Funds for practice building and sales acceleration.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Times New Roman" panose="02020603050405020304" pitchFamily="18" charset="0"/>
              </a:rPr>
              <a:t>Challenges in managing 11 programs with diverse objectives targeted towards different types of business and sell-through models, while lacking a single source of truth for funds planning, allocation, and distribution of over $328M in development funds.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0E2AC-1A8B-6F3E-54EC-625D6EB9676D}"/>
              </a:ext>
            </a:extLst>
          </p:cNvPr>
          <p:cNvSpPr/>
          <p:nvPr/>
        </p:nvSpPr>
        <p:spPr>
          <a:xfrm>
            <a:off x="4389519" y="2777897"/>
            <a:ext cx="3708634" cy="3036652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To address these challenges,  We proposed a scope of work (SOW) including allocation management and distribution that encompasses the planned activities for integrating the shortlisted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WorkSpan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SSOT System into the client enterprise IT infrastructure.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To drive sales growth, CPF implemented partner incentives with the primary objectives of reducing funds leakage, improving ROI on funds utilization, and achieving productivity gains in field, finance, and operations.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D656B-4091-A8ED-E2DC-004C95D21118}"/>
              </a:ext>
            </a:extLst>
          </p:cNvPr>
          <p:cNvSpPr/>
          <p:nvPr/>
        </p:nvSpPr>
        <p:spPr>
          <a:xfrm>
            <a:off x="578942" y="1139871"/>
            <a:ext cx="7521111" cy="977122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 SemiBold" panose="00000700000000000000" pitchFamily="2" charset="0"/>
              </a:rPr>
              <a:t>Client Overview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A hi-tech client has a program for Partner Funds aimed at driving sales growth, which involves consolidating all CPF sub-programs onto a single platform and digitizing manual processes. The client faced the challenge of managing 11 programs with diverse objectives targeted towards different types of business and sell-through models.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59327C-2346-91DD-84BB-13FC93949B05}"/>
              </a:ext>
            </a:extLst>
          </p:cNvPr>
          <p:cNvGrpSpPr/>
          <p:nvPr/>
        </p:nvGrpSpPr>
        <p:grpSpPr>
          <a:xfrm>
            <a:off x="577031" y="2194402"/>
            <a:ext cx="3570720" cy="506676"/>
            <a:chOff x="377675" y="2790487"/>
            <a:chExt cx="3075565" cy="506676"/>
          </a:xfrm>
        </p:grpSpPr>
        <p:sp>
          <p:nvSpPr>
            <p:cNvPr id="6" name="Pentagon 43">
              <a:extLst>
                <a:ext uri="{FF2B5EF4-FFF2-40B4-BE49-F238E27FC236}">
                  <a16:creationId xmlns:a16="http://schemas.microsoft.com/office/drawing/2014/main" id="{E4D373E7-E4AC-FD8D-C8CD-9A1FAD2BF0C2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Pentagon 42">
              <a:extLst>
                <a:ext uri="{FF2B5EF4-FFF2-40B4-BE49-F238E27FC236}">
                  <a16:creationId xmlns:a16="http://schemas.microsoft.com/office/drawing/2014/main" id="{4BAC69A1-70CD-15AD-D0F5-47F69D86B59F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Pentagon 40">
              <a:extLst>
                <a:ext uri="{FF2B5EF4-FFF2-40B4-BE49-F238E27FC236}">
                  <a16:creationId xmlns:a16="http://schemas.microsoft.com/office/drawing/2014/main" id="{13BE1416-994F-4738-F639-94979DEC3DEA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C22046-F766-DBEC-D2C9-3FA5ABA27457}"/>
              </a:ext>
            </a:extLst>
          </p:cNvPr>
          <p:cNvGrpSpPr/>
          <p:nvPr/>
        </p:nvGrpSpPr>
        <p:grpSpPr>
          <a:xfrm>
            <a:off x="4389519" y="2207291"/>
            <a:ext cx="3708634" cy="506676"/>
            <a:chOff x="4602706" y="2803376"/>
            <a:chExt cx="3075565" cy="506676"/>
          </a:xfrm>
        </p:grpSpPr>
        <p:sp>
          <p:nvSpPr>
            <p:cNvPr id="34" name="Pentagon 43">
              <a:extLst>
                <a:ext uri="{FF2B5EF4-FFF2-40B4-BE49-F238E27FC236}">
                  <a16:creationId xmlns:a16="http://schemas.microsoft.com/office/drawing/2014/main" id="{E82D1BE9-47FF-CB38-23DF-DAABCB433222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9" name="Pentagon 42">
              <a:extLst>
                <a:ext uri="{FF2B5EF4-FFF2-40B4-BE49-F238E27FC236}">
                  <a16:creationId xmlns:a16="http://schemas.microsoft.com/office/drawing/2014/main" id="{6C1EE716-2C56-2D8E-3858-844B4C944D00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1" name="Pentagon 40">
              <a:extLst>
                <a:ext uri="{FF2B5EF4-FFF2-40B4-BE49-F238E27FC236}">
                  <a16:creationId xmlns:a16="http://schemas.microsoft.com/office/drawing/2014/main" id="{DAA9FF1D-4391-AE5E-C6A9-F26198ED3AB3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Solution Implemented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A05D855-8A20-7288-160B-A857F1255A8E}"/>
              </a:ext>
            </a:extLst>
          </p:cNvPr>
          <p:cNvSpPr/>
          <p:nvPr/>
        </p:nvSpPr>
        <p:spPr bwMode="auto">
          <a:xfrm>
            <a:off x="8458474" y="1571079"/>
            <a:ext cx="3487448" cy="26752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822960" tIns="18288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Consolidated 11 funds worth ~$389M, reducing funds leakage by ~$13.2M.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Improved ROI on funds utilization by &gt;3%.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Streamlined funding operations, reducing cycle time by 3-7 days on average.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Improved productivity ( field, partner, finance, and operations.)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Scalable solution serving over 15K users and partners across 6 theatres.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18E70E1-4946-CE08-FC3A-8008BBC80088}"/>
              </a:ext>
            </a:extLst>
          </p:cNvPr>
          <p:cNvGrpSpPr/>
          <p:nvPr/>
        </p:nvGrpSpPr>
        <p:grpSpPr>
          <a:xfrm>
            <a:off x="8216706" y="1138065"/>
            <a:ext cx="2979921" cy="658812"/>
            <a:chOff x="7555266" y="1214168"/>
            <a:chExt cx="2979921" cy="658812"/>
          </a:xfrm>
        </p:grpSpPr>
        <p:sp>
          <p:nvSpPr>
            <p:cNvPr id="66" name="Right Triangle 65">
              <a:extLst>
                <a:ext uri="{FF2B5EF4-FFF2-40B4-BE49-F238E27FC236}">
                  <a16:creationId xmlns:a16="http://schemas.microsoft.com/office/drawing/2014/main" id="{70151BD1-DBAE-33FC-CAAB-55BF5F0AC9AE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ight Triangle 66">
              <a:extLst>
                <a:ext uri="{FF2B5EF4-FFF2-40B4-BE49-F238E27FC236}">
                  <a16:creationId xmlns:a16="http://schemas.microsoft.com/office/drawing/2014/main" id="{1100D75B-C0AD-8637-11E1-4E913F5B5000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AE607F8-3747-AC43-01D9-B9936B2B2866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0678F409-3DA1-A36D-5953-F43700F7873F}"/>
              </a:ext>
            </a:extLst>
          </p:cNvPr>
          <p:cNvSpPr/>
          <p:nvPr/>
        </p:nvSpPr>
        <p:spPr bwMode="auto">
          <a:xfrm>
            <a:off x="8443934" y="4789375"/>
            <a:ext cx="3487448" cy="10251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822960" tIns="2743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2D31E0-EF03-2B9A-DBEF-726CA48D0484}"/>
              </a:ext>
            </a:extLst>
          </p:cNvPr>
          <p:cNvGrpSpPr/>
          <p:nvPr/>
        </p:nvGrpSpPr>
        <p:grpSpPr>
          <a:xfrm>
            <a:off x="8202166" y="4356359"/>
            <a:ext cx="2979921" cy="658812"/>
            <a:chOff x="7555266" y="1214168"/>
            <a:chExt cx="2979921" cy="658812"/>
          </a:xfrm>
        </p:grpSpPr>
        <p:sp>
          <p:nvSpPr>
            <p:cNvPr id="82" name="Right Triangle 81">
              <a:extLst>
                <a:ext uri="{FF2B5EF4-FFF2-40B4-BE49-F238E27FC236}">
                  <a16:creationId xmlns:a16="http://schemas.microsoft.com/office/drawing/2014/main" id="{9526F1A1-008F-A549-AB69-AD77A7E4D31C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ight Triangle 82">
              <a:extLst>
                <a:ext uri="{FF2B5EF4-FFF2-40B4-BE49-F238E27FC236}">
                  <a16:creationId xmlns:a16="http://schemas.microsoft.com/office/drawing/2014/main" id="{23A64338-0B7E-6FF6-0850-55FA019BCAC1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31B27DF-4EEC-13EE-A85F-4856B6297E61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Technology &amp; Tools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DBCA1966-A008-6A53-5C7F-A92C2D5D8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41" y="4922552"/>
            <a:ext cx="1271553" cy="30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F13C6A3-F089-86A4-7EAC-56CAE61D3D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981" y="4935885"/>
            <a:ext cx="1587740" cy="388488"/>
          </a:xfrm>
          <a:prstGeom prst="rect">
            <a:avLst/>
          </a:prstGeom>
        </p:spPr>
      </p:pic>
      <p:pic>
        <p:nvPicPr>
          <p:cNvPr id="12" name="Picture 24" descr="Python icon - Free download on Iconfinder">
            <a:extLst>
              <a:ext uri="{FF2B5EF4-FFF2-40B4-BE49-F238E27FC236}">
                <a16:creationId xmlns:a16="http://schemas.microsoft.com/office/drawing/2014/main" id="{26467334-F37A-87E1-D347-B5CAA62A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40" y="4868186"/>
            <a:ext cx="433220" cy="43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QL Database (Generic)&quot; Icon - Download for free – Iconduck">
            <a:extLst>
              <a:ext uri="{FF2B5EF4-FFF2-40B4-BE49-F238E27FC236}">
                <a16:creationId xmlns:a16="http://schemas.microsoft.com/office/drawing/2014/main" id="{9B850B67-3ACD-042C-49FA-BBA19F4ED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156" y="5235852"/>
            <a:ext cx="294824" cy="39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logo mysql, mysql and moodle elearningworld #26300">
            <a:extLst>
              <a:ext uri="{FF2B5EF4-FFF2-40B4-BE49-F238E27FC236}">
                <a16:creationId xmlns:a16="http://schemas.microsoft.com/office/drawing/2014/main" id="{BCAABB2A-6D70-4B67-54EB-30408DEBD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24" y="5258912"/>
            <a:ext cx="527007" cy="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D0BA549-FE1A-88D2-8BD8-41C5DF1E61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8093" y="1603798"/>
            <a:ext cx="651526" cy="651526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DCA2508-8FF3-EB1E-F734-A4304A9157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57096" y="2057342"/>
            <a:ext cx="656050" cy="6560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98A38C6-D637-FEEB-8CC8-6D98CAFAE9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83640" y="2616131"/>
            <a:ext cx="537874" cy="53787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77EEF46-BD66-F22A-BF95-3D54A74097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64017" y="3042169"/>
            <a:ext cx="606162" cy="6061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ACC4EFD-754B-683D-DF34-2F68203798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75882" y="3569630"/>
            <a:ext cx="582431" cy="582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