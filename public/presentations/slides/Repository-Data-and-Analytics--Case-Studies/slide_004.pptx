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3E54E7-34F2-FBD9-6E83-8EEB98B189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IN"/>
              <a:t>Self service Data Catalogue and Data Quality assurance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487BCE6-003B-554D-E7ED-C5ED6EACDEB0}"/>
              </a:ext>
            </a:extLst>
          </p:cNvPr>
          <p:cNvSpPr/>
          <p:nvPr/>
        </p:nvSpPr>
        <p:spPr>
          <a:xfrm>
            <a:off x="467272" y="1326769"/>
            <a:ext cx="7646787" cy="1240088"/>
          </a:xfrm>
          <a:prstGeom prst="rect">
            <a:avLst/>
          </a:prstGeom>
          <a:solidFill>
            <a:srgbClr val="002E8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78C41AB2-E1FB-ECD3-E63A-6D8E554C74C5}"/>
              </a:ext>
            </a:extLst>
          </p:cNvPr>
          <p:cNvGrpSpPr/>
          <p:nvPr/>
        </p:nvGrpSpPr>
        <p:grpSpPr>
          <a:xfrm>
            <a:off x="467272" y="1352286"/>
            <a:ext cx="7444973" cy="1189053"/>
            <a:chOff x="101580" y="1113142"/>
            <a:chExt cx="6710122" cy="1189053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BBFC0D1-C4C3-C4D3-FFEF-30CF3FB220E1}"/>
                </a:ext>
              </a:extLst>
            </p:cNvPr>
            <p:cNvSpPr txBox="1"/>
            <p:nvPr/>
          </p:nvSpPr>
          <p:spPr>
            <a:xfrm>
              <a:off x="101582" y="1113142"/>
              <a:ext cx="43636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6746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Business context: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75300E2-274F-BEFE-81DE-CBCCCCC61B93}"/>
                </a:ext>
              </a:extLst>
            </p:cNvPr>
            <p:cNvSpPr txBox="1"/>
            <p:nvPr/>
          </p:nvSpPr>
          <p:spPr>
            <a:xfrm>
              <a:off x="101580" y="1363476"/>
              <a:ext cx="6710122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6746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Data Innovation Hub with self service catalogue and automated data provisioning. Enterprise data was sourced from multiple platform (Cloud-OnPrem, OnPrem-Cloud and OnPrem-OnPrem integrations). Hadoop cluster was serving as central data lake to store and distribute data to multiple initiative across organization. Data Quality assurance is designed to certify 7 dimensions of data quality with Analytics enabled on meta data.</a:t>
              </a:r>
            </a:p>
          </p:txBody>
        </p:sp>
      </p:grpSp>
      <p:sp>
        <p:nvSpPr>
          <p:cNvPr id="75" name="Rectangle 74">
            <a:extLst>
              <a:ext uri="{FF2B5EF4-FFF2-40B4-BE49-F238E27FC236}">
                <a16:creationId xmlns:a16="http://schemas.microsoft.com/office/drawing/2014/main" id="{6DC76190-DC33-7E33-4D74-B52FA69AFED6}"/>
              </a:ext>
            </a:extLst>
          </p:cNvPr>
          <p:cNvSpPr/>
          <p:nvPr/>
        </p:nvSpPr>
        <p:spPr>
          <a:xfrm>
            <a:off x="254880" y="4027433"/>
            <a:ext cx="799311" cy="914400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cxnSp>
        <p:nvCxnSpPr>
          <p:cNvPr id="76" name="Elbow Connector 28">
            <a:extLst>
              <a:ext uri="{FF2B5EF4-FFF2-40B4-BE49-F238E27FC236}">
                <a16:creationId xmlns:a16="http://schemas.microsoft.com/office/drawing/2014/main" id="{C36AD917-12A2-3752-D2FE-9C67456E0CA6}"/>
              </a:ext>
            </a:extLst>
          </p:cNvPr>
          <p:cNvCxnSpPr>
            <a:cxnSpLocks/>
            <a:endCxn id="77" idx="0"/>
          </p:cNvCxnSpPr>
          <p:nvPr/>
        </p:nvCxnSpPr>
        <p:spPr>
          <a:xfrm rot="5400000" flipH="1" flipV="1">
            <a:off x="4106609" y="966591"/>
            <a:ext cx="2581" cy="4854331"/>
          </a:xfrm>
          <a:prstGeom prst="bentConnector3">
            <a:avLst>
              <a:gd name="adj1" fmla="val 14407516"/>
            </a:avLst>
          </a:prstGeom>
          <a:noFill/>
          <a:ln w="19050" cap="flat" cmpd="sng" algn="ctr">
            <a:solidFill>
              <a:srgbClr val="2A3083"/>
            </a:solidFill>
            <a:prstDash val="solid"/>
            <a:miter lim="800000"/>
            <a:tailEnd type="triangle"/>
          </a:ln>
          <a:effectLst/>
        </p:spPr>
      </p:cxnSp>
      <p:pic>
        <p:nvPicPr>
          <p:cNvPr id="77" name="Picture 76">
            <a:extLst>
              <a:ext uri="{FF2B5EF4-FFF2-40B4-BE49-F238E27FC236}">
                <a16:creationId xmlns:a16="http://schemas.microsoft.com/office/drawing/2014/main" id="{E5409F9B-A056-A11C-A8A3-85E7541783D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73185" y="3392465"/>
            <a:ext cx="523759" cy="507643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803C7B7B-4978-F717-12CE-8C81BB7EC75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5080" y="3475832"/>
            <a:ext cx="561884" cy="298501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9DF968ED-1C1C-908D-F58F-B6B9F39FF5C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63093" y="3415544"/>
            <a:ext cx="523758" cy="497126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363F94B2-49F7-52CA-A947-D28A607D1744}"/>
              </a:ext>
            </a:extLst>
          </p:cNvPr>
          <p:cNvSpPr txBox="1"/>
          <p:nvPr/>
        </p:nvSpPr>
        <p:spPr>
          <a:xfrm>
            <a:off x="279306" y="4624020"/>
            <a:ext cx="8508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Arial" panose="020B0604020202020204" pitchFamily="34" charset="0"/>
              </a:rPr>
              <a:t>Enterprise Data Warehouse </a:t>
            </a: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DA1C0EA1-1A09-34C7-F899-870476D785D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5994" y="3569432"/>
            <a:ext cx="647530" cy="199398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7B4295F6-7DA6-A17F-C5B3-55E7F690C68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8949" y="4129619"/>
            <a:ext cx="870526" cy="269448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2CBC6DF3-37BE-D96F-8224-A24A8754C678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68209" y="3433336"/>
            <a:ext cx="472186" cy="411337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8D085BEB-4667-FA86-99C4-4AED03ADED42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52212" y="3433335"/>
            <a:ext cx="634270" cy="46154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B/>
          </a:sp3d>
        </p:spPr>
      </p:pic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6842CB64-EFA1-44A8-45CC-062DF5800694}"/>
              </a:ext>
            </a:extLst>
          </p:cNvPr>
          <p:cNvCxnSpPr>
            <a:cxnSpLocks/>
          </p:cNvCxnSpPr>
          <p:nvPr/>
        </p:nvCxnSpPr>
        <p:spPr>
          <a:xfrm>
            <a:off x="1957225" y="3664107"/>
            <a:ext cx="351923" cy="0"/>
          </a:xfrm>
          <a:prstGeom prst="straightConnector1">
            <a:avLst/>
          </a:prstGeom>
          <a:noFill/>
          <a:ln w="38100" cap="flat" cmpd="sng" algn="ctr">
            <a:solidFill>
              <a:srgbClr val="2A3083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7213777-32A9-C301-1C07-504B0E644878}"/>
              </a:ext>
            </a:extLst>
          </p:cNvPr>
          <p:cNvCxnSpPr>
            <a:cxnSpLocks/>
          </p:cNvCxnSpPr>
          <p:nvPr/>
        </p:nvCxnSpPr>
        <p:spPr>
          <a:xfrm>
            <a:off x="4813070" y="3667582"/>
            <a:ext cx="410682" cy="0"/>
          </a:xfrm>
          <a:prstGeom prst="straightConnector1">
            <a:avLst/>
          </a:prstGeom>
          <a:noFill/>
          <a:ln w="38100" cap="flat" cmpd="sng" algn="ctr">
            <a:solidFill>
              <a:srgbClr val="2A3083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2C090F00-D707-41C3-3A81-C35F823986AC}"/>
              </a:ext>
            </a:extLst>
          </p:cNvPr>
          <p:cNvCxnSpPr>
            <a:cxnSpLocks/>
          </p:cNvCxnSpPr>
          <p:nvPr/>
        </p:nvCxnSpPr>
        <p:spPr>
          <a:xfrm>
            <a:off x="5862503" y="3651235"/>
            <a:ext cx="410682" cy="0"/>
          </a:xfrm>
          <a:prstGeom prst="straightConnector1">
            <a:avLst/>
          </a:prstGeom>
          <a:noFill/>
          <a:ln w="38100" cap="flat" cmpd="sng" algn="ctr">
            <a:solidFill>
              <a:srgbClr val="2A3083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EC0C5BDF-F0C3-882C-659E-07867CD46852}"/>
              </a:ext>
            </a:extLst>
          </p:cNvPr>
          <p:cNvCxnSpPr>
            <a:cxnSpLocks/>
          </p:cNvCxnSpPr>
          <p:nvPr/>
        </p:nvCxnSpPr>
        <p:spPr>
          <a:xfrm>
            <a:off x="6872596" y="3677224"/>
            <a:ext cx="410682" cy="0"/>
          </a:xfrm>
          <a:prstGeom prst="straightConnector1">
            <a:avLst/>
          </a:prstGeom>
          <a:noFill/>
          <a:ln w="38100" cap="flat" cmpd="sng" algn="ctr">
            <a:solidFill>
              <a:srgbClr val="2A3083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80D42EBE-029F-C482-8013-204036D6D37F}"/>
              </a:ext>
            </a:extLst>
          </p:cNvPr>
          <p:cNvCxnSpPr>
            <a:cxnSpLocks/>
          </p:cNvCxnSpPr>
          <p:nvPr/>
        </p:nvCxnSpPr>
        <p:spPr>
          <a:xfrm>
            <a:off x="3160375" y="3677224"/>
            <a:ext cx="141145" cy="0"/>
          </a:xfrm>
          <a:prstGeom prst="straightConnector1">
            <a:avLst/>
          </a:prstGeom>
          <a:noFill/>
          <a:ln w="190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F946856F-44E8-9779-2CFD-CF06F4FDF41F}"/>
              </a:ext>
            </a:extLst>
          </p:cNvPr>
          <p:cNvCxnSpPr>
            <a:cxnSpLocks/>
          </p:cNvCxnSpPr>
          <p:nvPr/>
        </p:nvCxnSpPr>
        <p:spPr>
          <a:xfrm>
            <a:off x="3891291" y="3664107"/>
            <a:ext cx="188184" cy="0"/>
          </a:xfrm>
          <a:prstGeom prst="straightConnector1">
            <a:avLst/>
          </a:prstGeom>
          <a:noFill/>
          <a:ln w="19050" cap="flat" cmpd="sng" algn="ctr">
            <a:solidFill>
              <a:srgbClr val="4472C4"/>
            </a:solidFill>
            <a:prstDash val="solid"/>
            <a:miter lim="800000"/>
            <a:headEnd type="triangle" w="med" len="med"/>
            <a:tailEnd type="triangle"/>
          </a:ln>
          <a:effectLst/>
        </p:spPr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B12BFA2C-3A6F-8A0D-7CEC-01D17FF1DF7A}"/>
              </a:ext>
            </a:extLst>
          </p:cNvPr>
          <p:cNvSpPr/>
          <p:nvPr/>
        </p:nvSpPr>
        <p:spPr>
          <a:xfrm>
            <a:off x="2355540" y="3274312"/>
            <a:ext cx="2421219" cy="792013"/>
          </a:xfrm>
          <a:prstGeom prst="rect">
            <a:avLst/>
          </a:prstGeom>
          <a:noFill/>
          <a:ln w="19050" cap="flat" cmpd="sng" algn="ctr">
            <a:solidFill>
              <a:srgbClr val="2A3083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C0F6369-0160-22B5-C168-457CFDCD5F15}"/>
              </a:ext>
            </a:extLst>
          </p:cNvPr>
          <p:cNvSpPr txBox="1"/>
          <p:nvPr/>
        </p:nvSpPr>
        <p:spPr>
          <a:xfrm>
            <a:off x="1322692" y="3913699"/>
            <a:ext cx="10265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Arial" panose="020B0604020202020204" pitchFamily="34" charset="0"/>
              </a:rPr>
              <a:t>Application data store (Oracle)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7E3546E-582E-2861-D621-EF4FCEF70961}"/>
              </a:ext>
            </a:extLst>
          </p:cNvPr>
          <p:cNvSpPr txBox="1"/>
          <p:nvPr/>
        </p:nvSpPr>
        <p:spPr>
          <a:xfrm>
            <a:off x="254879" y="5285093"/>
            <a:ext cx="8753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24255B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Source:</a:t>
            </a:r>
          </a:p>
          <a:p>
            <a:pPr marL="171450" marR="0" lvl="0" indent="-17145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Bookings</a:t>
            </a:r>
          </a:p>
          <a:p>
            <a:pPr marL="171450" marR="0" lvl="0" indent="-17145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Revenue</a:t>
            </a:r>
          </a:p>
          <a:p>
            <a:pPr marL="171450" marR="0" lvl="0" indent="-17145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Product</a:t>
            </a:r>
          </a:p>
          <a:p>
            <a:pPr marL="0" marR="0" lvl="0" indent="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6A90B4B-8BE5-9E02-673C-D537C8C14D2D}"/>
              </a:ext>
            </a:extLst>
          </p:cNvPr>
          <p:cNvSpPr txBox="1"/>
          <p:nvPr/>
        </p:nvSpPr>
        <p:spPr>
          <a:xfrm>
            <a:off x="1210144" y="4953715"/>
            <a:ext cx="113336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24255B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Data Feed:</a:t>
            </a:r>
          </a:p>
          <a:p>
            <a:pPr marL="171450" marR="0" lvl="0" indent="-17145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18 Feeds / day</a:t>
            </a:r>
          </a:p>
          <a:p>
            <a:pPr marL="171450" marR="0" lvl="0" indent="-17145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Records: 300M/day</a:t>
            </a:r>
          </a:p>
          <a:p>
            <a:pPr marL="0" marR="0" lvl="0" indent="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0" marR="0" lvl="0" indent="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24255B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Transformation &amp; Summarize:</a:t>
            </a:r>
          </a:p>
          <a:p>
            <a:pPr marL="171450" marR="0" lvl="0" indent="-17145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  Revenue</a:t>
            </a:r>
          </a:p>
          <a:p>
            <a:pPr marL="171450" marR="0" lvl="0" indent="-17145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  Backlog</a:t>
            </a:r>
          </a:p>
          <a:p>
            <a:pPr marL="171450" marR="0" lvl="0" indent="-17145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  Quota Sheet</a:t>
            </a:r>
          </a:p>
          <a:p>
            <a:pPr marL="171450" marR="0" lvl="0" indent="-17145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 Compensation</a:t>
            </a:r>
          </a:p>
          <a:p>
            <a:pPr marL="0" marR="0" lvl="0" indent="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50A9BF8-C457-BC1C-38FE-53EC2605D81E}"/>
              </a:ext>
            </a:extLst>
          </p:cNvPr>
          <p:cNvSpPr txBox="1"/>
          <p:nvPr/>
        </p:nvSpPr>
        <p:spPr>
          <a:xfrm>
            <a:off x="2301881" y="4953715"/>
            <a:ext cx="1586366" cy="584775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24255B"/>
                </a:solidFill>
                <a:effectLst/>
                <a:uLnTx/>
                <a:uFillTx/>
                <a:latin typeface="Poppins"/>
                <a:ea typeface="ＭＳ Ｐゴシック" charset="0"/>
                <a:cs typeface="+mn-cs"/>
              </a:rPr>
              <a:t>Data Ingestion</a:t>
            </a:r>
          </a:p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Poppins"/>
                <a:ea typeface="ＭＳ Ｐゴシック" charset="0"/>
                <a:cs typeface="+mn-cs"/>
              </a:rPr>
              <a:t>Size: 4 GB / day</a:t>
            </a:r>
          </a:p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Poppins"/>
                <a:ea typeface="ＭＳ Ｐゴシック" charset="0"/>
                <a:cs typeface="+mn-cs"/>
              </a:rPr>
              <a:t>Records: 300M / day</a:t>
            </a:r>
          </a:p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Poppins"/>
                <a:ea typeface="ＭＳ Ｐゴシック" charset="0"/>
                <a:cs typeface="+mn-cs"/>
              </a:rPr>
              <a:t>Refresh: Daily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57E1258-A620-4161-9253-E168155095A8}"/>
              </a:ext>
            </a:extLst>
          </p:cNvPr>
          <p:cNvSpPr txBox="1"/>
          <p:nvPr/>
        </p:nvSpPr>
        <p:spPr>
          <a:xfrm>
            <a:off x="4992770" y="4927164"/>
            <a:ext cx="1191047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24255B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Build ES Indexes:</a:t>
            </a:r>
          </a:p>
          <a:p>
            <a:pPr marL="0" marR="0" lvl="0" indent="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171450" marR="0" lvl="0" indent="-17145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Backlog Summary</a:t>
            </a:r>
          </a:p>
          <a:p>
            <a:pPr marL="171450" marR="0" lvl="0" indent="-17145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Backlog Details </a:t>
            </a:r>
          </a:p>
          <a:p>
            <a:pPr marL="171450" marR="0" lvl="0" indent="-17145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Order/Adj Search</a:t>
            </a:r>
          </a:p>
          <a:p>
            <a:pPr marL="171450" marR="0" lvl="0" indent="-17145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5 indexes</a:t>
            </a:r>
          </a:p>
          <a:p>
            <a:pPr marL="0" marR="0" lvl="0" indent="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4833A60-2FF6-01E3-F363-3815ECC4A8C5}"/>
              </a:ext>
            </a:extLst>
          </p:cNvPr>
          <p:cNvSpPr txBox="1"/>
          <p:nvPr/>
        </p:nvSpPr>
        <p:spPr>
          <a:xfrm>
            <a:off x="6349366" y="4892678"/>
            <a:ext cx="8319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24255B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APIs</a:t>
            </a:r>
          </a:p>
          <a:p>
            <a:pPr marL="0" marR="0" lvl="0" indent="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171450" marR="0" lvl="0" indent="-17145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36 APIs</a:t>
            </a:r>
          </a:p>
          <a:p>
            <a:pPr marL="171450" marR="0" lvl="0" indent="-17145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31 Non ES</a:t>
            </a:r>
          </a:p>
          <a:p>
            <a:pPr marL="171450" marR="0" lvl="0" indent="-17145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5 ES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D2326A2-4290-A1AB-973A-25298BBCC691}"/>
              </a:ext>
            </a:extLst>
          </p:cNvPr>
          <p:cNvSpPr txBox="1"/>
          <p:nvPr/>
        </p:nvSpPr>
        <p:spPr>
          <a:xfrm>
            <a:off x="7373754" y="4892678"/>
            <a:ext cx="8803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24255B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UI</a:t>
            </a:r>
          </a:p>
          <a:p>
            <a:pPr marL="0" marR="0" lvl="0" indent="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171450" marR="0" lvl="0" indent="-17145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10 pages</a:t>
            </a:r>
          </a:p>
          <a:p>
            <a:pPr marL="171450" marR="0" lvl="0" indent="-17145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Sub second response</a:t>
            </a:r>
          </a:p>
          <a:p>
            <a:pPr marL="0" marR="0" lvl="0" indent="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2CE5E265-2EFB-1145-A950-EF9D20673B0D}"/>
              </a:ext>
            </a:extLst>
          </p:cNvPr>
          <p:cNvCxnSpPr>
            <a:cxnSpLocks/>
          </p:cNvCxnSpPr>
          <p:nvPr/>
        </p:nvCxnSpPr>
        <p:spPr>
          <a:xfrm>
            <a:off x="1218541" y="4875609"/>
            <a:ext cx="0" cy="1673467"/>
          </a:xfrm>
          <a:prstGeom prst="line">
            <a:avLst/>
          </a:prstGeom>
          <a:noFill/>
          <a:ln w="6350" cap="flat" cmpd="sng" algn="ctr">
            <a:solidFill>
              <a:srgbClr val="2A3083"/>
            </a:solidFill>
            <a:prstDash val="dashDot"/>
            <a:miter lim="800000"/>
          </a:ln>
          <a:effectLst/>
        </p:spPr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F7AB8096-2C32-7DA9-7BE3-239A6CABA5AD}"/>
              </a:ext>
            </a:extLst>
          </p:cNvPr>
          <p:cNvCxnSpPr>
            <a:cxnSpLocks/>
          </p:cNvCxnSpPr>
          <p:nvPr/>
        </p:nvCxnSpPr>
        <p:spPr>
          <a:xfrm>
            <a:off x="2267648" y="4875609"/>
            <a:ext cx="0" cy="1673467"/>
          </a:xfrm>
          <a:prstGeom prst="line">
            <a:avLst/>
          </a:prstGeom>
          <a:noFill/>
          <a:ln w="6350" cap="flat" cmpd="sng" algn="ctr">
            <a:solidFill>
              <a:srgbClr val="2A3083"/>
            </a:solidFill>
            <a:prstDash val="dashDot"/>
            <a:miter lim="800000"/>
          </a:ln>
          <a:effectLst/>
        </p:spPr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644575C-AC1F-BC2F-BAF6-BD85D9B2E3A9}"/>
              </a:ext>
            </a:extLst>
          </p:cNvPr>
          <p:cNvCxnSpPr>
            <a:cxnSpLocks/>
          </p:cNvCxnSpPr>
          <p:nvPr/>
        </p:nvCxnSpPr>
        <p:spPr>
          <a:xfrm>
            <a:off x="4898387" y="4875609"/>
            <a:ext cx="0" cy="1673467"/>
          </a:xfrm>
          <a:prstGeom prst="line">
            <a:avLst/>
          </a:prstGeom>
          <a:noFill/>
          <a:ln w="6350" cap="flat" cmpd="sng" algn="ctr">
            <a:solidFill>
              <a:srgbClr val="2A3083"/>
            </a:solidFill>
            <a:prstDash val="dashDot"/>
            <a:miter lim="800000"/>
          </a:ln>
          <a:effectLst/>
        </p:spPr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43EB826F-45A2-063A-6224-271658AB8168}"/>
              </a:ext>
            </a:extLst>
          </p:cNvPr>
          <p:cNvCxnSpPr>
            <a:cxnSpLocks/>
          </p:cNvCxnSpPr>
          <p:nvPr/>
        </p:nvCxnSpPr>
        <p:spPr>
          <a:xfrm>
            <a:off x="6173118" y="4875609"/>
            <a:ext cx="0" cy="1673467"/>
          </a:xfrm>
          <a:prstGeom prst="line">
            <a:avLst/>
          </a:prstGeom>
          <a:noFill/>
          <a:ln w="6350" cap="flat" cmpd="sng" algn="ctr">
            <a:solidFill>
              <a:srgbClr val="2A3083"/>
            </a:solidFill>
            <a:prstDash val="dashDot"/>
            <a:miter lim="800000"/>
          </a:ln>
          <a:effectLst/>
        </p:spPr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2CB5ACD4-8E63-905F-433C-B5D39BF015BC}"/>
              </a:ext>
            </a:extLst>
          </p:cNvPr>
          <p:cNvCxnSpPr>
            <a:cxnSpLocks/>
          </p:cNvCxnSpPr>
          <p:nvPr/>
        </p:nvCxnSpPr>
        <p:spPr>
          <a:xfrm>
            <a:off x="7213612" y="4875609"/>
            <a:ext cx="0" cy="1673467"/>
          </a:xfrm>
          <a:prstGeom prst="line">
            <a:avLst/>
          </a:prstGeom>
          <a:noFill/>
          <a:ln w="6350" cap="flat" cmpd="sng" algn="ctr">
            <a:solidFill>
              <a:srgbClr val="2A3083"/>
            </a:solidFill>
            <a:prstDash val="dashDot"/>
            <a:miter lim="800000"/>
          </a:ln>
          <a:effectLst/>
        </p:spPr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7D8247E2-3193-5776-45D6-3D0CC71CA297}"/>
              </a:ext>
            </a:extLst>
          </p:cNvPr>
          <p:cNvSpPr txBox="1"/>
          <p:nvPr/>
        </p:nvSpPr>
        <p:spPr>
          <a:xfrm>
            <a:off x="2301881" y="5739064"/>
            <a:ext cx="1538514" cy="584775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24255B"/>
                </a:solidFill>
                <a:effectLst/>
                <a:uLnTx/>
                <a:uFillTx/>
                <a:latin typeface="Poppins"/>
                <a:ea typeface="ＭＳ Ｐゴシック" charset="0"/>
                <a:cs typeface="+mn-cs"/>
              </a:rPr>
              <a:t>Data Processing</a:t>
            </a:r>
          </a:p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Poppins"/>
                <a:ea typeface="ＭＳ Ｐゴシック" charset="0"/>
                <a:cs typeface="+mn-cs"/>
              </a:rPr>
              <a:t>Processing Time : 4Hrs/day</a:t>
            </a:r>
          </a:p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Poppins"/>
                <a:ea typeface="ＭＳ Ｐゴシック" charset="0"/>
                <a:cs typeface="+mn-cs"/>
              </a:rPr>
              <a:t>Processing: Daily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298735DE-0BC6-3885-BA87-096ABA5E3F73}"/>
              </a:ext>
            </a:extLst>
          </p:cNvPr>
          <p:cNvSpPr/>
          <p:nvPr/>
        </p:nvSpPr>
        <p:spPr>
          <a:xfrm>
            <a:off x="210842" y="2873793"/>
            <a:ext cx="799311" cy="914400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cxnSp>
        <p:nvCxnSpPr>
          <p:cNvPr id="106" name="Elbow Connector 28">
            <a:extLst>
              <a:ext uri="{FF2B5EF4-FFF2-40B4-BE49-F238E27FC236}">
                <a16:creationId xmlns:a16="http://schemas.microsoft.com/office/drawing/2014/main" id="{C33AFDC0-428B-7173-0108-5C9B747A9D29}"/>
              </a:ext>
            </a:extLst>
          </p:cNvPr>
          <p:cNvCxnSpPr>
            <a:cxnSpLocks/>
            <a:stCxn id="105" idx="3"/>
          </p:cNvCxnSpPr>
          <p:nvPr/>
        </p:nvCxnSpPr>
        <p:spPr>
          <a:xfrm>
            <a:off x="1010153" y="3330993"/>
            <a:ext cx="471938" cy="346231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rgbClr val="2A308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8FDC60C2-3A2E-CCA2-4216-DB5233710262}"/>
              </a:ext>
            </a:extLst>
          </p:cNvPr>
          <p:cNvSpPr txBox="1"/>
          <p:nvPr/>
        </p:nvSpPr>
        <p:spPr>
          <a:xfrm>
            <a:off x="352394" y="4001195"/>
            <a:ext cx="83604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Arial" panose="020B0604020202020204" pitchFamily="34" charset="0"/>
              </a:rPr>
              <a:t>On Prem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A65DAC6-6251-461D-42B9-882EFD13DA01}"/>
              </a:ext>
            </a:extLst>
          </p:cNvPr>
          <p:cNvSpPr txBox="1"/>
          <p:nvPr/>
        </p:nvSpPr>
        <p:spPr>
          <a:xfrm>
            <a:off x="349345" y="2817190"/>
            <a:ext cx="83604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Arial" panose="020B0604020202020204" pitchFamily="34" charset="0"/>
              </a:rPr>
              <a:t>Cloud</a:t>
            </a:r>
          </a:p>
        </p:txBody>
      </p:sp>
      <p:cxnSp>
        <p:nvCxnSpPr>
          <p:cNvPr id="109" name="Elbow Connector 28">
            <a:extLst>
              <a:ext uri="{FF2B5EF4-FFF2-40B4-BE49-F238E27FC236}">
                <a16:creationId xmlns:a16="http://schemas.microsoft.com/office/drawing/2014/main" id="{93D7F419-A5BE-5ED6-7CFD-14E010FF0599}"/>
              </a:ext>
            </a:extLst>
          </p:cNvPr>
          <p:cNvCxnSpPr>
            <a:cxnSpLocks/>
          </p:cNvCxnSpPr>
          <p:nvPr/>
        </p:nvCxnSpPr>
        <p:spPr>
          <a:xfrm flipV="1">
            <a:off x="1094692" y="3826133"/>
            <a:ext cx="365760" cy="315526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rgbClr val="2A3083"/>
            </a:solidFill>
            <a:prstDash val="solid"/>
            <a:miter lim="800000"/>
            <a:tailEnd type="triangle"/>
          </a:ln>
          <a:effectLst/>
        </p:spPr>
      </p:cxnSp>
      <p:pic>
        <p:nvPicPr>
          <p:cNvPr id="110" name="Picture 4">
            <a:extLst>
              <a:ext uri="{FF2B5EF4-FFF2-40B4-BE49-F238E27FC236}">
                <a16:creationId xmlns:a16="http://schemas.microsoft.com/office/drawing/2014/main" id="{CBA30CDA-6E80-BC05-9239-1DDC85F02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7855" y="4962574"/>
            <a:ext cx="641025" cy="204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" name="Picture 6">
            <a:extLst>
              <a:ext uri="{FF2B5EF4-FFF2-40B4-BE49-F238E27FC236}">
                <a16:creationId xmlns:a16="http://schemas.microsoft.com/office/drawing/2014/main" id="{29E6173D-C2FB-CE87-14FF-2DD1D4DF3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7595" y="3017143"/>
            <a:ext cx="410028" cy="320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" name="Picture 8" descr="Introducing the Dun &amp; Bradstreet Data Cloud">
            <a:extLst>
              <a:ext uri="{FF2B5EF4-FFF2-40B4-BE49-F238E27FC236}">
                <a16:creationId xmlns:a16="http://schemas.microsoft.com/office/drawing/2014/main" id="{4190A139-B058-2D59-CD86-613C16C3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2446" y="3416604"/>
            <a:ext cx="708196" cy="315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1CD28D78-F818-5210-A583-BB2973F5452C}"/>
              </a:ext>
            </a:extLst>
          </p:cNvPr>
          <p:cNvCxnSpPr>
            <a:cxnSpLocks/>
          </p:cNvCxnSpPr>
          <p:nvPr/>
        </p:nvCxnSpPr>
        <p:spPr>
          <a:xfrm rot="5400000" flipV="1">
            <a:off x="496197" y="3918152"/>
            <a:ext cx="228600" cy="0"/>
          </a:xfrm>
          <a:prstGeom prst="straightConnector1">
            <a:avLst/>
          </a:prstGeom>
          <a:noFill/>
          <a:ln w="38100" cap="flat" cmpd="sng" algn="ctr">
            <a:solidFill>
              <a:srgbClr val="2A3083"/>
            </a:solidFill>
            <a:prstDash val="solid"/>
            <a:miter lim="800000"/>
            <a:tailEnd type="triangle"/>
          </a:ln>
          <a:effectLst/>
        </p:spPr>
      </p:cxnSp>
      <p:pic>
        <p:nvPicPr>
          <p:cNvPr id="114" name="Picture 2">
            <a:extLst>
              <a:ext uri="{FF2B5EF4-FFF2-40B4-BE49-F238E27FC236}">
                <a16:creationId xmlns:a16="http://schemas.microsoft.com/office/drawing/2014/main" id="{7E96E703-B059-0940-F508-3988AEDB49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1058" y="3052459"/>
            <a:ext cx="690014" cy="249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" name="Picture 2">
            <a:extLst>
              <a:ext uri="{FF2B5EF4-FFF2-40B4-BE49-F238E27FC236}">
                <a16:creationId xmlns:a16="http://schemas.microsoft.com/office/drawing/2014/main" id="{378F3239-11B6-8103-DF92-E85383F5B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1395" y="4233862"/>
            <a:ext cx="690014" cy="249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66BA4CCF-B89C-23DA-4E10-8ECCDBF47BE1}"/>
              </a:ext>
            </a:extLst>
          </p:cNvPr>
          <p:cNvSpPr txBox="1"/>
          <p:nvPr/>
        </p:nvSpPr>
        <p:spPr>
          <a:xfrm>
            <a:off x="3632094" y="4894804"/>
            <a:ext cx="132771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err="1">
                <a:ln>
                  <a:noFill/>
                </a:ln>
                <a:solidFill>
                  <a:srgbClr val="24255B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Denorm</a:t>
            </a: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24255B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 for ES:</a:t>
            </a:r>
          </a:p>
          <a:p>
            <a:pPr marL="171450" marR="0" lvl="0" indent="-17145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Backlog Summary</a:t>
            </a:r>
          </a:p>
          <a:p>
            <a:pPr marL="171450" marR="0" lvl="0" indent="-17145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Backlog Details</a:t>
            </a:r>
          </a:p>
          <a:p>
            <a:pPr marL="171450" marR="0" lvl="0" indent="-17145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Order Search</a:t>
            </a:r>
          </a:p>
          <a:p>
            <a:pPr marL="171450" marR="0" lvl="0" indent="-17145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Order Adjustment</a:t>
            </a:r>
          </a:p>
          <a:p>
            <a:pPr marL="0" marR="0" lvl="0" indent="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0" marR="0" lvl="0" indent="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24255B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Order </a:t>
            </a:r>
            <a:r>
              <a:rPr kumimoji="0" lang="en-US" sz="800" b="1" i="0" u="none" strike="noStrike" kern="0" cap="none" spc="0" normalizeH="0" baseline="0" noProof="0" err="1">
                <a:ln>
                  <a:noFill/>
                </a:ln>
                <a:solidFill>
                  <a:srgbClr val="24255B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Denorm</a:t>
            </a: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24255B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: </a:t>
            </a:r>
          </a:p>
          <a:p>
            <a:pPr marL="171450" marR="0" lvl="0" indent="-17145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Size : 45 GB</a:t>
            </a:r>
          </a:p>
          <a:p>
            <a:pPr marL="171450" marR="0" lvl="0" indent="-17145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Records: 2 billion</a:t>
            </a:r>
          </a:p>
          <a:p>
            <a:pPr marL="0" marR="0" lvl="0" indent="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0" marR="0" lvl="0" indent="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24255B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Backlog </a:t>
            </a:r>
            <a:r>
              <a:rPr kumimoji="0" lang="en-US" sz="800" b="1" i="0" u="none" strike="noStrike" kern="0" cap="none" spc="0" normalizeH="0" baseline="0" noProof="0" err="1">
                <a:ln>
                  <a:noFill/>
                </a:ln>
                <a:solidFill>
                  <a:srgbClr val="24255B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Denorm</a:t>
            </a: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24255B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:</a:t>
            </a:r>
          </a:p>
          <a:p>
            <a:pPr marL="171450" marR="0" lvl="0" indent="-17145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Size: 4 GB</a:t>
            </a:r>
          </a:p>
          <a:p>
            <a:pPr marL="171450" marR="0" lvl="0" indent="-171450" algn="l" defTabSz="674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Records: 160 million</a:t>
            </a:r>
          </a:p>
        </p:txBody>
      </p:sp>
      <p:pic>
        <p:nvPicPr>
          <p:cNvPr id="117" name="Graphic 116" descr="Database with solid fill">
            <a:extLst>
              <a:ext uri="{FF2B5EF4-FFF2-40B4-BE49-F238E27FC236}">
                <a16:creationId xmlns:a16="http://schemas.microsoft.com/office/drawing/2014/main" id="{F60FE8BD-3584-B19F-FC41-A3686B215B0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73683" y="4200819"/>
            <a:ext cx="463461" cy="463461"/>
          </a:xfrm>
          <a:prstGeom prst="rect">
            <a:avLst/>
          </a:prstGeom>
        </p:spPr>
      </p:pic>
      <p:pic>
        <p:nvPicPr>
          <p:cNvPr id="118" name="Graphic 117" descr="Database with solid fill">
            <a:extLst>
              <a:ext uri="{FF2B5EF4-FFF2-40B4-BE49-F238E27FC236}">
                <a16:creationId xmlns:a16="http://schemas.microsoft.com/office/drawing/2014/main" id="{3B70642B-3BF8-BDBC-4B60-133BE41FEDB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53169" y="3457146"/>
            <a:ext cx="463461" cy="463461"/>
          </a:xfrm>
          <a:prstGeom prst="rect">
            <a:avLst/>
          </a:prstGeom>
        </p:spPr>
      </p:pic>
      <p:sp>
        <p:nvSpPr>
          <p:cNvPr id="119" name="Rectangle 118">
            <a:extLst>
              <a:ext uri="{FF2B5EF4-FFF2-40B4-BE49-F238E27FC236}">
                <a16:creationId xmlns:a16="http://schemas.microsoft.com/office/drawing/2014/main" id="{1C74816E-E265-F9DD-E0D1-5FDAE52F938F}"/>
              </a:ext>
            </a:extLst>
          </p:cNvPr>
          <p:cNvSpPr/>
          <p:nvPr/>
        </p:nvSpPr>
        <p:spPr bwMode="auto">
          <a:xfrm>
            <a:off x="8586381" y="1512176"/>
            <a:ext cx="3487448" cy="1361617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1F7314B2-FC89-6D2A-7BD4-19388C449BCF}"/>
              </a:ext>
            </a:extLst>
          </p:cNvPr>
          <p:cNvGrpSpPr/>
          <p:nvPr/>
        </p:nvGrpSpPr>
        <p:grpSpPr>
          <a:xfrm>
            <a:off x="8344613" y="1151463"/>
            <a:ext cx="2979921" cy="658812"/>
            <a:chOff x="7555266" y="1214168"/>
            <a:chExt cx="2979921" cy="658812"/>
          </a:xfrm>
        </p:grpSpPr>
        <p:sp>
          <p:nvSpPr>
            <p:cNvPr id="121" name="Right Triangle 120">
              <a:extLst>
                <a:ext uri="{FF2B5EF4-FFF2-40B4-BE49-F238E27FC236}">
                  <a16:creationId xmlns:a16="http://schemas.microsoft.com/office/drawing/2014/main" id="{C4314340-DC6B-4939-1EE0-22F3C094796F}"/>
                </a:ext>
              </a:extLst>
            </p:cNvPr>
            <p:cNvSpPr/>
            <p:nvPr/>
          </p:nvSpPr>
          <p:spPr bwMode="auto">
            <a:xfrm>
              <a:off x="10287623" y="1224031"/>
              <a:ext cx="247564" cy="350848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" name="Right Triangle 121">
              <a:extLst>
                <a:ext uri="{FF2B5EF4-FFF2-40B4-BE49-F238E27FC236}">
                  <a16:creationId xmlns:a16="http://schemas.microsoft.com/office/drawing/2014/main" id="{29075DB2-72EC-7954-4EF0-C864BE3F6C51}"/>
                </a:ext>
              </a:extLst>
            </p:cNvPr>
            <p:cNvSpPr/>
            <p:nvPr/>
          </p:nvSpPr>
          <p:spPr bwMode="auto">
            <a:xfrm rot="10800000">
              <a:off x="7555266" y="1683704"/>
              <a:ext cx="247564" cy="189276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3FEF055F-65D3-E8E4-8B87-8A766FFCE3B7}"/>
                </a:ext>
              </a:extLst>
            </p:cNvPr>
            <p:cNvSpPr/>
            <p:nvPr/>
          </p:nvSpPr>
          <p:spPr bwMode="auto">
            <a:xfrm>
              <a:off x="7555266" y="1214168"/>
              <a:ext cx="2732357" cy="469537"/>
            </a:xfrm>
            <a:prstGeom prst="rect">
              <a:avLst/>
            </a:prstGeom>
            <a:solidFill>
              <a:srgbClr val="39C1BF"/>
            </a:solidFill>
            <a:ln w="9525">
              <a:noFill/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Technology involved:</a:t>
              </a:r>
            </a:p>
          </p:txBody>
        </p: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32DFA625-1F9F-6BEB-F151-F4DE0F40EE5E}"/>
              </a:ext>
            </a:extLst>
          </p:cNvPr>
          <p:cNvSpPr txBox="1"/>
          <p:nvPr/>
        </p:nvSpPr>
        <p:spPr>
          <a:xfrm>
            <a:off x="8662391" y="1764455"/>
            <a:ext cx="2888778" cy="8971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 pitchFamily="2" charset="77"/>
              </a:rPr>
              <a:t>Hadoop Tech stack ( Spark , Hive, Sqoop) , Oracle , Elastic search , MuleSoft, Angular , TD, Informatica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EA18F8AE-D5F3-522E-3A43-41281F06A6B9}"/>
              </a:ext>
            </a:extLst>
          </p:cNvPr>
          <p:cNvSpPr/>
          <p:nvPr/>
        </p:nvSpPr>
        <p:spPr bwMode="auto">
          <a:xfrm>
            <a:off x="8586381" y="3346624"/>
            <a:ext cx="3487448" cy="1361617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AE0AF18C-4CF0-5247-88EE-5BDC7634D570}"/>
              </a:ext>
            </a:extLst>
          </p:cNvPr>
          <p:cNvGrpSpPr/>
          <p:nvPr/>
        </p:nvGrpSpPr>
        <p:grpSpPr>
          <a:xfrm>
            <a:off x="8344613" y="2985911"/>
            <a:ext cx="2979921" cy="658812"/>
            <a:chOff x="7555266" y="1214168"/>
            <a:chExt cx="2979921" cy="658812"/>
          </a:xfrm>
        </p:grpSpPr>
        <p:sp>
          <p:nvSpPr>
            <p:cNvPr id="127" name="Right Triangle 126">
              <a:extLst>
                <a:ext uri="{FF2B5EF4-FFF2-40B4-BE49-F238E27FC236}">
                  <a16:creationId xmlns:a16="http://schemas.microsoft.com/office/drawing/2014/main" id="{06EFEDFA-4B85-DA41-36FF-F83C5D23FF2D}"/>
                </a:ext>
              </a:extLst>
            </p:cNvPr>
            <p:cNvSpPr/>
            <p:nvPr/>
          </p:nvSpPr>
          <p:spPr bwMode="auto">
            <a:xfrm>
              <a:off x="10287623" y="1224031"/>
              <a:ext cx="247564" cy="350848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" name="Right Triangle 127">
              <a:extLst>
                <a:ext uri="{FF2B5EF4-FFF2-40B4-BE49-F238E27FC236}">
                  <a16:creationId xmlns:a16="http://schemas.microsoft.com/office/drawing/2014/main" id="{90A42A2F-019F-E485-9E33-DBB9A476FB93}"/>
                </a:ext>
              </a:extLst>
            </p:cNvPr>
            <p:cNvSpPr/>
            <p:nvPr/>
          </p:nvSpPr>
          <p:spPr bwMode="auto">
            <a:xfrm rot="10800000">
              <a:off x="7555266" y="1683704"/>
              <a:ext cx="247564" cy="189276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5699D31E-D159-F014-05BA-9D984F540DF6}"/>
                </a:ext>
              </a:extLst>
            </p:cNvPr>
            <p:cNvSpPr/>
            <p:nvPr/>
          </p:nvSpPr>
          <p:spPr bwMode="auto">
            <a:xfrm>
              <a:off x="7555266" y="1214168"/>
              <a:ext cx="2732357" cy="469537"/>
            </a:xfrm>
            <a:prstGeom prst="rect">
              <a:avLst/>
            </a:prstGeom>
            <a:solidFill>
              <a:srgbClr val="39C1BF"/>
            </a:solidFill>
            <a:ln w="9525">
              <a:noFill/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Scope:</a:t>
              </a:r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A51BDC0E-C877-B577-18BA-2EFBDB580A8F}"/>
              </a:ext>
            </a:extLst>
          </p:cNvPr>
          <p:cNvSpPr txBox="1"/>
          <p:nvPr/>
        </p:nvSpPr>
        <p:spPr>
          <a:xfrm>
            <a:off x="8662391" y="3472419"/>
            <a:ext cx="3229110" cy="1174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 pitchFamily="2" charset="77"/>
              </a:rPr>
              <a:t>Number of users : 17000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 pitchFamily="2" charset="77"/>
              </a:rPr>
              <a:t>System Architecture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 pitchFamily="2" charset="77"/>
              </a:rPr>
              <a:t>System design/development/QA 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 pitchFamily="2" charset="77"/>
              </a:rPr>
              <a:t>Deployment / Maintenance / Support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ADAE1E7B-D49F-1A05-5FE3-E59C4AE145B8}"/>
              </a:ext>
            </a:extLst>
          </p:cNvPr>
          <p:cNvSpPr/>
          <p:nvPr/>
        </p:nvSpPr>
        <p:spPr bwMode="auto">
          <a:xfrm>
            <a:off x="8586381" y="5180685"/>
            <a:ext cx="3487448" cy="1361617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E910DF5C-9D15-8894-EF1B-43D06631DE68}"/>
              </a:ext>
            </a:extLst>
          </p:cNvPr>
          <p:cNvGrpSpPr/>
          <p:nvPr/>
        </p:nvGrpSpPr>
        <p:grpSpPr>
          <a:xfrm>
            <a:off x="8344613" y="4819972"/>
            <a:ext cx="2979921" cy="658812"/>
            <a:chOff x="7555266" y="1214168"/>
            <a:chExt cx="2979921" cy="658812"/>
          </a:xfrm>
        </p:grpSpPr>
        <p:sp>
          <p:nvSpPr>
            <p:cNvPr id="133" name="Right Triangle 132">
              <a:extLst>
                <a:ext uri="{FF2B5EF4-FFF2-40B4-BE49-F238E27FC236}">
                  <a16:creationId xmlns:a16="http://schemas.microsoft.com/office/drawing/2014/main" id="{7B15FB7E-8198-2678-B34E-D375B891AC82}"/>
                </a:ext>
              </a:extLst>
            </p:cNvPr>
            <p:cNvSpPr/>
            <p:nvPr/>
          </p:nvSpPr>
          <p:spPr bwMode="auto">
            <a:xfrm>
              <a:off x="10287623" y="1224031"/>
              <a:ext cx="247564" cy="350848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" name="Right Triangle 133">
              <a:extLst>
                <a:ext uri="{FF2B5EF4-FFF2-40B4-BE49-F238E27FC236}">
                  <a16:creationId xmlns:a16="http://schemas.microsoft.com/office/drawing/2014/main" id="{D4D98CB1-1C44-39DB-5038-01ED083A136A}"/>
                </a:ext>
              </a:extLst>
            </p:cNvPr>
            <p:cNvSpPr/>
            <p:nvPr/>
          </p:nvSpPr>
          <p:spPr bwMode="auto">
            <a:xfrm rot="10800000">
              <a:off x="7555266" y="1683704"/>
              <a:ext cx="247564" cy="189276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246B64B7-DA12-E36F-8DD5-043557DCE5A3}"/>
                </a:ext>
              </a:extLst>
            </p:cNvPr>
            <p:cNvSpPr/>
            <p:nvPr/>
          </p:nvSpPr>
          <p:spPr bwMode="auto">
            <a:xfrm>
              <a:off x="7555266" y="1214168"/>
              <a:ext cx="2732357" cy="469537"/>
            </a:xfrm>
            <a:prstGeom prst="rect">
              <a:avLst/>
            </a:prstGeom>
            <a:solidFill>
              <a:srgbClr val="39C1BF"/>
            </a:solidFill>
            <a:ln w="9525">
              <a:noFill/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Engagement structure:</a:t>
              </a:r>
            </a:p>
          </p:txBody>
        </p:sp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0C075C54-14C5-964E-0810-23C099BE7006}"/>
              </a:ext>
            </a:extLst>
          </p:cNvPr>
          <p:cNvSpPr txBox="1"/>
          <p:nvPr/>
        </p:nvSpPr>
        <p:spPr>
          <a:xfrm>
            <a:off x="8662391" y="5306480"/>
            <a:ext cx="3229110" cy="1174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 pitchFamily="2" charset="77"/>
              </a:rPr>
              <a:t>Team : Onsite : 3 , Offshore : 15 (steady state)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 pitchFamily="2" charset="77"/>
              </a:rPr>
              <a:t>Duration : 12 month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 pitchFamily="2" charset="77"/>
              </a:rPr>
              <a:t>Model : DevOps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