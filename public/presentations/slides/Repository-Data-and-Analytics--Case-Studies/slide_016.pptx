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17B33F41-F667-85C6-2A6F-3573E84BAEB7}"/>
              </a:ext>
            </a:extLst>
          </p:cNvPr>
          <p:cNvSpPr>
            <a:spLocks noGrp="1"/>
          </p:cNvSpPr>
          <p:nvPr>
            <p:ph type="title"/>
          </p:nvPr>
        </p:nvSpPr>
        <p:spPr>
          <a:xfrm>
            <a:off x="592668" y="257992"/>
            <a:ext cx="4600434" cy="559260"/>
          </a:xfrm>
        </p:spPr>
        <p:txBody>
          <a:bodyPr>
            <a:noAutofit/>
          </a:bodyPr>
          <a:lstStyle/>
          <a:p>
            <a:r>
              <a:rPr kumimoji="0" lang="en-US" b="1" i="0" u="none" strike="noStrike" kern="1200" cap="none" spc="0" normalizeH="0" baseline="0" noProof="0" dirty="0">
                <a:ln>
                  <a:noFill/>
                </a:ln>
                <a:effectLst/>
                <a:uLnTx/>
                <a:uFillTx/>
                <a:ea typeface="+mj-ea"/>
                <a:cs typeface="+mj-cs"/>
              </a:rPr>
              <a:t>Cisco -PIVOT</a:t>
            </a:r>
          </a:p>
        </p:txBody>
      </p:sp>
      <p:sp>
        <p:nvSpPr>
          <p:cNvPr id="3" name="Rectangle 2">
            <a:extLst>
              <a:ext uri="{FF2B5EF4-FFF2-40B4-BE49-F238E27FC236}">
                <a16:creationId xmlns:a16="http://schemas.microsoft.com/office/drawing/2014/main" id="{BF8402D9-B384-EE58-448C-978051FA8D1F}"/>
              </a:ext>
            </a:extLst>
          </p:cNvPr>
          <p:cNvSpPr/>
          <p:nvPr/>
        </p:nvSpPr>
        <p:spPr>
          <a:xfrm>
            <a:off x="518980" y="1205555"/>
            <a:ext cx="7111893" cy="956142"/>
          </a:xfrm>
          <a:prstGeom prst="rect">
            <a:avLst/>
          </a:prstGeom>
          <a:solidFill>
            <a:srgbClr val="002E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705F082F-F140-6B6C-9827-D1A7BF1CEF02}"/>
              </a:ext>
            </a:extLst>
          </p:cNvPr>
          <p:cNvSpPr txBox="1"/>
          <p:nvPr/>
        </p:nvSpPr>
        <p:spPr>
          <a:xfrm>
            <a:off x="518980" y="1287363"/>
            <a:ext cx="7111893" cy="79252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Poppins "/>
                <a:ea typeface="+mn-ea"/>
                <a:cs typeface="Calibri" panose="020F0502020204030204" pitchFamily="34" charset="0"/>
              </a:rPr>
              <a:t>Business Context: </a:t>
            </a:r>
            <a:r>
              <a:rPr kumimoji="0" lang="en-US" sz="1050" b="0" i="0" u="none" strike="noStrike" kern="1200" cap="none" spc="0" normalizeH="0" baseline="0" noProof="0" dirty="0">
                <a:ln>
                  <a:noFill/>
                </a:ln>
                <a:solidFill>
                  <a:prstClr val="white"/>
                </a:solidFill>
                <a:effectLst/>
                <a:uLnTx/>
                <a:uFillTx/>
                <a:latin typeface="Poppins "/>
                <a:ea typeface="+mn-ea"/>
                <a:cs typeface="+mn-cs"/>
              </a:rPr>
              <a:t>Digital transformation of Cisco’s Internal channel analytics platform (Tableau based live reporting) and grow stakeholder adoption globally.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white"/>
                </a:solidFill>
                <a:effectLst/>
                <a:uLnTx/>
                <a:uFillTx/>
                <a:latin typeface="Poppins "/>
                <a:ea typeface="+mn-ea"/>
                <a:cs typeface="+mn-cs"/>
              </a:rPr>
              <a:t>Implemented project management rigor and adopted Agile Scrum methodology to drive delivery or features and new datasets while providing transparency to Stakeholders, IT and Management.</a:t>
            </a:r>
          </a:p>
        </p:txBody>
      </p:sp>
      <p:sp>
        <p:nvSpPr>
          <p:cNvPr id="6" name="Rectangle 5">
            <a:extLst>
              <a:ext uri="{FF2B5EF4-FFF2-40B4-BE49-F238E27FC236}">
                <a16:creationId xmlns:a16="http://schemas.microsoft.com/office/drawing/2014/main" id="{592E148D-0166-6312-D1BE-35660DB70603}"/>
              </a:ext>
            </a:extLst>
          </p:cNvPr>
          <p:cNvSpPr/>
          <p:nvPr/>
        </p:nvSpPr>
        <p:spPr bwMode="auto">
          <a:xfrm>
            <a:off x="8026641" y="1566267"/>
            <a:ext cx="3913129" cy="2170230"/>
          </a:xfrm>
          <a:prstGeom prst="rect">
            <a:avLst/>
          </a:prstGeom>
          <a:solidFill>
            <a:schemeClr val="bg1">
              <a:lumMod val="95000"/>
            </a:schemeClr>
          </a:solidFill>
          <a:ln w="9525">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id="{B34AE2BE-E536-A9DF-666F-7F3B22864BA2}"/>
              </a:ext>
            </a:extLst>
          </p:cNvPr>
          <p:cNvGrpSpPr/>
          <p:nvPr/>
        </p:nvGrpSpPr>
        <p:grpSpPr>
          <a:xfrm>
            <a:off x="7784875" y="1205555"/>
            <a:ext cx="2979921" cy="658812"/>
            <a:chOff x="7555266" y="1214168"/>
            <a:chExt cx="2979921" cy="658812"/>
          </a:xfrm>
        </p:grpSpPr>
        <p:sp>
          <p:nvSpPr>
            <p:cNvPr id="8" name="Right Triangle 7">
              <a:extLst>
                <a:ext uri="{FF2B5EF4-FFF2-40B4-BE49-F238E27FC236}">
                  <a16:creationId xmlns:a16="http://schemas.microsoft.com/office/drawing/2014/main" id="{E8C9E3BE-CE73-965C-1F5A-8DE5259DBD16}"/>
                </a:ext>
              </a:extLst>
            </p:cNvPr>
            <p:cNvSpPr/>
            <p:nvPr/>
          </p:nvSpPr>
          <p:spPr bwMode="auto">
            <a:xfrm>
              <a:off x="10287623" y="1224031"/>
              <a:ext cx="247564" cy="350848"/>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Right Triangle 8">
              <a:extLst>
                <a:ext uri="{FF2B5EF4-FFF2-40B4-BE49-F238E27FC236}">
                  <a16:creationId xmlns:a16="http://schemas.microsoft.com/office/drawing/2014/main" id="{C3A6A9FE-CFB6-CCCB-2DB8-322863F54162}"/>
                </a:ext>
              </a:extLst>
            </p:cNvPr>
            <p:cNvSpPr/>
            <p:nvPr/>
          </p:nvSpPr>
          <p:spPr bwMode="auto">
            <a:xfrm rot="10800000">
              <a:off x="7555266" y="1683704"/>
              <a:ext cx="247564" cy="189276"/>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E464FB2A-332E-D147-C025-0D442B7A7A92}"/>
                </a:ext>
              </a:extLst>
            </p:cNvPr>
            <p:cNvSpPr/>
            <p:nvPr/>
          </p:nvSpPr>
          <p:spPr bwMode="auto">
            <a:xfrm>
              <a:off x="7555266" y="1214168"/>
              <a:ext cx="2732357" cy="469537"/>
            </a:xfrm>
            <a:prstGeom prst="rect">
              <a:avLst/>
            </a:prstGeom>
            <a:solidFill>
              <a:srgbClr val="39C1BF"/>
            </a:solidFill>
            <a:ln w="9525">
              <a:noFill/>
              <a:round/>
              <a:headEnd/>
              <a:tailEnd/>
            </a:ln>
            <a:effectLst>
              <a:outerShdw blurRad="50800" dist="38100" dir="5400000" algn="t"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Poppins"/>
                  <a:ea typeface="+mn-ea"/>
                  <a:cs typeface="+mn-cs"/>
                </a:rPr>
                <a:t> VALUE DELIVERED</a:t>
              </a:r>
              <a:endParaRPr kumimoji="0" lang="en-US" sz="1600" b="1" i="0" u="none" strike="noStrike" kern="1200" cap="none" spc="0" normalizeH="0" baseline="0" noProof="0" dirty="0">
                <a:ln>
                  <a:noFill/>
                </a:ln>
                <a:solidFill>
                  <a:prstClr val="white"/>
                </a:solidFill>
                <a:effectLst/>
                <a:uLnTx/>
                <a:uFillTx/>
                <a:latin typeface="Poppins"/>
                <a:ea typeface="+mn-ea"/>
                <a:cs typeface="+mn-cs"/>
              </a:endParaRPr>
            </a:p>
          </p:txBody>
        </p:sp>
      </p:grpSp>
      <p:sp>
        <p:nvSpPr>
          <p:cNvPr id="11" name="TextBox 10">
            <a:extLst>
              <a:ext uri="{FF2B5EF4-FFF2-40B4-BE49-F238E27FC236}">
                <a16:creationId xmlns:a16="http://schemas.microsoft.com/office/drawing/2014/main" id="{E2ED7081-ECBF-2D2F-1792-F72E7D2A4163}"/>
              </a:ext>
            </a:extLst>
          </p:cNvPr>
          <p:cNvSpPr txBox="1"/>
          <p:nvPr/>
        </p:nvSpPr>
        <p:spPr>
          <a:xfrm>
            <a:off x="8723850" y="1841257"/>
            <a:ext cx="3215919" cy="1723036"/>
          </a:xfrm>
          <a:prstGeom prst="rect">
            <a:avLst/>
          </a:prstGeom>
          <a:noFill/>
        </p:spPr>
        <p:txBody>
          <a:bodyPr wrap="square" lIns="91440" tIns="45720" rIns="91440" bIns="45720" rtlCol="0" anchor="t">
            <a:spAutoFit/>
          </a:bodyPr>
          <a:lstStyle/>
          <a:p>
            <a:pPr marL="0" marR="0" lvl="0" indent="0" algn="l" defTabSz="1218987" rtl="0" eaLnBrk="1" fontAlgn="auto" latinLnBrk="0" hangingPunct="0">
              <a:lnSpc>
                <a:spcPct val="80000"/>
              </a:lnSpc>
              <a:spcBef>
                <a:spcPts val="0"/>
              </a:spcBef>
              <a:spcAft>
                <a:spcPts val="0"/>
              </a:spcAft>
              <a:buClrTx/>
              <a:buSzPct val="60000"/>
              <a:buFontTx/>
              <a:buNone/>
              <a:tabLst/>
              <a:defRPr/>
            </a:pPr>
            <a:r>
              <a:rPr kumimoji="0" lang="en-US" sz="1100" b="0" i="0" u="none" strike="noStrike" kern="0" cap="none" spc="0" normalizeH="0" baseline="0" noProof="0">
                <a:ln>
                  <a:noFill/>
                </a:ln>
                <a:solidFill>
                  <a:prstClr val="black"/>
                </a:solidFill>
                <a:effectLst/>
                <a:uLnTx/>
                <a:uFillTx/>
                <a:latin typeface="Poppins "/>
                <a:ea typeface="ＭＳ Ｐゴシック"/>
                <a:cs typeface="Helvetica"/>
                <a:sym typeface="Helvetica"/>
              </a:rPr>
              <a:t>100% modeling and design achieved in the Partner system.</a:t>
            </a:r>
          </a:p>
          <a:p>
            <a:pPr marL="0" marR="0" lvl="0" indent="0" algn="l" defTabSz="1218987" rtl="0" eaLnBrk="1" fontAlgn="auto" latinLnBrk="0" hangingPunct="0">
              <a:lnSpc>
                <a:spcPct val="80000"/>
              </a:lnSpc>
              <a:spcBef>
                <a:spcPts val="0"/>
              </a:spcBef>
              <a:spcAft>
                <a:spcPts val="0"/>
              </a:spcAft>
              <a:buClrTx/>
              <a:buSzPct val="60000"/>
              <a:buFontTx/>
              <a:buNone/>
              <a:tabLst/>
              <a:defRPr/>
            </a:pPr>
            <a:endParaRPr kumimoji="0" lang="en-US" sz="1100" b="0" i="0" u="none" strike="noStrike" kern="0" cap="none" spc="0" normalizeH="0" baseline="0" noProof="0">
              <a:ln>
                <a:noFill/>
              </a:ln>
              <a:solidFill>
                <a:prstClr val="black"/>
              </a:solidFill>
              <a:effectLst/>
              <a:uLnTx/>
              <a:uFillTx/>
              <a:latin typeface="Poppins "/>
              <a:ea typeface="ＭＳ Ｐゴシック"/>
              <a:cs typeface="Helvetica"/>
              <a:sym typeface="Helvetica"/>
            </a:endParaRPr>
          </a:p>
          <a:p>
            <a:pPr marL="0" marR="0" lvl="0" indent="0" algn="l" defTabSz="1218987" rtl="0" eaLnBrk="1" fontAlgn="auto" latinLnBrk="0" hangingPunct="0">
              <a:lnSpc>
                <a:spcPct val="80000"/>
              </a:lnSpc>
              <a:spcBef>
                <a:spcPts val="0"/>
              </a:spcBef>
              <a:spcAft>
                <a:spcPts val="0"/>
              </a:spcAft>
              <a:buClrTx/>
              <a:buSzPct val="60000"/>
              <a:buFontTx/>
              <a:buNone/>
              <a:tabLst/>
              <a:defRPr/>
            </a:pPr>
            <a:r>
              <a:rPr kumimoji="0" lang="en-US" sz="1100" b="0" i="0" u="none" strike="noStrike" kern="0" cap="none" spc="0" normalizeH="0" baseline="0" noProof="0">
                <a:ln>
                  <a:noFill/>
                </a:ln>
                <a:solidFill>
                  <a:prstClr val="black"/>
                </a:solidFill>
                <a:effectLst/>
                <a:uLnTx/>
                <a:uFillTx/>
                <a:latin typeface="Poppins "/>
                <a:ea typeface="ＭＳ Ｐゴシック"/>
                <a:cs typeface="Helvetica"/>
                <a:sym typeface="Helvetica"/>
              </a:rPr>
              <a:t>Incorporation of numerous metrics for comprehensive analysis.</a:t>
            </a:r>
          </a:p>
          <a:p>
            <a:pPr marL="0" marR="0" lvl="0" indent="0" algn="l" defTabSz="1218987" rtl="0" eaLnBrk="1" fontAlgn="auto" latinLnBrk="0" hangingPunct="0">
              <a:lnSpc>
                <a:spcPct val="80000"/>
              </a:lnSpc>
              <a:spcBef>
                <a:spcPts val="0"/>
              </a:spcBef>
              <a:spcAft>
                <a:spcPts val="0"/>
              </a:spcAft>
              <a:buClrTx/>
              <a:buSzPct val="60000"/>
              <a:buFontTx/>
              <a:buNone/>
              <a:tabLst/>
              <a:defRPr/>
            </a:pPr>
            <a:endParaRPr kumimoji="0" lang="en-US" sz="1100" b="0" i="0" u="none" strike="noStrike" kern="0" cap="none" spc="0" normalizeH="0" baseline="0" noProof="0">
              <a:ln>
                <a:noFill/>
              </a:ln>
              <a:solidFill>
                <a:prstClr val="black"/>
              </a:solidFill>
              <a:effectLst/>
              <a:uLnTx/>
              <a:uFillTx/>
              <a:latin typeface="Poppins "/>
              <a:ea typeface="ＭＳ Ｐゴシック"/>
              <a:cs typeface="Helvetica"/>
              <a:sym typeface="Helvetica"/>
            </a:endParaRPr>
          </a:p>
          <a:p>
            <a:pPr marL="0" marR="0" lvl="0" indent="0" algn="l" defTabSz="1218987" rtl="0" eaLnBrk="1" fontAlgn="auto" latinLnBrk="0" hangingPunct="0">
              <a:lnSpc>
                <a:spcPct val="80000"/>
              </a:lnSpc>
              <a:spcBef>
                <a:spcPts val="0"/>
              </a:spcBef>
              <a:spcAft>
                <a:spcPts val="0"/>
              </a:spcAft>
              <a:buClrTx/>
              <a:buSzPct val="60000"/>
              <a:buFontTx/>
              <a:buNone/>
              <a:tabLst/>
              <a:defRPr/>
            </a:pPr>
            <a:r>
              <a:rPr kumimoji="0" lang="en-US" sz="1100" b="0" i="0" u="none" strike="noStrike" kern="0" cap="none" spc="0" normalizeH="0" baseline="0" noProof="0">
                <a:ln>
                  <a:noFill/>
                </a:ln>
                <a:solidFill>
                  <a:prstClr val="black"/>
                </a:solidFill>
                <a:effectLst/>
                <a:uLnTx/>
                <a:uFillTx/>
                <a:latin typeface="Poppins "/>
                <a:ea typeface="ＭＳ Ｐゴシック"/>
                <a:cs typeface="Helvetica"/>
                <a:sym typeface="Helvetica"/>
              </a:rPr>
              <a:t>Regular release of approximately 10-15 tasks per month and addressed 5 to 10 problem statements for end users.</a:t>
            </a:r>
          </a:p>
          <a:p>
            <a:pPr marL="0" marR="0" lvl="0" indent="0" algn="l" defTabSz="1218987" rtl="0" eaLnBrk="1" fontAlgn="auto" latinLnBrk="0" hangingPunct="0">
              <a:lnSpc>
                <a:spcPct val="80000"/>
              </a:lnSpc>
              <a:spcBef>
                <a:spcPts val="0"/>
              </a:spcBef>
              <a:spcAft>
                <a:spcPts val="0"/>
              </a:spcAft>
              <a:buClrTx/>
              <a:buSzPct val="60000"/>
              <a:buFontTx/>
              <a:buNone/>
              <a:tabLst/>
              <a:defRPr/>
            </a:pPr>
            <a:endParaRPr kumimoji="0" lang="en-US" sz="1100" b="0" i="0" u="none" strike="noStrike" kern="0" cap="none" spc="0" normalizeH="0" baseline="0" noProof="0">
              <a:ln>
                <a:noFill/>
              </a:ln>
              <a:solidFill>
                <a:prstClr val="black"/>
              </a:solidFill>
              <a:effectLst/>
              <a:uLnTx/>
              <a:uFillTx/>
              <a:latin typeface="Poppins "/>
              <a:ea typeface="ＭＳ Ｐゴシック"/>
              <a:cs typeface="Helvetica"/>
              <a:sym typeface="Helvetica"/>
            </a:endParaRPr>
          </a:p>
          <a:p>
            <a:pPr marL="0" marR="0" lvl="0" indent="0" algn="l" defTabSz="1218987" rtl="0" eaLnBrk="1" fontAlgn="auto" latinLnBrk="0" hangingPunct="0">
              <a:lnSpc>
                <a:spcPct val="80000"/>
              </a:lnSpc>
              <a:spcBef>
                <a:spcPts val="0"/>
              </a:spcBef>
              <a:spcAft>
                <a:spcPts val="0"/>
              </a:spcAft>
              <a:buClrTx/>
              <a:buSzPct val="60000"/>
              <a:buFontTx/>
              <a:buNone/>
              <a:tabLst/>
              <a:defRPr/>
            </a:pPr>
            <a:r>
              <a:rPr kumimoji="0" lang="en-US" sz="1100" b="0" i="0" u="none" strike="noStrike" kern="0" cap="none" spc="0" normalizeH="0" baseline="0" noProof="0">
                <a:ln>
                  <a:noFill/>
                </a:ln>
                <a:solidFill>
                  <a:prstClr val="black"/>
                </a:solidFill>
                <a:effectLst/>
                <a:uLnTx/>
                <a:uFillTx/>
                <a:latin typeface="Poppins "/>
                <a:ea typeface="ＭＳ Ｐゴシック"/>
                <a:cs typeface="Helvetica"/>
                <a:sym typeface="Helvetica"/>
              </a:rPr>
              <a:t>Continuous delivery of new features and improvements.</a:t>
            </a:r>
            <a:endParaRPr kumimoji="0" lang="en-US" sz="1100" b="0" i="0" u="none" strike="noStrike" kern="0" cap="none" spc="0" normalizeH="0" baseline="0" noProof="0" dirty="0">
              <a:ln>
                <a:noFill/>
              </a:ln>
              <a:solidFill>
                <a:prstClr val="black"/>
              </a:solidFill>
              <a:effectLst/>
              <a:uLnTx/>
              <a:uFillTx/>
              <a:latin typeface="Poppins "/>
              <a:ea typeface="ＭＳ Ｐゴシック"/>
              <a:cs typeface="Helvetica"/>
              <a:sym typeface="Helvetica"/>
            </a:endParaRPr>
          </a:p>
        </p:txBody>
      </p:sp>
      <p:sp>
        <p:nvSpPr>
          <p:cNvPr id="12" name="Rectangle 11">
            <a:extLst>
              <a:ext uri="{FF2B5EF4-FFF2-40B4-BE49-F238E27FC236}">
                <a16:creationId xmlns:a16="http://schemas.microsoft.com/office/drawing/2014/main" id="{DBCCA228-D5A5-3545-C40F-D528498CC984}"/>
              </a:ext>
            </a:extLst>
          </p:cNvPr>
          <p:cNvSpPr/>
          <p:nvPr/>
        </p:nvSpPr>
        <p:spPr bwMode="auto">
          <a:xfrm>
            <a:off x="8026640" y="4274105"/>
            <a:ext cx="3913129" cy="1721027"/>
          </a:xfrm>
          <a:prstGeom prst="rect">
            <a:avLst/>
          </a:prstGeom>
          <a:solidFill>
            <a:schemeClr val="bg1">
              <a:lumMod val="95000"/>
            </a:schemeClr>
          </a:solidFill>
          <a:ln w="9525">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3" name="Group 12">
            <a:extLst>
              <a:ext uri="{FF2B5EF4-FFF2-40B4-BE49-F238E27FC236}">
                <a16:creationId xmlns:a16="http://schemas.microsoft.com/office/drawing/2014/main" id="{4C72ADC4-41A1-6D45-E6B5-66957286870C}"/>
              </a:ext>
            </a:extLst>
          </p:cNvPr>
          <p:cNvGrpSpPr/>
          <p:nvPr/>
        </p:nvGrpSpPr>
        <p:grpSpPr>
          <a:xfrm>
            <a:off x="7784874" y="3913394"/>
            <a:ext cx="2979921" cy="658812"/>
            <a:chOff x="7555266" y="1214168"/>
            <a:chExt cx="2979921" cy="658812"/>
          </a:xfrm>
        </p:grpSpPr>
        <p:sp>
          <p:nvSpPr>
            <p:cNvPr id="14" name="Right Triangle 13">
              <a:extLst>
                <a:ext uri="{FF2B5EF4-FFF2-40B4-BE49-F238E27FC236}">
                  <a16:creationId xmlns:a16="http://schemas.microsoft.com/office/drawing/2014/main" id="{5205685E-4F3B-E805-02D1-B986E271BC4F}"/>
                </a:ext>
              </a:extLst>
            </p:cNvPr>
            <p:cNvSpPr/>
            <p:nvPr/>
          </p:nvSpPr>
          <p:spPr bwMode="auto">
            <a:xfrm>
              <a:off x="10287623" y="1224031"/>
              <a:ext cx="247564" cy="350848"/>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Right Triangle 14">
              <a:extLst>
                <a:ext uri="{FF2B5EF4-FFF2-40B4-BE49-F238E27FC236}">
                  <a16:creationId xmlns:a16="http://schemas.microsoft.com/office/drawing/2014/main" id="{1EDE7A0A-EB58-7D29-7FAE-F1CF6C44F6D3}"/>
                </a:ext>
              </a:extLst>
            </p:cNvPr>
            <p:cNvSpPr/>
            <p:nvPr/>
          </p:nvSpPr>
          <p:spPr bwMode="auto">
            <a:xfrm rot="10800000">
              <a:off x="7555266" y="1683704"/>
              <a:ext cx="247564" cy="189276"/>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7A27D2DD-C7C3-D438-43BF-817DA9A5BE2E}"/>
                </a:ext>
              </a:extLst>
            </p:cNvPr>
            <p:cNvSpPr/>
            <p:nvPr/>
          </p:nvSpPr>
          <p:spPr bwMode="auto">
            <a:xfrm>
              <a:off x="7555266" y="1214168"/>
              <a:ext cx="2732357" cy="469537"/>
            </a:xfrm>
            <a:prstGeom prst="rect">
              <a:avLst/>
            </a:prstGeom>
            <a:solidFill>
              <a:srgbClr val="39C1BF"/>
            </a:solidFill>
            <a:ln w="9525">
              <a:noFill/>
              <a:round/>
              <a:headEnd/>
              <a:tailEnd/>
            </a:ln>
            <a:effectLst>
              <a:outerShdw blurRad="50800" dist="38100" dir="5400000" algn="t"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Poppins "/>
                  <a:ea typeface="+mn-ea"/>
                  <a:cs typeface="+mn-cs"/>
                </a:rPr>
                <a:t>TOOLS UTILIZED </a:t>
              </a:r>
            </a:p>
          </p:txBody>
        </p:sp>
      </p:grpSp>
      <p:sp>
        <p:nvSpPr>
          <p:cNvPr id="17" name="Rectangle 16">
            <a:extLst>
              <a:ext uri="{FF2B5EF4-FFF2-40B4-BE49-F238E27FC236}">
                <a16:creationId xmlns:a16="http://schemas.microsoft.com/office/drawing/2014/main" id="{C230EEC2-230B-3772-9D81-74B5F5DD09A4}"/>
              </a:ext>
            </a:extLst>
          </p:cNvPr>
          <p:cNvSpPr/>
          <p:nvPr/>
        </p:nvSpPr>
        <p:spPr>
          <a:xfrm>
            <a:off x="495544" y="2941660"/>
            <a:ext cx="7135329" cy="3053472"/>
          </a:xfrm>
          <a:prstGeom prst="rect">
            <a:avLst/>
          </a:prstGeom>
          <a:solidFill>
            <a:srgbClr val="F1F4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817EA096-A01D-C578-EAA0-B0028D643B5C}"/>
              </a:ext>
            </a:extLst>
          </p:cNvPr>
          <p:cNvSpPr txBox="1"/>
          <p:nvPr/>
        </p:nvSpPr>
        <p:spPr>
          <a:xfrm>
            <a:off x="501006" y="3001478"/>
            <a:ext cx="6918718" cy="2721771"/>
          </a:xfrm>
          <a:prstGeom prst="rect">
            <a:avLst/>
          </a:prstGeom>
          <a:noFill/>
        </p:spPr>
        <p:txBody>
          <a:bodyPr wrap="square">
            <a:spAutoFit/>
          </a:bodyPr>
          <a:lstStyle/>
          <a:p>
            <a:pPr marL="285750" marR="0" lvl="0" indent="-285750" algn="l" defTabSz="914400" rtl="0" eaLnBrk="1" fontAlgn="auto" latinLnBrk="0" hangingPunct="1">
              <a:lnSpc>
                <a:spcPct val="120000"/>
              </a:lnSpc>
              <a:spcBef>
                <a:spcPts val="0"/>
              </a:spcBef>
              <a:spcAft>
                <a:spcPts val="0"/>
              </a:spcAft>
              <a:buClrTx/>
              <a:buSzTx/>
              <a:buFont typeface="Wingdings" panose="05000000000000000000" pitchFamily="2" charset="2"/>
              <a:buChar char="Ø"/>
              <a:tabLst/>
              <a:defRPr/>
            </a:pPr>
            <a:r>
              <a:rPr kumimoji="0" lang="en-US" sz="1100" b="0" i="0" u="none" strike="noStrike" kern="1200" cap="none" spc="0" normalizeH="0" baseline="0" noProof="0" dirty="0">
                <a:ln>
                  <a:noFill/>
                </a:ln>
                <a:solidFill>
                  <a:prstClr val="black"/>
                </a:solidFill>
                <a:effectLst/>
                <a:uLnTx/>
                <a:uFillTx/>
                <a:latin typeface="Poppins"/>
                <a:ea typeface="+mn-ea"/>
                <a:cs typeface="+mn-cs"/>
              </a:rPr>
              <a:t>Implemented database system capable of migrating data from various heterogeneous source systems. This migration was accomplished using the BusinessObjects Data Services (BODS) platform, which facilitated data integration, data quality management, data profiling, and data processing.</a:t>
            </a:r>
          </a:p>
          <a:p>
            <a:pPr marL="285750" marR="0" lvl="0" indent="-285750" algn="l" defTabSz="914400" rtl="0" eaLnBrk="1" fontAlgn="auto" latinLnBrk="0" hangingPunct="1">
              <a:lnSpc>
                <a:spcPct val="120000"/>
              </a:lnSpc>
              <a:spcBef>
                <a:spcPts val="0"/>
              </a:spcBef>
              <a:spcAft>
                <a:spcPts val="0"/>
              </a:spcAft>
              <a:buClrTx/>
              <a:buSzTx/>
              <a:buFont typeface="Wingdings" panose="05000000000000000000" pitchFamily="2" charset="2"/>
              <a:buChar char="Ø"/>
              <a:tabLst/>
              <a:defRPr/>
            </a:pPr>
            <a:endParaRPr kumimoji="0" lang="en-US" sz="1100" b="0" i="0" u="none" strike="noStrike" kern="1200" cap="none" spc="0" normalizeH="0" baseline="0" noProof="0" dirty="0">
              <a:ln>
                <a:noFill/>
              </a:ln>
              <a:solidFill>
                <a:prstClr val="black"/>
              </a:solidFill>
              <a:effectLst/>
              <a:uLnTx/>
              <a:uFillTx/>
              <a:latin typeface="Poppins"/>
              <a:ea typeface="+mn-ea"/>
              <a:cs typeface="+mn-cs"/>
            </a:endParaRPr>
          </a:p>
          <a:p>
            <a:pPr marL="285750" marR="0" lvl="0" indent="-285750" algn="l" defTabSz="914400" rtl="0" eaLnBrk="1" fontAlgn="auto" latinLnBrk="0" hangingPunct="1">
              <a:lnSpc>
                <a:spcPct val="120000"/>
              </a:lnSpc>
              <a:spcBef>
                <a:spcPts val="0"/>
              </a:spcBef>
              <a:spcAft>
                <a:spcPts val="0"/>
              </a:spcAft>
              <a:buClrTx/>
              <a:buSzTx/>
              <a:buFont typeface="Wingdings" panose="05000000000000000000" pitchFamily="2" charset="2"/>
              <a:buChar char="Ø"/>
              <a:tabLst/>
              <a:defRPr/>
            </a:pPr>
            <a:r>
              <a:rPr kumimoji="0" lang="en-US" sz="1100" b="0" i="0" u="none" strike="noStrike" kern="1200" cap="none" spc="0" normalizeH="0" baseline="0" noProof="0" dirty="0">
                <a:ln>
                  <a:noFill/>
                </a:ln>
                <a:solidFill>
                  <a:prstClr val="black"/>
                </a:solidFill>
                <a:effectLst/>
                <a:uLnTx/>
                <a:uFillTx/>
                <a:latin typeface="Poppins"/>
                <a:ea typeface="+mn-ea"/>
                <a:cs typeface="+mn-cs"/>
              </a:rPr>
              <a:t>Leveraged BODS to integrate and transform trusted data into a data warehouse system for analytical reporting within SAP HANA. </a:t>
            </a:r>
          </a:p>
          <a:p>
            <a:pPr marL="285750" marR="0" lvl="0" indent="-285750" algn="l" defTabSz="914400" rtl="0" eaLnBrk="1" fontAlgn="auto" latinLnBrk="0" hangingPunct="1">
              <a:lnSpc>
                <a:spcPct val="120000"/>
              </a:lnSpc>
              <a:spcBef>
                <a:spcPts val="0"/>
              </a:spcBef>
              <a:spcAft>
                <a:spcPts val="0"/>
              </a:spcAft>
              <a:buClrTx/>
              <a:buSzTx/>
              <a:buFont typeface="Wingdings" panose="05000000000000000000" pitchFamily="2" charset="2"/>
              <a:buChar char="Ø"/>
              <a:tabLst/>
              <a:defRPr/>
            </a:pPr>
            <a:endParaRPr kumimoji="0" lang="en-US" sz="1100" b="0" i="0" u="none" strike="noStrike" kern="1200" cap="none" spc="0" normalizeH="0" baseline="0" noProof="0" dirty="0">
              <a:ln>
                <a:noFill/>
              </a:ln>
              <a:solidFill>
                <a:prstClr val="black"/>
              </a:solidFill>
              <a:effectLst/>
              <a:uLnTx/>
              <a:uFillTx/>
              <a:latin typeface="Poppins"/>
              <a:ea typeface="+mn-ea"/>
              <a:cs typeface="+mn-cs"/>
            </a:endParaRPr>
          </a:p>
          <a:p>
            <a:pPr marL="285750" marR="0" lvl="0" indent="-285750" algn="l" defTabSz="914400" rtl="0" eaLnBrk="1" fontAlgn="auto" latinLnBrk="0" hangingPunct="1">
              <a:lnSpc>
                <a:spcPct val="120000"/>
              </a:lnSpc>
              <a:spcBef>
                <a:spcPts val="0"/>
              </a:spcBef>
              <a:spcAft>
                <a:spcPts val="0"/>
              </a:spcAft>
              <a:buClrTx/>
              <a:buSzTx/>
              <a:buFont typeface="Wingdings" panose="05000000000000000000" pitchFamily="2" charset="2"/>
              <a:buChar char="Ø"/>
              <a:tabLst/>
              <a:defRPr/>
            </a:pPr>
            <a:r>
              <a:rPr kumimoji="0" lang="en-US" sz="1100" b="0" i="0" u="none" strike="noStrike" kern="1200" cap="none" spc="0" normalizeH="0" baseline="0" noProof="0" dirty="0">
                <a:ln>
                  <a:noFill/>
                </a:ln>
                <a:solidFill>
                  <a:prstClr val="black"/>
                </a:solidFill>
                <a:effectLst/>
                <a:uLnTx/>
                <a:uFillTx/>
                <a:latin typeface="Poppins"/>
                <a:ea typeface="+mn-ea"/>
                <a:cs typeface="+mn-cs"/>
              </a:rPr>
              <a:t>To enable more advanced data slicing and manipulation, implemented calculation views in the SAP HANA database. These calculation views serve as flexible information views that provide the ability to define sophisticated data subsets and aggregations and created column views are stored in the "SYS_BIC" schema, ensuring easy access and management of the data views.</a:t>
            </a:r>
          </a:p>
        </p:txBody>
      </p:sp>
      <p:grpSp>
        <p:nvGrpSpPr>
          <p:cNvPr id="30" name="Group 29">
            <a:extLst>
              <a:ext uri="{FF2B5EF4-FFF2-40B4-BE49-F238E27FC236}">
                <a16:creationId xmlns:a16="http://schemas.microsoft.com/office/drawing/2014/main" id="{4EFB427B-9229-D276-0AB1-E347C7400EC3}"/>
              </a:ext>
            </a:extLst>
          </p:cNvPr>
          <p:cNvGrpSpPr/>
          <p:nvPr/>
        </p:nvGrpSpPr>
        <p:grpSpPr>
          <a:xfrm>
            <a:off x="495300" y="2368946"/>
            <a:ext cx="7135329" cy="506676"/>
            <a:chOff x="377675" y="2790487"/>
            <a:chExt cx="3075565" cy="506676"/>
          </a:xfrm>
        </p:grpSpPr>
        <p:sp>
          <p:nvSpPr>
            <p:cNvPr id="31" name="Pentagon 43">
              <a:extLst>
                <a:ext uri="{FF2B5EF4-FFF2-40B4-BE49-F238E27FC236}">
                  <a16:creationId xmlns:a16="http://schemas.microsoft.com/office/drawing/2014/main" id="{9A7299B6-6150-4864-9089-E85F1AD9BEF5}"/>
                </a:ext>
              </a:extLst>
            </p:cNvPr>
            <p:cNvSpPr/>
            <p:nvPr/>
          </p:nvSpPr>
          <p:spPr>
            <a:xfrm>
              <a:off x="559489" y="2790487"/>
              <a:ext cx="2893751" cy="50610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2" name="Pentagon 42">
              <a:extLst>
                <a:ext uri="{FF2B5EF4-FFF2-40B4-BE49-F238E27FC236}">
                  <a16:creationId xmlns:a16="http://schemas.microsoft.com/office/drawing/2014/main" id="{711F5E5E-EEF4-6E9D-A8D4-3B60D8D8F17F}"/>
                </a:ext>
              </a:extLst>
            </p:cNvPr>
            <p:cNvSpPr/>
            <p:nvPr/>
          </p:nvSpPr>
          <p:spPr>
            <a:xfrm>
              <a:off x="468582" y="2790775"/>
              <a:ext cx="2893751" cy="506101"/>
            </a:xfrm>
            <a:prstGeom prst="roundRect">
              <a:avLst/>
            </a:prstGeom>
            <a:solidFill>
              <a:srgbClr val="002E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3" name="Pentagon 40">
              <a:extLst>
                <a:ext uri="{FF2B5EF4-FFF2-40B4-BE49-F238E27FC236}">
                  <a16:creationId xmlns:a16="http://schemas.microsoft.com/office/drawing/2014/main" id="{B31B539E-A0EF-4DD7-3AAA-028B09D2DC88}"/>
                </a:ext>
              </a:extLst>
            </p:cNvPr>
            <p:cNvSpPr/>
            <p:nvPr/>
          </p:nvSpPr>
          <p:spPr>
            <a:xfrm>
              <a:off x="377675" y="2791062"/>
              <a:ext cx="2893751" cy="506101"/>
            </a:xfrm>
            <a:prstGeom prst="round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2E87"/>
                  </a:solidFill>
                  <a:effectLst/>
                  <a:uLnTx/>
                  <a:uFillTx/>
                  <a:latin typeface="Poppins SemiBold"/>
                  <a:ea typeface="+mn-ea"/>
                  <a:cs typeface="+mn-cs"/>
                </a:rPr>
                <a:t>Solution Implemented</a:t>
              </a:r>
            </a:p>
          </p:txBody>
        </p:sp>
      </p:grpSp>
      <p:pic>
        <p:nvPicPr>
          <p:cNvPr id="48" name="Picture 47" descr="A blue text on a black background&#10;&#10;Description automatically generated with low confidence">
            <a:extLst>
              <a:ext uri="{FF2B5EF4-FFF2-40B4-BE49-F238E27FC236}">
                <a16:creationId xmlns:a16="http://schemas.microsoft.com/office/drawing/2014/main" id="{0DE5574E-FD1C-7381-CB1C-BF7E6FE901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4956" y="4669740"/>
            <a:ext cx="2074446" cy="411611"/>
          </a:xfrm>
          <a:prstGeom prst="rect">
            <a:avLst/>
          </a:prstGeom>
        </p:spPr>
      </p:pic>
      <p:pic>
        <p:nvPicPr>
          <p:cNvPr id="49" name="Picture 48" descr="A picture containing diagram&#10;&#10;Description automatically generated">
            <a:extLst>
              <a:ext uri="{FF2B5EF4-FFF2-40B4-BE49-F238E27FC236}">
                <a16:creationId xmlns:a16="http://schemas.microsoft.com/office/drawing/2014/main" id="{BE1B508F-5E6A-1AD3-FCED-DD7633F1D20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07948" y="5158313"/>
            <a:ext cx="1133065" cy="637349"/>
          </a:xfrm>
          <a:prstGeom prst="rect">
            <a:avLst/>
          </a:prstGeom>
        </p:spPr>
      </p:pic>
      <p:pic>
        <p:nvPicPr>
          <p:cNvPr id="55" name="Picture 54" descr="A blue text on a black background&#10;&#10;Description automatically generated">
            <a:extLst>
              <a:ext uri="{FF2B5EF4-FFF2-40B4-BE49-F238E27FC236}">
                <a16:creationId xmlns:a16="http://schemas.microsoft.com/office/drawing/2014/main" id="{1CF4A73F-316D-E53D-57C6-2D2E69DB19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49402" y="4497858"/>
            <a:ext cx="1133065" cy="755377"/>
          </a:xfrm>
          <a:prstGeom prst="rect">
            <a:avLst/>
          </a:prstGeom>
        </p:spPr>
      </p:pic>
      <p:pic>
        <p:nvPicPr>
          <p:cNvPr id="57" name="Graphic 56">
            <a:extLst>
              <a:ext uri="{FF2B5EF4-FFF2-40B4-BE49-F238E27FC236}">
                <a16:creationId xmlns:a16="http://schemas.microsoft.com/office/drawing/2014/main" id="{982067B0-7B1E-4710-E8AE-672391BE0D1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35820" y="1807622"/>
            <a:ext cx="381795" cy="329597"/>
          </a:xfrm>
          <a:prstGeom prst="rect">
            <a:avLst/>
          </a:prstGeom>
        </p:spPr>
      </p:pic>
      <p:pic>
        <p:nvPicPr>
          <p:cNvPr id="59" name="Graphic 58">
            <a:extLst>
              <a:ext uri="{FF2B5EF4-FFF2-40B4-BE49-F238E27FC236}">
                <a16:creationId xmlns:a16="http://schemas.microsoft.com/office/drawing/2014/main" id="{AF353466-B434-598C-8C93-4D49AC3B86C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92285" y="2251452"/>
            <a:ext cx="290845" cy="290845"/>
          </a:xfrm>
          <a:prstGeom prst="rect">
            <a:avLst/>
          </a:prstGeom>
        </p:spPr>
      </p:pic>
      <p:pic>
        <p:nvPicPr>
          <p:cNvPr id="61" name="Graphic 60">
            <a:extLst>
              <a:ext uri="{FF2B5EF4-FFF2-40B4-BE49-F238E27FC236}">
                <a16:creationId xmlns:a16="http://schemas.microsoft.com/office/drawing/2014/main" id="{903AA030-843B-2816-A3A4-51BDA078C0E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327838" y="2727147"/>
            <a:ext cx="236870" cy="295799"/>
          </a:xfrm>
          <a:prstGeom prst="rect">
            <a:avLst/>
          </a:prstGeom>
        </p:spPr>
      </p:pic>
      <p:pic>
        <p:nvPicPr>
          <p:cNvPr id="63" name="Graphic 62">
            <a:extLst>
              <a:ext uri="{FF2B5EF4-FFF2-40B4-BE49-F238E27FC236}">
                <a16:creationId xmlns:a16="http://schemas.microsoft.com/office/drawing/2014/main" id="{2E85B2DB-AEE8-D77A-AFC4-749DFCFF7CA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321057" y="3183615"/>
            <a:ext cx="290844" cy="3216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