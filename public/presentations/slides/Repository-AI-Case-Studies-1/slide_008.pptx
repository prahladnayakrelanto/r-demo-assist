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D3C7DD6-47D4-30F4-07AC-89F02718CE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b="1" dirty="0"/>
              <a:t>AI Driven Metrics Insights for Partners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A4E6000-DAE3-66F0-F7CD-F573C681D6B7}"/>
              </a:ext>
            </a:extLst>
          </p:cNvPr>
          <p:cNvSpPr/>
          <p:nvPr/>
        </p:nvSpPr>
        <p:spPr>
          <a:xfrm>
            <a:off x="542874" y="1797049"/>
            <a:ext cx="5073650" cy="2766483"/>
          </a:xfrm>
          <a:prstGeom prst="roundRect">
            <a:avLst>
              <a:gd name="adj" fmla="val 2924"/>
            </a:avLst>
          </a:prstGeom>
          <a:solidFill>
            <a:srgbClr val="DCEAF7"/>
          </a:solidFill>
          <a:ln w="9525">
            <a:solidFill>
              <a:srgbClr val="2425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A237B12-6841-58B8-AFDA-3C1318C24476}"/>
              </a:ext>
            </a:extLst>
          </p:cNvPr>
          <p:cNvSpPr/>
          <p:nvPr/>
        </p:nvSpPr>
        <p:spPr>
          <a:xfrm>
            <a:off x="550863" y="1011681"/>
            <a:ext cx="5075339" cy="410718"/>
          </a:xfrm>
          <a:prstGeom prst="roundRect">
            <a:avLst/>
          </a:prstGeom>
          <a:solidFill>
            <a:srgbClr val="2425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/>
              <a:t>The Challenge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41CC32A-A0D5-1EE3-13DB-D77FC6BE54F9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3079699" y="1443567"/>
            <a:ext cx="0" cy="353482"/>
          </a:xfrm>
          <a:prstGeom prst="line">
            <a:avLst/>
          </a:prstGeom>
          <a:ln w="12700">
            <a:solidFill>
              <a:srgbClr val="24255B"/>
            </a:solidFill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C09529B-1399-A21E-024A-27CB8EAD0FB4}"/>
              </a:ext>
            </a:extLst>
          </p:cNvPr>
          <p:cNvSpPr txBox="1"/>
          <p:nvPr/>
        </p:nvSpPr>
        <p:spPr>
          <a:xfrm>
            <a:off x="1354666" y="1968267"/>
            <a:ext cx="41825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Complex metrics with multiple parameters, qualification criteria, and categories.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556F2F-D341-D516-7038-391851DBC919}"/>
              </a:ext>
            </a:extLst>
          </p:cNvPr>
          <p:cNvSpPr txBox="1"/>
          <p:nvPr/>
        </p:nvSpPr>
        <p:spPr>
          <a:xfrm>
            <a:off x="1354666" y="2695333"/>
            <a:ext cx="41825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Lack of clarity in how metrics are calculated.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58A1A4-89F9-C2A8-C6CF-2525CA32C369}"/>
              </a:ext>
            </a:extLst>
          </p:cNvPr>
          <p:cNvSpPr txBox="1"/>
          <p:nvPr/>
        </p:nvSpPr>
        <p:spPr>
          <a:xfrm>
            <a:off x="1354666" y="3934022"/>
            <a:ext cx="41825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No real-time visibility or what-if analysis for proactive performance improvement.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52A1DF-3E1C-2C32-7A46-B3C814CC4911}"/>
              </a:ext>
            </a:extLst>
          </p:cNvPr>
          <p:cNvSpPr txBox="1"/>
          <p:nvPr/>
        </p:nvSpPr>
        <p:spPr>
          <a:xfrm>
            <a:off x="1354666" y="3206956"/>
            <a:ext cx="41825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Unclear definitions lead to misinterpretations that impact performance.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13A9B30-A91D-2499-2F25-6C2E0E4F4976}"/>
              </a:ext>
            </a:extLst>
          </p:cNvPr>
          <p:cNvSpPr/>
          <p:nvPr/>
        </p:nvSpPr>
        <p:spPr>
          <a:xfrm>
            <a:off x="6520341" y="1797049"/>
            <a:ext cx="5073650" cy="2766483"/>
          </a:xfrm>
          <a:prstGeom prst="roundRect">
            <a:avLst>
              <a:gd name="adj" fmla="val 2924"/>
            </a:avLst>
          </a:prstGeom>
          <a:solidFill>
            <a:srgbClr val="DCEAF7"/>
          </a:solidFill>
          <a:ln w="9525">
            <a:solidFill>
              <a:srgbClr val="2425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0CE010D-4DBB-8C4F-7DB4-8CD8EEC4BB85}"/>
              </a:ext>
            </a:extLst>
          </p:cNvPr>
          <p:cNvSpPr/>
          <p:nvPr/>
        </p:nvSpPr>
        <p:spPr>
          <a:xfrm>
            <a:off x="6510664" y="1011681"/>
            <a:ext cx="5093005" cy="410718"/>
          </a:xfrm>
          <a:prstGeom prst="roundRect">
            <a:avLst/>
          </a:prstGeom>
          <a:solidFill>
            <a:srgbClr val="2425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/>
              <a:t>Our AI-Driven Solution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15201B1-54BB-3B94-FCB0-7C9538149D47}"/>
              </a:ext>
            </a:extLst>
          </p:cNvPr>
          <p:cNvCxnSpPr>
            <a:cxnSpLocks/>
            <a:stCxn id="22" idx="2"/>
            <a:endCxn id="21" idx="0"/>
          </p:cNvCxnSpPr>
          <p:nvPr/>
        </p:nvCxnSpPr>
        <p:spPr>
          <a:xfrm flipH="1">
            <a:off x="9057166" y="1422399"/>
            <a:ext cx="1" cy="374650"/>
          </a:xfrm>
          <a:prstGeom prst="line">
            <a:avLst/>
          </a:prstGeom>
          <a:ln w="12700">
            <a:solidFill>
              <a:srgbClr val="24255B"/>
            </a:solidFill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71F8188-0B11-1770-7618-61EE4BAE7D33}"/>
              </a:ext>
            </a:extLst>
          </p:cNvPr>
          <p:cNvSpPr txBox="1"/>
          <p:nvPr/>
        </p:nvSpPr>
        <p:spPr>
          <a:xfrm>
            <a:off x="7372352" y="1968267"/>
            <a:ext cx="41825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24255B"/>
                </a:solidFill>
                <a:latin typeface="+mj-lt"/>
              </a:rPr>
              <a:t>Intelligent Metric Dissection</a:t>
            </a:r>
            <a:r>
              <a:rPr lang="en-US" sz="1400">
                <a:latin typeface="+mj-lt"/>
              </a:rPr>
              <a:t>:</a:t>
            </a:r>
            <a:r>
              <a:rPr lang="en-US" sz="1400"/>
              <a:t> AI/NLP breaks down metrics into underlying parameters.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0DA94C-1992-ECB7-6176-273F4F34BF90}"/>
              </a:ext>
            </a:extLst>
          </p:cNvPr>
          <p:cNvSpPr txBox="1"/>
          <p:nvPr/>
        </p:nvSpPr>
        <p:spPr>
          <a:xfrm>
            <a:off x="7372352" y="2691022"/>
            <a:ext cx="418253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24255B"/>
                </a:solidFill>
                <a:latin typeface="+mj-lt"/>
              </a:rPr>
              <a:t>Self-Service Portal</a:t>
            </a:r>
            <a:r>
              <a:rPr lang="en-US" sz="1400">
                <a:latin typeface="+mj-lt"/>
              </a:rPr>
              <a:t>: </a:t>
            </a:r>
            <a:r>
              <a:rPr lang="en-US" sz="1400"/>
              <a:t>Offer partners interactive access to detailed metrics, contextual help, and embedded learning resources.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3F66D38-68FF-184D-DAF1-DA3DB3C4BD93}"/>
              </a:ext>
            </a:extLst>
          </p:cNvPr>
          <p:cNvSpPr txBox="1"/>
          <p:nvPr/>
        </p:nvSpPr>
        <p:spPr>
          <a:xfrm>
            <a:off x="7372352" y="3629222"/>
            <a:ext cx="418253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24255B"/>
                </a:solidFill>
                <a:latin typeface="+mj-lt"/>
              </a:rPr>
              <a:t>Actionable Recommendations</a:t>
            </a:r>
            <a:r>
              <a:rPr lang="en-US" sz="1400">
                <a:latin typeface="+mj-lt"/>
              </a:rPr>
              <a:t>:</a:t>
            </a:r>
            <a:r>
              <a:rPr lang="en-US" sz="1400" b="1"/>
              <a:t> </a:t>
            </a:r>
            <a:r>
              <a:rPr lang="en-US" sz="1400"/>
              <a:t>Tailored guidance to drive performance improvements.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1CE6FD9-8163-8309-F0AF-3BFEE20D397A}"/>
              </a:ext>
            </a:extLst>
          </p:cNvPr>
          <p:cNvSpPr/>
          <p:nvPr/>
        </p:nvSpPr>
        <p:spPr>
          <a:xfrm>
            <a:off x="550863" y="4859867"/>
            <a:ext cx="11053762" cy="1667933"/>
          </a:xfrm>
          <a:prstGeom prst="roundRect">
            <a:avLst>
              <a:gd name="adj" fmla="val 7022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2425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27F5A05-CB25-12F9-3876-59653E06F414}"/>
              </a:ext>
            </a:extLst>
          </p:cNvPr>
          <p:cNvSpPr/>
          <p:nvPr/>
        </p:nvSpPr>
        <p:spPr>
          <a:xfrm>
            <a:off x="608542" y="4946650"/>
            <a:ext cx="1194858" cy="1507067"/>
          </a:xfrm>
          <a:prstGeom prst="roundRect">
            <a:avLst>
              <a:gd name="adj" fmla="val 7436"/>
            </a:avLst>
          </a:prstGeom>
          <a:solidFill>
            <a:srgbClr val="2425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Benefits</a:t>
            </a:r>
            <a:endParaRPr lang="en-IN" b="1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4793D0C-E4E0-2FD5-FAD8-11D42DB58051}"/>
              </a:ext>
            </a:extLst>
          </p:cNvPr>
          <p:cNvSpPr txBox="1"/>
          <p:nvPr/>
        </p:nvSpPr>
        <p:spPr>
          <a:xfrm>
            <a:off x="2895601" y="5327133"/>
            <a:ext cx="25230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Enhanced Transparency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37C1EEC-7371-E45A-E868-3CD6AFD615C7}"/>
              </a:ext>
            </a:extLst>
          </p:cNvPr>
          <p:cNvSpPr txBox="1"/>
          <p:nvPr/>
        </p:nvSpPr>
        <p:spPr>
          <a:xfrm>
            <a:off x="6011334" y="5327133"/>
            <a:ext cx="22521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Empowered Decision Making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6613FEF-330A-B347-7DDE-1E4B2F89E9A0}"/>
              </a:ext>
            </a:extLst>
          </p:cNvPr>
          <p:cNvSpPr txBox="1"/>
          <p:nvPr/>
        </p:nvSpPr>
        <p:spPr>
          <a:xfrm>
            <a:off x="9296400" y="5327133"/>
            <a:ext cx="208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Improved Performance</a:t>
            </a:r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3FAF3FD6-7593-40EA-AAD2-123A558E14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42324" y="5417262"/>
            <a:ext cx="459663" cy="459663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B30C6CC5-E945-1337-10A4-DD46568753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93372" y="5354727"/>
            <a:ext cx="505701" cy="505701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520D1155-824B-40DC-4F7E-A401B51AC3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39201" y="5417184"/>
            <a:ext cx="470382" cy="470382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14B964A1-681F-F14C-CC92-6D2C5A65D36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27625" y="1956884"/>
            <a:ext cx="447039" cy="520252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048EA3A4-89B4-6C16-D9E3-AA819D04FA6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27625" y="2813051"/>
            <a:ext cx="422521" cy="422521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5351A1DA-EF95-BF47-F4DE-5F16C5D3EB0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727625" y="3733800"/>
            <a:ext cx="583687" cy="444500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69BFB7E5-676F-36D4-35A3-95C2E36CD45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15348" y="2067668"/>
            <a:ext cx="383433" cy="383433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BB543DC7-B82D-2E8C-B0F8-D7FC87A1E7C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35488" y="2673144"/>
            <a:ext cx="345529" cy="355957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38689DDC-BF1F-B015-D09D-E7BF413802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7593" y="3294748"/>
            <a:ext cx="367158" cy="367158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45A25284-CFEB-9818-BB13-D0A489151D6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37332" y="4010026"/>
            <a:ext cx="403224" cy="4032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