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F451A9-52F9-4AA2-9586-26F69541D2CA}"/>
              </a:ext>
            </a:extLst>
          </p:cNvPr>
          <p:cNvSpPr>
            <a:spLocks noGrp="1"/>
          </p:cNvSpPr>
          <p:nvPr>
            <p:ph type="title"/>
          </p:nvPr>
        </p:nvSpPr>
        <p:spPr>
          <a:xfrm>
            <a:off x="592668" y="257992"/>
            <a:ext cx="9820062" cy="559260"/>
          </a:xfrm>
        </p:spPr>
        <p:txBody>
          <a:bodyPr>
            <a:noAutofit/>
          </a:bodyPr>
          <a:lstStyle/>
          <a:p>
            <a:r>
              <a:rPr lang="en-US" b="1"/>
              <a:t>AI-Driven Performance Insights</a:t>
            </a:r>
            <a:endParaRPr lang="en-US"/>
          </a:p>
        </p:txBody>
      </p:sp>
      <p:sp>
        <p:nvSpPr>
          <p:cNvPr id="18" name="Rectangle 17">
            <a:extLst>
              <a:ext uri="{FF2B5EF4-FFF2-40B4-BE49-F238E27FC236}">
                <a16:creationId xmlns:a16="http://schemas.microsoft.com/office/drawing/2014/main" id="{710312B1-6004-4465-1D04-18496E52D33F}"/>
              </a:ext>
            </a:extLst>
          </p:cNvPr>
          <p:cNvSpPr/>
          <p:nvPr/>
        </p:nvSpPr>
        <p:spPr>
          <a:xfrm>
            <a:off x="478520" y="951223"/>
            <a:ext cx="7111893" cy="845682"/>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4572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Poppins"/>
                <a:ea typeface="+mn-ea"/>
                <a:cs typeface="Calibri"/>
              </a:rPr>
              <a:t>Business Context:</a:t>
            </a:r>
            <a:r>
              <a:rPr kumimoji="0" lang="en-US" sz="1000" b="0" i="0" u="none" strike="noStrike" kern="1200" cap="none" spc="0" normalizeH="0" baseline="0" noProof="0">
                <a:ln>
                  <a:noFill/>
                </a:ln>
                <a:solidFill>
                  <a:prstClr val="white"/>
                </a:solidFill>
                <a:effectLst/>
                <a:uLnTx/>
                <a:uFillTx/>
                <a:latin typeface="Poppins"/>
                <a:ea typeface="+mn-ea"/>
                <a:cs typeface="Calibri"/>
              </a:rPr>
              <a:t> </a:t>
            </a:r>
            <a:r>
              <a:rPr kumimoji="0" lang="en-US" sz="1000" b="0" i="0" u="none" strike="noStrike" kern="1200" cap="none" spc="0" normalizeH="0" baseline="0" noProof="0">
                <a:ln>
                  <a:noFill/>
                </a:ln>
                <a:solidFill>
                  <a:prstClr val="white"/>
                </a:solidFill>
                <a:effectLst/>
                <a:uLnTx/>
                <a:uFillTx/>
                <a:latin typeface="Poppins"/>
                <a:ea typeface="+mn-lt"/>
                <a:cs typeface="Poppins"/>
              </a:rPr>
              <a:t>A global partner network sought to transform its traditional partner scorecard system into an intelligent, explainable insights engine. The objective was to enable thousands of partners across regions to access transparent, actionable, and predictive performance intelligence, and reduce dependency on manual dashboards or support teams.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Poppins "/>
              <a:ea typeface="+mn-ea"/>
              <a:cs typeface="Calibri" panose="020F0502020204030204" pitchFamily="34" charset="0"/>
            </a:endParaRPr>
          </a:p>
        </p:txBody>
      </p:sp>
      <p:sp>
        <p:nvSpPr>
          <p:cNvPr id="19" name="Rectangle 18">
            <a:extLst>
              <a:ext uri="{FF2B5EF4-FFF2-40B4-BE49-F238E27FC236}">
                <a16:creationId xmlns:a16="http://schemas.microsoft.com/office/drawing/2014/main" id="{6A7BC4F1-4EB3-1B35-D1C6-96614134A539}"/>
              </a:ext>
            </a:extLst>
          </p:cNvPr>
          <p:cNvSpPr/>
          <p:nvPr/>
        </p:nvSpPr>
        <p:spPr bwMode="auto">
          <a:xfrm>
            <a:off x="7986181" y="1311935"/>
            <a:ext cx="3913129" cy="2908930"/>
          </a:xfrm>
          <a:prstGeom prst="rect">
            <a:avLst/>
          </a:prstGeom>
          <a:solidFill>
            <a:schemeClr val="bg1">
              <a:lumMod val="95000"/>
            </a:schemeClr>
          </a:solidFill>
          <a:ln w="9525">
            <a:noFill/>
            <a:round/>
            <a:headEnd/>
            <a:tailEnd/>
          </a:ln>
          <a:effectLst/>
        </p:spPr>
        <p:txBody>
          <a:bodyPr vert="horz" wrap="square" lIns="731520" tIns="274320" rIns="91440" bIns="45720" numCol="1" rtlCol="0"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2060"/>
                </a:solidFill>
                <a:effectLst/>
                <a:uLnTx/>
                <a:uFillTx/>
                <a:latin typeface="Poppins"/>
                <a:ea typeface="+mn-lt"/>
                <a:cs typeface="Poppins"/>
              </a:rPr>
              <a:t>Common queries about metrics and scores were handled by the AI assistant, freeing up analysts and partner managers.</a:t>
            </a:r>
            <a:endParaRPr kumimoji="0" lang="en-US" sz="10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1218987" rtl="0" eaLnBrk="1" fontAlgn="auto" latinLnBrk="0" hangingPunct="1">
              <a:lnSpc>
                <a:spcPct val="110000"/>
              </a:lnSpc>
              <a:spcBef>
                <a:spcPts val="0"/>
              </a:spcBef>
              <a:spcAft>
                <a:spcPts val="1800"/>
              </a:spcAft>
              <a:buClrTx/>
              <a:buSzTx/>
              <a:buFontTx/>
              <a:buNone/>
              <a:tabLst/>
              <a:defRPr/>
            </a:pPr>
            <a:r>
              <a:rPr kumimoji="0" lang="en-US" sz="1000" b="0" i="0" u="none" strike="noStrike" kern="0" cap="none" spc="0" normalizeH="0" baseline="0" noProof="0">
                <a:ln>
                  <a:noFill/>
                </a:ln>
                <a:solidFill>
                  <a:srgbClr val="002060"/>
                </a:solidFill>
                <a:effectLst/>
                <a:uLnTx/>
                <a:uFillTx/>
                <a:latin typeface="Poppins"/>
                <a:ea typeface="+mn-lt"/>
                <a:cs typeface="Poppins"/>
              </a:rPr>
              <a:t>Reduced reliance on field teams and boosting self-service.</a:t>
            </a:r>
            <a:endParaRPr kumimoji="0" lang="en-US" sz="10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2060"/>
                </a:solidFill>
                <a:effectLst/>
                <a:uLnTx/>
                <a:uFillTx/>
                <a:latin typeface="Poppins"/>
                <a:ea typeface="+mn-lt"/>
                <a:cs typeface="Poppins"/>
              </a:rPr>
              <a:t>Explainable insights and scenario modeling enabled partners to act on data without delays or interpretation gaps.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060"/>
              </a:solidFill>
              <a:effectLst/>
              <a:uLnTx/>
              <a:uFillTx/>
              <a:latin typeface="Poppins"/>
              <a:ea typeface="+mn-lt"/>
              <a:cs typeface="Poppin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2060"/>
                </a:solidFill>
                <a:effectLst/>
                <a:uLnTx/>
                <a:uFillTx/>
                <a:latin typeface="Poppins"/>
                <a:ea typeface="+mn-lt"/>
                <a:cs typeface="Poppins"/>
              </a:rPr>
              <a:t>Contextual nudges and personalized suggestions led to increased execution of growth-driving activities by partners.</a:t>
            </a:r>
            <a:endParaRPr kumimoji="0" lang="en-US" sz="1000" b="0" i="0" u="none" strike="noStrike" kern="1200" cap="none" spc="0" normalizeH="0" baseline="0" noProof="0">
              <a:ln>
                <a:noFill/>
              </a:ln>
              <a:solidFill>
                <a:prstClr val="black"/>
              </a:solidFill>
              <a:effectLst/>
              <a:uLnTx/>
              <a:uFillTx/>
              <a:latin typeface="Poppins"/>
              <a:ea typeface="+mn-ea"/>
              <a:cs typeface="Poppins"/>
            </a:endParaRPr>
          </a:p>
          <a:p>
            <a:pPr marL="285750" marR="0" lvl="0" indent="-285750" algn="l" defTabSz="1218987" rtl="0" eaLnBrk="1" fontAlgn="auto" latinLnBrk="0" hangingPunct="1">
              <a:lnSpc>
                <a:spcPct val="100000"/>
              </a:lnSpc>
              <a:spcBef>
                <a:spcPts val="0"/>
              </a:spcBef>
              <a:spcAft>
                <a:spcPts val="0"/>
              </a:spcAft>
              <a:buClrTx/>
              <a:buSzTx/>
              <a:buFont typeface="Arial"/>
              <a:buChar char="•"/>
              <a:tabLst/>
              <a:defRPr/>
            </a:pPr>
            <a:endParaRPr kumimoji="0" lang="en-US" sz="1000" b="0" i="0" u="none" strike="noStrike" kern="1200" cap="none" spc="0" normalizeH="0" baseline="0" noProof="0">
              <a:ln>
                <a:noFill/>
              </a:ln>
              <a:solidFill>
                <a:prstClr val="black"/>
              </a:solidFill>
              <a:effectLst/>
              <a:uLnTx/>
              <a:uFillTx/>
              <a:latin typeface="Poppins"/>
              <a:ea typeface="+mn-ea"/>
              <a:cs typeface="Poppin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002060"/>
              </a:solidFill>
              <a:effectLst/>
              <a:uLnTx/>
              <a:uFillTx/>
              <a:latin typeface="Poppins"/>
              <a:ea typeface="ＭＳ Ｐゴシック"/>
              <a:cs typeface="Poppins"/>
            </a:endParaRPr>
          </a:p>
        </p:txBody>
      </p:sp>
      <p:grpSp>
        <p:nvGrpSpPr>
          <p:cNvPr id="20" name="Group 19">
            <a:extLst>
              <a:ext uri="{FF2B5EF4-FFF2-40B4-BE49-F238E27FC236}">
                <a16:creationId xmlns:a16="http://schemas.microsoft.com/office/drawing/2014/main" id="{7A3F2968-1A0C-D941-EE56-BAC0E8AD463C}"/>
              </a:ext>
            </a:extLst>
          </p:cNvPr>
          <p:cNvGrpSpPr/>
          <p:nvPr/>
        </p:nvGrpSpPr>
        <p:grpSpPr>
          <a:xfrm>
            <a:off x="7744415" y="951223"/>
            <a:ext cx="2979921" cy="658812"/>
            <a:chOff x="7555266" y="1214168"/>
            <a:chExt cx="2979921" cy="658812"/>
          </a:xfrm>
        </p:grpSpPr>
        <p:sp>
          <p:nvSpPr>
            <p:cNvPr id="23" name="Right Triangle 22">
              <a:extLst>
                <a:ext uri="{FF2B5EF4-FFF2-40B4-BE49-F238E27FC236}">
                  <a16:creationId xmlns:a16="http://schemas.microsoft.com/office/drawing/2014/main" id="{A31E67BB-BAD1-4F21-6235-F22C4CCB0067}"/>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ight Triangle 26">
              <a:extLst>
                <a:ext uri="{FF2B5EF4-FFF2-40B4-BE49-F238E27FC236}">
                  <a16:creationId xmlns:a16="http://schemas.microsoft.com/office/drawing/2014/main" id="{33DE1A23-0AF3-B4B5-A19B-89F02129149E}"/>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A6BFCF70-2B71-CBAA-CFBC-488489C7114F}"/>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a:ln>
                  <a:noFill/>
                </a:ln>
                <a:solidFill>
                  <a:prstClr val="white"/>
                </a:solidFill>
                <a:effectLst/>
                <a:uLnTx/>
                <a:uFillTx/>
                <a:latin typeface="Poppins"/>
                <a:ea typeface="+mn-ea"/>
                <a:cs typeface="+mn-cs"/>
              </a:endParaRPr>
            </a:p>
          </p:txBody>
        </p:sp>
      </p:grpSp>
      <p:sp>
        <p:nvSpPr>
          <p:cNvPr id="29" name="Rectangle 28">
            <a:extLst>
              <a:ext uri="{FF2B5EF4-FFF2-40B4-BE49-F238E27FC236}">
                <a16:creationId xmlns:a16="http://schemas.microsoft.com/office/drawing/2014/main" id="{9E95CAF1-2255-C577-2F82-CB0DD3408FAB}"/>
              </a:ext>
            </a:extLst>
          </p:cNvPr>
          <p:cNvSpPr/>
          <p:nvPr/>
        </p:nvSpPr>
        <p:spPr bwMode="auto">
          <a:xfrm>
            <a:off x="7986180" y="4739338"/>
            <a:ext cx="3913129" cy="1689542"/>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C0D10C48-0ED6-87D2-59F2-8707D835F855}"/>
              </a:ext>
            </a:extLst>
          </p:cNvPr>
          <p:cNvGrpSpPr/>
          <p:nvPr/>
        </p:nvGrpSpPr>
        <p:grpSpPr>
          <a:xfrm>
            <a:off x="7737324" y="4356976"/>
            <a:ext cx="2979921" cy="658812"/>
            <a:chOff x="7555266" y="1214168"/>
            <a:chExt cx="2979921" cy="658812"/>
          </a:xfrm>
        </p:grpSpPr>
        <p:sp>
          <p:nvSpPr>
            <p:cNvPr id="37" name="Right Triangle 36">
              <a:extLst>
                <a:ext uri="{FF2B5EF4-FFF2-40B4-BE49-F238E27FC236}">
                  <a16:creationId xmlns:a16="http://schemas.microsoft.com/office/drawing/2014/main" id="{3E49642E-E3B6-5C1A-AB0C-212264CB73BB}"/>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Right Triangle 41">
              <a:extLst>
                <a:ext uri="{FF2B5EF4-FFF2-40B4-BE49-F238E27FC236}">
                  <a16:creationId xmlns:a16="http://schemas.microsoft.com/office/drawing/2014/main" id="{E588E94D-3DDA-BECC-A982-0CD52A924635}"/>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F4055A39-4758-D822-CA60-57B6809A4C39}"/>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
                  <a:ea typeface="+mn-ea"/>
                  <a:cs typeface="+mn-cs"/>
                </a:rPr>
                <a:t>Technology Stack </a:t>
              </a:r>
            </a:p>
          </p:txBody>
        </p:sp>
      </p:grpSp>
      <p:sp>
        <p:nvSpPr>
          <p:cNvPr id="44" name="Rectangle 43">
            <a:extLst>
              <a:ext uri="{FF2B5EF4-FFF2-40B4-BE49-F238E27FC236}">
                <a16:creationId xmlns:a16="http://schemas.microsoft.com/office/drawing/2014/main" id="{F456241A-EC70-D7E7-D7BF-A3140E6A576C}"/>
              </a:ext>
            </a:extLst>
          </p:cNvPr>
          <p:cNvSpPr/>
          <p:nvPr/>
        </p:nvSpPr>
        <p:spPr>
          <a:xfrm>
            <a:off x="4085266" y="2633274"/>
            <a:ext cx="3505051" cy="379560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Deployed AI models to translate complex, region-specific metric definitions into clear, consistent natural language explanations for both internal teams and partners.</a:t>
            </a:r>
            <a:endParaRPr kumimoji="0" lang="en-US" sz="1800" b="0" i="0" u="none" strike="noStrike" kern="1200" cap="none" spc="0" normalizeH="0" baseline="0" noProof="0">
              <a:ln>
                <a:noFill/>
              </a:ln>
              <a:solidFill>
                <a:prstClr val="black"/>
              </a:solidFill>
              <a:effectLst/>
              <a:uLnTx/>
              <a:uFillTx/>
              <a:latin typeface="Poppins"/>
              <a:ea typeface="+mn-lt"/>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Built a Looker-based analytics portal with drill-downs, guided metric breakdowns, and embedded explanations to reduce analyst dependency.</a:t>
            </a:r>
            <a:endParaRPr kumimoji="0" lang="en-US" sz="1800" b="0" i="0" u="none" strike="noStrike" kern="1200" cap="none" spc="0" normalizeH="0" baseline="0" noProof="0">
              <a:ln>
                <a:noFill/>
              </a:ln>
              <a:solidFill>
                <a:prstClr val="black"/>
              </a:solidFill>
              <a:effectLst/>
              <a:uLnTx/>
              <a:uFillTx/>
              <a:latin typeface="Poppins"/>
              <a:ea typeface="Calibri" panose="020F0502020204030204" pitchFamily="34" charset="0"/>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Integrated a Gemini-powered chat interface within dashboards to answer questions like “Why did my score drop?” or “How is my conversion rate calculated?”</a:t>
            </a:r>
            <a:endParaRPr kumimoji="0" lang="en-US" sz="1000" b="0" i="0" u="none" strike="noStrike" kern="1200" cap="none" spc="0" normalizeH="0" baseline="0" noProof="0">
              <a:ln>
                <a:noFill/>
              </a:ln>
              <a:solidFill>
                <a:prstClr val="black"/>
              </a:solidFill>
              <a:effectLst/>
              <a:uLnTx/>
              <a:uFillTx/>
              <a:latin typeface="Poppins"/>
              <a:ea typeface="Calibri" panose="020F0502020204030204" pitchFamily="34" charset="0"/>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Implemented a Retrieval-Augmented Generation engine to deliver contextual next-best actions tailored to each partner’s performance, vertical, and goals.</a:t>
            </a:r>
            <a:endParaRPr kumimoji="0" lang="en-US" sz="1000" b="0" i="0" u="none" strike="noStrike" kern="1200" cap="none" spc="0" normalizeH="0" baseline="0" noProof="0">
              <a:ln>
                <a:noFill/>
              </a:ln>
              <a:solidFill>
                <a:prstClr val="black"/>
              </a:solidFill>
              <a:effectLst/>
              <a:uLnTx/>
              <a:uFillTx/>
              <a:latin typeface="Poppins"/>
              <a:ea typeface="Calibri" panose="020F0502020204030204" pitchFamily="34" charset="0"/>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Enabled partners to simulate changes (e.g., increase deal size, reduce sales cycle) and instantly see projected impact on KPIs.</a:t>
            </a:r>
            <a:endParaRPr kumimoji="0" lang="en-US" sz="1000" b="0" i="0" u="none" strike="noStrike" kern="1200" cap="none" spc="0" normalizeH="0" baseline="0" noProof="0">
              <a:ln>
                <a:noFill/>
              </a:ln>
              <a:solidFill>
                <a:prstClr val="black"/>
              </a:solidFill>
              <a:effectLst/>
              <a:uLnTx/>
              <a:uFillTx/>
              <a:latin typeface="Poppins"/>
              <a:ea typeface="Calibri" panose="020F0502020204030204" pitchFamily="34" charset="0"/>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Poppins"/>
                <a:ea typeface="+mn-lt"/>
                <a:cs typeface="Poppins"/>
              </a:rPr>
              <a:t>Enabled region-specific customizations (language, fiscal year, currency) while maintaining a single, AI-driven performance framework across global markets.</a:t>
            </a:r>
          </a:p>
        </p:txBody>
      </p:sp>
      <p:sp>
        <p:nvSpPr>
          <p:cNvPr id="45" name="Rectangle 44">
            <a:extLst>
              <a:ext uri="{FF2B5EF4-FFF2-40B4-BE49-F238E27FC236}">
                <a16:creationId xmlns:a16="http://schemas.microsoft.com/office/drawing/2014/main" id="{0F22273D-9CC4-8778-0BF1-0EEA2CF483CE}"/>
              </a:ext>
            </a:extLst>
          </p:cNvPr>
          <p:cNvSpPr/>
          <p:nvPr/>
        </p:nvSpPr>
        <p:spPr>
          <a:xfrm>
            <a:off x="455084" y="2633272"/>
            <a:ext cx="3505147" cy="379560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4572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lt"/>
                <a:cs typeface="Poppins"/>
              </a:rPr>
              <a:t>Metrics were calculated differently across regions and tools, often hardcoded in spreadsheets or SQL scripts, causing confusion and misalignment.</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ea"/>
                <a:cs typeface="+mn-cs"/>
              </a:rPr>
              <a:t>Partners and internal teams lacked clarity on what actions were impacting scores — dashboards showed what changed, not why.</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ea"/>
                <a:cs typeface="+mn-cs"/>
              </a:rPr>
              <a:t>Every metric explanation, performance deep-dive, or QBR preparation required analyst involvement, slowing down decision-making.</a:t>
            </a:r>
            <a:endParaRPr kumimoji="0" lang="en-US" sz="1000" b="0" i="0" u="none" strike="noStrike" kern="1200" cap="none" spc="0" normalizeH="0" baseline="0" noProof="0" dirty="0">
              <a:ln>
                <a:noFill/>
              </a:ln>
              <a:solidFill>
                <a:prstClr val="black"/>
              </a:solidFill>
              <a:effectLst/>
              <a:uLnTx/>
              <a:uFillTx/>
              <a:latin typeface="Poppins"/>
              <a:ea typeface="+mn-ea"/>
              <a:cs typeface="Poppin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ea"/>
                <a:cs typeface="+mn-cs"/>
              </a:rPr>
              <a:t>BI tools offered rigid reports with fixed filters and no drill-downs, scenario modeling, or ability to explore data intuitively.</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ea"/>
                <a:cs typeface="+mn-cs"/>
              </a:rPr>
              <a:t>Partners found dashboards too technical or generic, leading to poor adoption and over-reliance on field teams for interpretation.</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000" b="0" i="0" u="none" strike="noStrike" kern="1200" cap="none" spc="0" normalizeH="0" baseline="0" noProof="0" dirty="0">
                <a:ln>
                  <a:noFill/>
                </a:ln>
                <a:solidFill>
                  <a:prstClr val="black"/>
                </a:solidFill>
                <a:effectLst/>
                <a:uLnTx/>
                <a:uFillTx/>
                <a:latin typeface="Poppins"/>
                <a:ea typeface="+mn-ea"/>
                <a:cs typeface="+mn-cs"/>
              </a:rPr>
              <a:t>Adapting dashboards for regional differences (language, currency, fiscal years, KPIs) required manual effort, delaying rollouts and increasing support costs.</a:t>
            </a:r>
            <a:endParaRPr kumimoji="0" lang="en-US" sz="1000" b="0" i="0" u="none" strike="noStrike" kern="1200" cap="none" spc="0" normalizeH="0" baseline="0" noProof="0" dirty="0">
              <a:ln>
                <a:noFill/>
              </a:ln>
              <a:solidFill>
                <a:prstClr val="black"/>
              </a:solidFill>
              <a:effectLst/>
              <a:uLnTx/>
              <a:uFillTx/>
              <a:latin typeface="Poppins"/>
              <a:ea typeface="+mn-ea"/>
              <a:cs typeface="Poppins"/>
            </a:endParaRPr>
          </a:p>
        </p:txBody>
      </p:sp>
      <p:grpSp>
        <p:nvGrpSpPr>
          <p:cNvPr id="47" name="Group 46">
            <a:extLst>
              <a:ext uri="{FF2B5EF4-FFF2-40B4-BE49-F238E27FC236}">
                <a16:creationId xmlns:a16="http://schemas.microsoft.com/office/drawing/2014/main" id="{8837EAA3-D149-87E5-88D8-9105CEE10ED1}"/>
              </a:ext>
            </a:extLst>
          </p:cNvPr>
          <p:cNvGrpSpPr/>
          <p:nvPr/>
        </p:nvGrpSpPr>
        <p:grpSpPr>
          <a:xfrm>
            <a:off x="454840" y="2060559"/>
            <a:ext cx="3505147" cy="506676"/>
            <a:chOff x="377675" y="2790487"/>
            <a:chExt cx="3075565" cy="506676"/>
          </a:xfrm>
        </p:grpSpPr>
        <p:sp>
          <p:nvSpPr>
            <p:cNvPr id="48" name="Pentagon 43">
              <a:extLst>
                <a:ext uri="{FF2B5EF4-FFF2-40B4-BE49-F238E27FC236}">
                  <a16:creationId xmlns:a16="http://schemas.microsoft.com/office/drawing/2014/main" id="{34C079F6-BBEC-DF82-FD58-9F772AAA91D3}"/>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Pentagon 42">
              <a:extLst>
                <a:ext uri="{FF2B5EF4-FFF2-40B4-BE49-F238E27FC236}">
                  <a16:creationId xmlns:a16="http://schemas.microsoft.com/office/drawing/2014/main" id="{86992961-BB8A-D3B7-DF15-1E093A33662C}"/>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0" name="Pentagon 40">
              <a:extLst>
                <a:ext uri="{FF2B5EF4-FFF2-40B4-BE49-F238E27FC236}">
                  <a16:creationId xmlns:a16="http://schemas.microsoft.com/office/drawing/2014/main" id="{893FCEB2-546A-F023-A9E5-EA1D0D57B408}"/>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E87"/>
                  </a:solidFill>
                  <a:effectLst/>
                  <a:uLnTx/>
                  <a:uFillTx/>
                  <a:latin typeface="Poppins SemiBold"/>
                  <a:ea typeface="+mn-ea"/>
                  <a:cs typeface="Calibri" panose="020F0502020204030204" pitchFamily="34" charset="0"/>
                </a:rPr>
                <a:t>Challenges</a:t>
              </a:r>
            </a:p>
          </p:txBody>
        </p:sp>
      </p:grpSp>
      <p:grpSp>
        <p:nvGrpSpPr>
          <p:cNvPr id="51" name="Group 50">
            <a:extLst>
              <a:ext uri="{FF2B5EF4-FFF2-40B4-BE49-F238E27FC236}">
                <a16:creationId xmlns:a16="http://schemas.microsoft.com/office/drawing/2014/main" id="{6A66DF2E-9767-B289-5A9A-96BA0664E2CA}"/>
              </a:ext>
            </a:extLst>
          </p:cNvPr>
          <p:cNvGrpSpPr/>
          <p:nvPr/>
        </p:nvGrpSpPr>
        <p:grpSpPr>
          <a:xfrm>
            <a:off x="4085265" y="2092015"/>
            <a:ext cx="3505147" cy="506676"/>
            <a:chOff x="377675" y="2790487"/>
            <a:chExt cx="3075565" cy="506676"/>
          </a:xfrm>
        </p:grpSpPr>
        <p:sp>
          <p:nvSpPr>
            <p:cNvPr id="52" name="Pentagon 43">
              <a:extLst>
                <a:ext uri="{FF2B5EF4-FFF2-40B4-BE49-F238E27FC236}">
                  <a16:creationId xmlns:a16="http://schemas.microsoft.com/office/drawing/2014/main" id="{A5DB9FFD-8CF4-A947-1EA3-8D6331C5AB26}"/>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3" name="Pentagon 42">
              <a:extLst>
                <a:ext uri="{FF2B5EF4-FFF2-40B4-BE49-F238E27FC236}">
                  <a16:creationId xmlns:a16="http://schemas.microsoft.com/office/drawing/2014/main" id="{0A475B1E-EA6A-29B8-9FC4-C97192BC9B51}"/>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Pentagon 40">
              <a:extLst>
                <a:ext uri="{FF2B5EF4-FFF2-40B4-BE49-F238E27FC236}">
                  <a16:creationId xmlns:a16="http://schemas.microsoft.com/office/drawing/2014/main" id="{0AB93BB6-2562-44C6-9170-96BCBDA6DE21}"/>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2E87"/>
                  </a:solidFill>
                  <a:effectLst/>
                  <a:uLnTx/>
                  <a:uFillTx/>
                  <a:latin typeface="Poppins SemiBold"/>
                  <a:ea typeface="+mn-ea"/>
                  <a:cs typeface="+mn-cs"/>
                </a:rPr>
                <a:t>Solution Implemented</a:t>
              </a:r>
            </a:p>
          </p:txBody>
        </p:sp>
      </p:grpSp>
      <p:pic>
        <p:nvPicPr>
          <p:cNvPr id="56" name="Graphic 55">
            <a:extLst>
              <a:ext uri="{FF2B5EF4-FFF2-40B4-BE49-F238E27FC236}">
                <a16:creationId xmlns:a16="http://schemas.microsoft.com/office/drawing/2014/main" id="{EF1700CC-FDF4-158F-8166-666C7E6CA1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71594" y="1422202"/>
            <a:ext cx="632307" cy="632307"/>
          </a:xfrm>
          <a:prstGeom prst="rect">
            <a:avLst/>
          </a:prstGeom>
        </p:spPr>
      </p:pic>
      <p:pic>
        <p:nvPicPr>
          <p:cNvPr id="57" name="Graphic 56">
            <a:extLst>
              <a:ext uri="{FF2B5EF4-FFF2-40B4-BE49-F238E27FC236}">
                <a16:creationId xmlns:a16="http://schemas.microsoft.com/office/drawing/2014/main" id="{4E91ECA0-16C0-D2BF-13CB-8F75CD5FB5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71593" y="2063043"/>
            <a:ext cx="632308" cy="632308"/>
          </a:xfrm>
          <a:prstGeom prst="rect">
            <a:avLst/>
          </a:prstGeom>
        </p:spPr>
      </p:pic>
      <p:pic>
        <p:nvPicPr>
          <p:cNvPr id="58" name="Graphic 57">
            <a:extLst>
              <a:ext uri="{FF2B5EF4-FFF2-40B4-BE49-F238E27FC236}">
                <a16:creationId xmlns:a16="http://schemas.microsoft.com/office/drawing/2014/main" id="{E7E52252-2AAA-4185-B5C2-42F5BCC47B8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71594" y="2739909"/>
            <a:ext cx="632307" cy="632307"/>
          </a:xfrm>
          <a:prstGeom prst="rect">
            <a:avLst/>
          </a:prstGeom>
        </p:spPr>
      </p:pic>
      <p:pic>
        <p:nvPicPr>
          <p:cNvPr id="59" name="Graphic 58">
            <a:extLst>
              <a:ext uri="{FF2B5EF4-FFF2-40B4-BE49-F238E27FC236}">
                <a16:creationId xmlns:a16="http://schemas.microsoft.com/office/drawing/2014/main" id="{93725EC4-6C73-7EE1-0B86-E3C1621C74E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89786" y="3413829"/>
            <a:ext cx="634594" cy="634594"/>
          </a:xfrm>
          <a:prstGeom prst="rect">
            <a:avLst/>
          </a:prstGeom>
        </p:spPr>
      </p:pic>
      <p:pic>
        <p:nvPicPr>
          <p:cNvPr id="12" name="Picture 4" descr="SVG icon not parsed correctly? - Support - Discourse Meta">
            <a:extLst>
              <a:ext uri="{FF2B5EF4-FFF2-40B4-BE49-F238E27FC236}">
                <a16:creationId xmlns:a16="http://schemas.microsoft.com/office/drawing/2014/main" id="{A267507D-C6E2-5DEF-4038-F45FF63A29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44607" y="4827834"/>
            <a:ext cx="811549" cy="6602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Download OpenShift Logo in SVG Vector or PNG File Format ...">
            <a:extLst>
              <a:ext uri="{FF2B5EF4-FFF2-40B4-BE49-F238E27FC236}">
                <a16:creationId xmlns:a16="http://schemas.microsoft.com/office/drawing/2014/main" id="{7FA4CFA1-E304-4B07-916D-F1137855355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8716" y="5270974"/>
            <a:ext cx="1365072" cy="91004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6" descr="GitHub - containers/podman: Podman: A tool for managing OCI ...">
            <a:extLst>
              <a:ext uri="{FF2B5EF4-FFF2-40B4-BE49-F238E27FC236}">
                <a16:creationId xmlns:a16="http://schemas.microsoft.com/office/drawing/2014/main" id="{C2CEB8A2-022C-2D3F-D71C-B8484787D5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35899" y="4725297"/>
            <a:ext cx="1011272" cy="82356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8" descr="What is an AI agent?">
            <a:extLst>
              <a:ext uri="{FF2B5EF4-FFF2-40B4-BE49-F238E27FC236}">
                <a16:creationId xmlns:a16="http://schemas.microsoft.com/office/drawing/2014/main" id="{B4A865B6-5056-5157-5432-05DF7B02210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37665" y="5676014"/>
            <a:ext cx="1153378" cy="18246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Download Snowflake Computing Logo in SVG Vector or PNG File Format - Logo .wine">
            <a:extLst>
              <a:ext uri="{FF2B5EF4-FFF2-40B4-BE49-F238E27FC236}">
                <a16:creationId xmlns:a16="http://schemas.microsoft.com/office/drawing/2014/main" id="{9FEF15E0-05F5-D3C3-2FCB-79B41A0F1AD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516423" y="5343957"/>
            <a:ext cx="1304162" cy="8694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BE3B6E-D07E-C7D3-2512-AE2772862744}"/>
              </a:ext>
            </a:extLst>
          </p:cNvPr>
          <p:cNvPicPr>
            <a:picLocks noChangeAspect="1"/>
          </p:cNvPicPr>
          <p:nvPr/>
        </p:nvPicPr>
        <p:blipFill>
          <a:blip r:embed="rId16"/>
          <a:stretch>
            <a:fillRect/>
          </a:stretch>
        </p:blipFill>
        <p:spPr>
          <a:xfrm>
            <a:off x="9137664" y="6097186"/>
            <a:ext cx="1179129" cy="182467"/>
          </a:xfrm>
          <a:prstGeom prst="rect">
            <a:avLst/>
          </a:prstGeom>
        </p:spPr>
      </p:pic>
      <p:pic>
        <p:nvPicPr>
          <p:cNvPr id="3" name="Picture 2" descr="File:Google Gemini logo.svg - Wikipedia">
            <a:extLst>
              <a:ext uri="{FF2B5EF4-FFF2-40B4-BE49-F238E27FC236}">
                <a16:creationId xmlns:a16="http://schemas.microsoft.com/office/drawing/2014/main" id="{63CD140C-B712-F414-E03C-76AA3356683E}"/>
              </a:ext>
            </a:extLst>
          </p:cNvPr>
          <p:cNvPicPr>
            <a:picLocks noChangeAspect="1"/>
          </p:cNvPicPr>
          <p:nvPr/>
        </p:nvPicPr>
        <p:blipFill>
          <a:blip r:embed="rId17"/>
          <a:stretch>
            <a:fillRect/>
          </a:stretch>
        </p:blipFill>
        <p:spPr>
          <a:xfrm>
            <a:off x="8087458" y="4981016"/>
            <a:ext cx="786912" cy="2956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