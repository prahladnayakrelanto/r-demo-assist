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788A551B-DBCC-6E7C-12FA-0FAEC788B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668" y="257992"/>
            <a:ext cx="9897532" cy="559260"/>
          </a:xfrm>
        </p:spPr>
        <p:txBody>
          <a:bodyPr>
            <a:normAutofit fontScale="90000"/>
          </a:bodyPr>
          <a:lstStyle/>
          <a:p>
            <a:r>
              <a:rPr lang="en-IN" b="1">
                <a:latin typeface="Poppins" panose="00000500000000000000" pitchFamily="2" charset="0"/>
                <a:cs typeface="Poppins" panose="00000500000000000000" pitchFamily="2" charset="0"/>
              </a:rPr>
              <a:t>Mini Case Studies: Enterprise AI Capabilities Delivered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E36E118-1011-5DB9-60C1-49E7F72E0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03" y="1349346"/>
            <a:ext cx="3154097" cy="177418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68B3AF9F-9B9B-5694-D307-FB62DBFE6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6478" y="1349347"/>
            <a:ext cx="3261090" cy="183436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F8459D60-0B87-3DAF-CBC8-8B819C26E6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1378" y="1349347"/>
            <a:ext cx="3261090" cy="183436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48064A78-211F-3873-3E75-28DE5F672A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403" y="4045153"/>
            <a:ext cx="3154097" cy="177418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1633FB1C-1ADC-E4C1-E391-EEB2C89659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6479" y="4045154"/>
            <a:ext cx="3261090" cy="183436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537DE904-357B-F4AB-9C94-58417EA8C9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81378" y="4045153"/>
            <a:ext cx="3261090" cy="183436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0F457CCB-C01D-CA07-EA5F-4FDD76ADF9B6}"/>
              </a:ext>
            </a:extLst>
          </p:cNvPr>
          <p:cNvSpPr txBox="1"/>
          <p:nvPr/>
        </p:nvSpPr>
        <p:spPr>
          <a:xfrm>
            <a:off x="436970" y="3429000"/>
            <a:ext cx="32215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Customer Segmentation &amp; Profiling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8F4B2D3-ADB8-BD64-C1C0-3679F0EA022B}"/>
              </a:ext>
            </a:extLst>
          </p:cNvPr>
          <p:cNvSpPr txBox="1"/>
          <p:nvPr/>
        </p:nvSpPr>
        <p:spPr>
          <a:xfrm>
            <a:off x="4109390" y="3443836"/>
            <a:ext cx="32215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Opportunity Assessment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A475031-B13D-45D7-089D-B5DE3DE0DABC}"/>
              </a:ext>
            </a:extLst>
          </p:cNvPr>
          <p:cNvSpPr txBox="1"/>
          <p:nvPr/>
        </p:nvSpPr>
        <p:spPr>
          <a:xfrm>
            <a:off x="7781810" y="3458672"/>
            <a:ext cx="32215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Sales Recommendation Engine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1A5F1CC-BA97-9522-1B37-FECEEF87DD57}"/>
              </a:ext>
            </a:extLst>
          </p:cNvPr>
          <p:cNvSpPr txBox="1"/>
          <p:nvPr/>
        </p:nvSpPr>
        <p:spPr>
          <a:xfrm>
            <a:off x="504403" y="6129734"/>
            <a:ext cx="32215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Sales Rep Attribution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221AD42-81B0-739F-CE00-179FAEFEDDC2}"/>
              </a:ext>
            </a:extLst>
          </p:cNvPr>
          <p:cNvSpPr txBox="1"/>
          <p:nvPr/>
        </p:nvSpPr>
        <p:spPr>
          <a:xfrm>
            <a:off x="4216574" y="6173059"/>
            <a:ext cx="32215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Lead Scoring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366A415-6B0D-E85A-637F-C7CF6F9F2EC2}"/>
              </a:ext>
            </a:extLst>
          </p:cNvPr>
          <p:cNvSpPr txBox="1"/>
          <p:nvPr/>
        </p:nvSpPr>
        <p:spPr>
          <a:xfrm>
            <a:off x="7928745" y="6202883"/>
            <a:ext cx="32215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Sequence Performance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