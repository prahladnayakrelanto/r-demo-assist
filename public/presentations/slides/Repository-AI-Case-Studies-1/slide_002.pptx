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a:extLst>
              <a:ext uri="{FF2B5EF4-FFF2-40B4-BE49-F238E27FC236}">
                <a16:creationId xmlns:a16="http://schemas.microsoft.com/office/drawing/2014/main" id="{A8FA5A61-5E43-FE16-944B-FEF8BE5FFAF2}"/>
              </a:ext>
            </a:extLst>
          </p:cNvPr>
          <p:cNvSpPr>
            <a:spLocks noGrp="1"/>
          </p:cNvSpPr>
          <p:nvPr>
            <p:ph type="title"/>
          </p:nvPr>
        </p:nvSpPr>
        <p:spPr>
          <a:xfrm>
            <a:off x="592666" y="257992"/>
            <a:ext cx="9826062" cy="559260"/>
          </a:xfrm>
        </p:spPr>
        <p:txBody>
          <a:bodyPr>
            <a:noAutofit/>
          </a:bodyPr>
          <a:lstStyle/>
          <a:p>
            <a:r>
              <a:rPr lang="en-US" b="1">
                <a:latin typeface="Poppins"/>
                <a:cs typeface="Poppins"/>
              </a:rPr>
              <a:t>AI-Powered Insights Generation</a:t>
            </a:r>
            <a:endParaRPr lang="en-US"/>
          </a:p>
        </p:txBody>
      </p:sp>
      <p:sp>
        <p:nvSpPr>
          <p:cNvPr id="3" name="Rectangle 2">
            <a:extLst>
              <a:ext uri="{FF2B5EF4-FFF2-40B4-BE49-F238E27FC236}">
                <a16:creationId xmlns:a16="http://schemas.microsoft.com/office/drawing/2014/main" id="{30BD0BCD-A1F2-5642-740B-3B0FC04D4696}"/>
              </a:ext>
            </a:extLst>
          </p:cNvPr>
          <p:cNvSpPr/>
          <p:nvPr/>
        </p:nvSpPr>
        <p:spPr>
          <a:xfrm>
            <a:off x="478520" y="898057"/>
            <a:ext cx="7093507" cy="1150125"/>
          </a:xfrm>
          <a:prstGeom prst="rect">
            <a:avLst/>
          </a:prstGeom>
          <a:solidFill>
            <a:srgbClr val="002E87"/>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5" name="TextBox 4">
            <a:extLst>
              <a:ext uri="{FF2B5EF4-FFF2-40B4-BE49-F238E27FC236}">
                <a16:creationId xmlns:a16="http://schemas.microsoft.com/office/drawing/2014/main" id="{34384C9F-48D0-9CD4-E270-9E3025696F94}"/>
              </a:ext>
            </a:extLst>
          </p:cNvPr>
          <p:cNvSpPr txBox="1"/>
          <p:nvPr/>
        </p:nvSpPr>
        <p:spPr>
          <a:xfrm>
            <a:off x="433721" y="959131"/>
            <a:ext cx="7156691" cy="1061829"/>
          </a:xfrm>
          <a:prstGeom prst="rect">
            <a:avLst/>
          </a:prstGeom>
          <a:noFill/>
        </p:spPr>
        <p:txBody>
          <a:bodyPr wrap="square" lIns="91440" tIns="45720" rIns="91440" bIns="45720" anchor="t">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rPr>
              <a:t>Business Context: </a:t>
            </a:r>
            <a:r>
              <a:rPr kumimoji="0" lang="en-US" sz="1050" b="0" i="0" u="none" strike="noStrike" kern="1200" cap="none" spc="0" normalizeH="0" baseline="0" noProof="0">
                <a:ln>
                  <a:noFill/>
                </a:ln>
                <a:solidFill>
                  <a:prstClr val="white"/>
                </a:solidFill>
                <a:effectLst/>
                <a:uLnTx/>
                <a:uFillTx/>
                <a:latin typeface="Poppins" panose="00000500000000000000" pitchFamily="2" charset="0"/>
                <a:ea typeface="+mn-lt"/>
                <a:cs typeface="Poppins" panose="00000500000000000000" pitchFamily="2" charset="0"/>
              </a:rPr>
              <a:t>A leading global financial enterprise sought an innovative solution to address inefficiencies in their operational workflows. The objective was to develop an AI-powered platform designed to provide real-time insights into budgets and ROI, eliminating delays caused by traditional methods. By leveraging conversational AI, the system aimed to streamline access to critical financial data, reduce manual effort, and empower professionals to focus on high-value strategic tasks. </a:t>
            </a:r>
          </a:p>
          <a:p>
            <a:pPr marL="0" marR="0" lvl="0" indent="0" algn="just" defTabSz="914400" rtl="0" eaLnBrk="1" fontAlgn="auto" latinLnBrk="0" hangingPunct="1">
              <a:lnSpc>
                <a:spcPct val="100000"/>
              </a:lnSpc>
              <a:spcBef>
                <a:spcPts val="0"/>
              </a:spcBef>
              <a:spcAft>
                <a:spcPts val="0"/>
              </a:spcAft>
              <a:buClrTx/>
              <a:buSzTx/>
              <a:buFontTx/>
              <a:buNone/>
              <a:tabLst/>
              <a:defRPr/>
            </a:pPr>
            <a:endParaRPr kumimoji="0" lang="en-US" sz="105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p:txBody>
      </p:sp>
      <p:sp>
        <p:nvSpPr>
          <p:cNvPr id="6" name="Rectangle 5">
            <a:extLst>
              <a:ext uri="{FF2B5EF4-FFF2-40B4-BE49-F238E27FC236}">
                <a16:creationId xmlns:a16="http://schemas.microsoft.com/office/drawing/2014/main" id="{9506DBD9-CBE1-43E4-2CED-909B2D05D89C}"/>
              </a:ext>
            </a:extLst>
          </p:cNvPr>
          <p:cNvSpPr/>
          <p:nvPr/>
        </p:nvSpPr>
        <p:spPr bwMode="auto">
          <a:xfrm>
            <a:off x="7986181" y="1258770"/>
            <a:ext cx="3913129" cy="2908930"/>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grpSp>
        <p:nvGrpSpPr>
          <p:cNvPr id="7" name="Group 6">
            <a:extLst>
              <a:ext uri="{FF2B5EF4-FFF2-40B4-BE49-F238E27FC236}">
                <a16:creationId xmlns:a16="http://schemas.microsoft.com/office/drawing/2014/main" id="{0E0EEA57-7325-3507-B1BF-D049B763262F}"/>
              </a:ext>
            </a:extLst>
          </p:cNvPr>
          <p:cNvGrpSpPr/>
          <p:nvPr/>
        </p:nvGrpSpPr>
        <p:grpSpPr>
          <a:xfrm>
            <a:off x="7744415" y="898058"/>
            <a:ext cx="2979921" cy="658812"/>
            <a:chOff x="7555266" y="1214168"/>
            <a:chExt cx="2979921" cy="658812"/>
          </a:xfrm>
        </p:grpSpPr>
        <p:sp>
          <p:nvSpPr>
            <p:cNvPr id="8" name="Right Triangle 7">
              <a:extLst>
                <a:ext uri="{FF2B5EF4-FFF2-40B4-BE49-F238E27FC236}">
                  <a16:creationId xmlns:a16="http://schemas.microsoft.com/office/drawing/2014/main" id="{AE515100-7F89-D4A8-FB76-DD806641D747}"/>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9" name="Right Triangle 8">
              <a:extLst>
                <a:ext uri="{FF2B5EF4-FFF2-40B4-BE49-F238E27FC236}">
                  <a16:creationId xmlns:a16="http://schemas.microsoft.com/office/drawing/2014/main" id="{03CBBFCB-2EAC-1F7C-8942-27048572FB3E}"/>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0" name="Rectangle 9">
              <a:extLst>
                <a:ext uri="{FF2B5EF4-FFF2-40B4-BE49-F238E27FC236}">
                  <a16:creationId xmlns:a16="http://schemas.microsoft.com/office/drawing/2014/main" id="{3E03BFA3-3031-EA9C-AD6F-E3DBA843AFA6}"/>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rPr>
                <a:t> Value Delivered</a:t>
              </a:r>
              <a:endParaRPr kumimoji="0" lang="en-US" sz="140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endParaRPr>
            </a:p>
          </p:txBody>
        </p:sp>
      </p:grpSp>
      <p:sp>
        <p:nvSpPr>
          <p:cNvPr id="11" name="TextBox 10">
            <a:extLst>
              <a:ext uri="{FF2B5EF4-FFF2-40B4-BE49-F238E27FC236}">
                <a16:creationId xmlns:a16="http://schemas.microsoft.com/office/drawing/2014/main" id="{3C93B4C9-55E7-221E-8EFD-C08CBC122ABE}"/>
              </a:ext>
            </a:extLst>
          </p:cNvPr>
          <p:cNvSpPr txBox="1"/>
          <p:nvPr/>
        </p:nvSpPr>
        <p:spPr>
          <a:xfrm>
            <a:off x="8071399" y="1418739"/>
            <a:ext cx="3827909" cy="2739211"/>
          </a:xfrm>
          <a:prstGeom prst="rect">
            <a:avLst/>
          </a:prstGeom>
          <a:noFill/>
        </p:spPr>
        <p:txBody>
          <a:bodyPr wrap="square" lIns="91440" tIns="45720" rIns="91440" bIns="45720" rtlCol="0" anchor="t">
            <a:spAutoFit/>
          </a:bodyPr>
          <a:lstStyle/>
          <a:p>
            <a:pPr marL="285750" marR="0" lvl="0" indent="-285750" algn="l" defTabSz="1218987" rtl="0" eaLnBrk="1" fontAlgn="auto" latinLnBrk="0" hangingPunct="1">
              <a:lnSpc>
                <a:spcPct val="120000"/>
              </a:lnSpc>
              <a:spcBef>
                <a:spcPts val="0"/>
              </a:spcBef>
              <a:spcAft>
                <a:spcPts val="0"/>
              </a:spcAft>
              <a:buClrTx/>
              <a:buSzPct val="60000"/>
              <a:buFont typeface="Arial" panose="020B0604020202020204" pitchFamily="34" charset="0"/>
              <a:buChar char="•"/>
              <a:tabLst/>
              <a:defRPr/>
            </a:pPr>
            <a:r>
              <a:rPr kumimoji="0" lang="en-US" sz="1200" b="0" i="0" u="none" strike="noStrike" kern="0" cap="none" spc="0" normalizeH="0" baseline="0" noProof="0">
                <a:ln>
                  <a:noFill/>
                </a:ln>
                <a:solidFill>
                  <a:srgbClr val="002060"/>
                </a:solidFill>
                <a:effectLst/>
                <a:uLnTx/>
                <a:uFillTx/>
                <a:latin typeface="Poppins" panose="00000500000000000000" pitchFamily="2" charset="0"/>
                <a:ea typeface="+mn-lt"/>
                <a:cs typeface="Poppins" panose="00000500000000000000" pitchFamily="2" charset="0"/>
              </a:rPr>
              <a:t>Real-time insights allowed finance teams to act swiftly and optimize strategies. </a:t>
            </a:r>
            <a:endParaRPr kumimoji="0" lang="en-US" sz="12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l" defTabSz="1218987" rtl="0" eaLnBrk="1" fontAlgn="auto" latinLnBrk="0" hangingPunct="0">
              <a:lnSpc>
                <a:spcPct val="120000"/>
              </a:lnSpc>
              <a:spcBef>
                <a:spcPts val="0"/>
              </a:spcBef>
              <a:spcAft>
                <a:spcPts val="0"/>
              </a:spcAft>
              <a:buClrTx/>
              <a:buSzPct val="60000"/>
              <a:buFont typeface="Arial" panose="020B0604020202020204" pitchFamily="34" charset="0"/>
              <a:buChar char="•"/>
              <a:tabLst/>
              <a:defRPr/>
            </a:pPr>
            <a:endParaRPr kumimoji="0" lang="en-US" sz="1200" b="0" i="0" u="none" strike="noStrike" kern="0" cap="none" spc="0" normalizeH="0" baseline="0" noProof="0">
              <a:ln>
                <a:noFill/>
              </a:ln>
              <a:solidFill>
                <a:srgbClr val="002060"/>
              </a:solidFill>
              <a:effectLst/>
              <a:uLnTx/>
              <a:uFillTx/>
              <a:latin typeface="Poppins" panose="00000500000000000000" pitchFamily="2" charset="0"/>
              <a:ea typeface="ＭＳ Ｐゴシック"/>
              <a:cs typeface="Poppins" panose="00000500000000000000" pitchFamily="2" charset="0"/>
            </a:endParaRPr>
          </a:p>
          <a:p>
            <a:pPr marL="285750" marR="0" lvl="0" indent="-285750" algn="l" defTabSz="1218987" rtl="0" eaLnBrk="1" fontAlgn="auto" latinLnBrk="0" hangingPunct="1">
              <a:lnSpc>
                <a:spcPct val="120000"/>
              </a:lnSpc>
              <a:spcBef>
                <a:spcPts val="0"/>
              </a:spcBef>
              <a:spcAft>
                <a:spcPts val="0"/>
              </a:spcAft>
              <a:buClrTx/>
              <a:buSzPct val="60000"/>
              <a:buFont typeface="Arial" panose="020B0604020202020204" pitchFamily="34" charset="0"/>
              <a:buChar char="•"/>
              <a:tabLst/>
              <a:defRPr/>
            </a:pPr>
            <a:r>
              <a:rPr kumimoji="0" lang="en-US" sz="1200" b="0" i="0" u="none" strike="noStrike" kern="0" cap="none" spc="0" normalizeH="0" baseline="0" noProof="0">
                <a:ln>
                  <a:noFill/>
                </a:ln>
                <a:solidFill>
                  <a:srgbClr val="002060"/>
                </a:solidFill>
                <a:effectLst/>
                <a:uLnTx/>
                <a:uFillTx/>
                <a:latin typeface="Poppins" panose="00000500000000000000" pitchFamily="2" charset="0"/>
                <a:ea typeface="+mn-lt"/>
                <a:cs typeface="Poppins" panose="00000500000000000000" pitchFamily="2" charset="0"/>
              </a:rPr>
              <a:t>Streamlined data access reduced dependency on teams and saved significant time. </a:t>
            </a:r>
            <a:endParaRPr kumimoji="0" lang="en-US" sz="12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l" defTabSz="1218987" rtl="0" eaLnBrk="1" fontAlgn="auto" latinLnBrk="0" hangingPunct="0">
              <a:lnSpc>
                <a:spcPct val="120000"/>
              </a:lnSpc>
              <a:spcBef>
                <a:spcPts val="0"/>
              </a:spcBef>
              <a:spcAft>
                <a:spcPts val="0"/>
              </a:spcAft>
              <a:buClrTx/>
              <a:buSzPct val="60000"/>
              <a:buFont typeface="Arial" panose="020B0604020202020204" pitchFamily="34" charset="0"/>
              <a:buChar char="•"/>
              <a:tabLst/>
              <a:defRPr/>
            </a:pPr>
            <a:endParaRPr kumimoji="0" lang="en-US" sz="1200" b="0" i="0" u="none" strike="noStrike" kern="0" cap="none" spc="0" normalizeH="0" baseline="0" noProof="0">
              <a:ln>
                <a:noFill/>
              </a:ln>
              <a:solidFill>
                <a:srgbClr val="002060"/>
              </a:solidFill>
              <a:effectLst/>
              <a:uLnTx/>
              <a:uFillTx/>
              <a:latin typeface="Poppins" panose="00000500000000000000" pitchFamily="2" charset="0"/>
              <a:ea typeface="ＭＳ Ｐゴシック"/>
              <a:cs typeface="Poppins" panose="00000500000000000000" pitchFamily="2" charset="0"/>
            </a:endParaRPr>
          </a:p>
          <a:p>
            <a:pPr marL="285750" marR="0" lvl="0" indent="-285750" algn="l" defTabSz="1218987" rtl="0" eaLnBrk="1" fontAlgn="auto" latinLnBrk="0" hangingPunct="1">
              <a:lnSpc>
                <a:spcPct val="120000"/>
              </a:lnSpc>
              <a:spcBef>
                <a:spcPts val="0"/>
              </a:spcBef>
              <a:spcAft>
                <a:spcPts val="0"/>
              </a:spcAft>
              <a:buClrTx/>
              <a:buSzPct val="60000"/>
              <a:buFont typeface="Arial" panose="020B0604020202020204" pitchFamily="34" charset="0"/>
              <a:buChar char="•"/>
              <a:tabLst/>
              <a:defRPr/>
            </a:pPr>
            <a:r>
              <a:rPr kumimoji="0" lang="en-US" sz="1200" b="0" i="0" u="none" strike="noStrike" kern="0" cap="none" spc="0" normalizeH="0" baseline="0" noProof="0">
                <a:ln>
                  <a:noFill/>
                </a:ln>
                <a:solidFill>
                  <a:srgbClr val="002060"/>
                </a:solidFill>
                <a:effectLst/>
                <a:uLnTx/>
                <a:uFillTx/>
                <a:latin typeface="Poppins" panose="00000500000000000000" pitchFamily="2" charset="0"/>
                <a:ea typeface="+mn-lt"/>
                <a:cs typeface="Poppins" panose="00000500000000000000" pitchFamily="2" charset="0"/>
              </a:rPr>
              <a:t>Insights into trends and ROI helped refine financial strategies for maximum impact. </a:t>
            </a:r>
          </a:p>
          <a:p>
            <a:pPr marL="285750" marR="0" lvl="0" indent="-285750" algn="l" defTabSz="1218987" rtl="0" eaLnBrk="1" fontAlgn="auto" latinLnBrk="0" hangingPunct="1">
              <a:lnSpc>
                <a:spcPct val="120000"/>
              </a:lnSpc>
              <a:spcBef>
                <a:spcPts val="0"/>
              </a:spcBef>
              <a:spcAft>
                <a:spcPts val="0"/>
              </a:spcAft>
              <a:buClrTx/>
              <a:buSzPct val="60000"/>
              <a:buFont typeface="Arial" panose="020B0604020202020204" pitchFamily="34" charset="0"/>
              <a:buChar char="•"/>
              <a:tabLst/>
              <a:defRPr/>
            </a:pPr>
            <a:endParaRPr kumimoji="0" lang="en-US" sz="1200" b="0" i="0" u="none" strike="noStrike" kern="0" cap="none" spc="0" normalizeH="0" baseline="0" noProof="0">
              <a:ln>
                <a:noFill/>
              </a:ln>
              <a:solidFill>
                <a:srgbClr val="002060"/>
              </a:solidFill>
              <a:effectLst/>
              <a:uLnTx/>
              <a:uFillTx/>
              <a:latin typeface="Poppins" panose="00000500000000000000" pitchFamily="2" charset="0"/>
              <a:ea typeface="+mn-lt"/>
              <a:cs typeface="Poppins" panose="00000500000000000000" pitchFamily="2" charset="0"/>
            </a:endParaRPr>
          </a:p>
          <a:p>
            <a:pPr marL="285750" marR="0" lvl="0" indent="-285750" algn="l" defTabSz="1218987" rtl="0" eaLnBrk="1" fontAlgn="auto" latinLnBrk="0" hangingPunct="1">
              <a:lnSpc>
                <a:spcPct val="120000"/>
              </a:lnSpc>
              <a:spcBef>
                <a:spcPts val="0"/>
              </a:spcBef>
              <a:spcAft>
                <a:spcPts val="0"/>
              </a:spcAft>
              <a:buClrTx/>
              <a:buSzPct val="60000"/>
              <a:buFont typeface="Arial" panose="020B0604020202020204" pitchFamily="34" charset="0"/>
              <a:buChar char="•"/>
              <a:tabLst/>
              <a:defRPr/>
            </a:pPr>
            <a:r>
              <a:rPr kumimoji="0" lang="en-US" sz="1200" b="0" i="0" u="none" strike="noStrike" kern="0" cap="none" spc="0" normalizeH="0" baseline="0" noProof="0">
                <a:ln>
                  <a:noFill/>
                </a:ln>
                <a:solidFill>
                  <a:srgbClr val="002060"/>
                </a:solidFill>
                <a:effectLst/>
                <a:uLnTx/>
                <a:uFillTx/>
                <a:latin typeface="Poppins" panose="00000500000000000000" pitchFamily="2" charset="0"/>
                <a:ea typeface="+mn-lt"/>
                <a:cs typeface="Poppins" panose="00000500000000000000" pitchFamily="2" charset="0"/>
              </a:rPr>
              <a:t>An intuitive chatbot reduced barriers to data access, improving user satisfaction. </a:t>
            </a:r>
            <a:endParaRPr kumimoji="0" lang="en-US" sz="1200" b="0" i="0" u="none" strike="noStrike" kern="0" cap="none" spc="0" normalizeH="0" baseline="0" noProof="0">
              <a:ln>
                <a:noFill/>
              </a:ln>
              <a:solidFill>
                <a:srgbClr val="002060"/>
              </a:solidFill>
              <a:effectLst/>
              <a:uLnTx/>
              <a:uFillTx/>
              <a:latin typeface="Poppins" panose="00000500000000000000" pitchFamily="2" charset="0"/>
              <a:ea typeface="+mn-ea"/>
              <a:cs typeface="Poppins" panose="00000500000000000000" pitchFamily="2" charset="0"/>
            </a:endParaRPr>
          </a:p>
        </p:txBody>
      </p:sp>
      <p:sp>
        <p:nvSpPr>
          <p:cNvPr id="12" name="Rectangle 11">
            <a:extLst>
              <a:ext uri="{FF2B5EF4-FFF2-40B4-BE49-F238E27FC236}">
                <a16:creationId xmlns:a16="http://schemas.microsoft.com/office/drawing/2014/main" id="{A95856C4-396E-8C38-2D9B-AD821CAD8A67}"/>
              </a:ext>
            </a:extLst>
          </p:cNvPr>
          <p:cNvSpPr/>
          <p:nvPr/>
        </p:nvSpPr>
        <p:spPr bwMode="auto">
          <a:xfrm>
            <a:off x="7986180" y="4739338"/>
            <a:ext cx="3913129" cy="1689542"/>
          </a:xfrm>
          <a:prstGeom prst="rect">
            <a:avLst/>
          </a:prstGeom>
          <a:solidFill>
            <a:schemeClr val="bg1">
              <a:lumMod val="95000"/>
            </a:schemeClr>
          </a:solidFill>
          <a:ln w="9525">
            <a:noFill/>
            <a:round/>
            <a:headEnd/>
            <a:tailEnd/>
          </a:ln>
          <a:effectLst/>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grpSp>
        <p:nvGrpSpPr>
          <p:cNvPr id="13" name="Group 12">
            <a:extLst>
              <a:ext uri="{FF2B5EF4-FFF2-40B4-BE49-F238E27FC236}">
                <a16:creationId xmlns:a16="http://schemas.microsoft.com/office/drawing/2014/main" id="{CD3CB1CF-2F6E-254B-6601-C637E9FF1DCD}"/>
              </a:ext>
            </a:extLst>
          </p:cNvPr>
          <p:cNvGrpSpPr/>
          <p:nvPr/>
        </p:nvGrpSpPr>
        <p:grpSpPr>
          <a:xfrm>
            <a:off x="7737324" y="4356976"/>
            <a:ext cx="2979921" cy="658812"/>
            <a:chOff x="7555266" y="1214168"/>
            <a:chExt cx="2979921" cy="658812"/>
          </a:xfrm>
        </p:grpSpPr>
        <p:sp>
          <p:nvSpPr>
            <p:cNvPr id="14" name="Right Triangle 13">
              <a:extLst>
                <a:ext uri="{FF2B5EF4-FFF2-40B4-BE49-F238E27FC236}">
                  <a16:creationId xmlns:a16="http://schemas.microsoft.com/office/drawing/2014/main" id="{08D480C3-9A8E-61B1-3A86-C5A94E49F302}"/>
                </a:ext>
              </a:extLst>
            </p:cNvPr>
            <p:cNvSpPr/>
            <p:nvPr/>
          </p:nvSpPr>
          <p:spPr bwMode="auto">
            <a:xfrm>
              <a:off x="10287623" y="1224031"/>
              <a:ext cx="247564" cy="350848"/>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5" name="Right Triangle 14">
              <a:extLst>
                <a:ext uri="{FF2B5EF4-FFF2-40B4-BE49-F238E27FC236}">
                  <a16:creationId xmlns:a16="http://schemas.microsoft.com/office/drawing/2014/main" id="{A42EA58A-4C25-A018-73BA-E244F5EACE3B}"/>
                </a:ext>
              </a:extLst>
            </p:cNvPr>
            <p:cNvSpPr/>
            <p:nvPr/>
          </p:nvSpPr>
          <p:spPr bwMode="auto">
            <a:xfrm rot="10800000">
              <a:off x="7555266" y="1683704"/>
              <a:ext cx="247564" cy="189276"/>
            </a:xfrm>
            <a:prstGeom prst="rtTriangle">
              <a:avLst/>
            </a:prstGeom>
            <a:solidFill>
              <a:srgbClr val="288886"/>
            </a:solidFill>
            <a:ln w="9525">
              <a:noFill/>
              <a:round/>
              <a:headEnd/>
              <a:tailEnd/>
            </a:ln>
          </p:spPr>
          <p:txBody>
            <a:bodyPr vert="horz" wrap="square" lIns="91440" tIns="45720" rIns="91440" bIns="45720" numCol="1" rtlCol="0" anchor="t"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16" name="Rectangle 15">
              <a:extLst>
                <a:ext uri="{FF2B5EF4-FFF2-40B4-BE49-F238E27FC236}">
                  <a16:creationId xmlns:a16="http://schemas.microsoft.com/office/drawing/2014/main" id="{A5078060-15A4-A890-9047-68CDAD296BFA}"/>
                </a:ext>
              </a:extLst>
            </p:cNvPr>
            <p:cNvSpPr/>
            <p:nvPr/>
          </p:nvSpPr>
          <p:spPr bwMode="auto">
            <a:xfrm>
              <a:off x="7555266" y="1214168"/>
              <a:ext cx="2732357" cy="469537"/>
            </a:xfrm>
            <a:prstGeom prst="rect">
              <a:avLst/>
            </a:prstGeom>
            <a:solidFill>
              <a:srgbClr val="39C1BF"/>
            </a:solidFill>
            <a:ln w="9525">
              <a:noFill/>
              <a:round/>
              <a:headEnd/>
              <a:tailEnd/>
            </a:ln>
            <a:effectLst>
              <a:outerShdw blurRad="50800" dist="38100" dir="5400000" algn="t" rotWithShape="0">
                <a:prstClr val="black">
                  <a:alpha val="40000"/>
                </a:prstClr>
              </a:outerShdw>
            </a:effectLst>
          </p:spPr>
          <p:txBody>
            <a:bodyPr vert="horz" wrap="square" lIns="91440" tIns="45720" rIns="91440" bIns="45720" numCol="1" rtlCol="0" anchor="ctr"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a:ln>
                    <a:noFill/>
                  </a:ln>
                  <a:solidFill>
                    <a:prstClr val="white"/>
                  </a:solidFill>
                  <a:effectLst/>
                  <a:uLnTx/>
                  <a:uFillTx/>
                  <a:latin typeface="Poppins" panose="00000500000000000000" pitchFamily="2" charset="0"/>
                  <a:ea typeface="+mn-ea"/>
                  <a:cs typeface="Poppins" panose="00000500000000000000" pitchFamily="2" charset="0"/>
                </a:rPr>
                <a:t>Technology Stack </a:t>
              </a:r>
            </a:p>
          </p:txBody>
        </p:sp>
      </p:grpSp>
      <p:sp>
        <p:nvSpPr>
          <p:cNvPr id="4" name="Rectangle 3">
            <a:extLst>
              <a:ext uri="{FF2B5EF4-FFF2-40B4-BE49-F238E27FC236}">
                <a16:creationId xmlns:a16="http://schemas.microsoft.com/office/drawing/2014/main" id="{3BB6B668-8E3C-5530-77A5-6C9F04C0D3CB}"/>
              </a:ext>
            </a:extLst>
          </p:cNvPr>
          <p:cNvSpPr/>
          <p:nvPr/>
        </p:nvSpPr>
        <p:spPr>
          <a:xfrm>
            <a:off x="4085266" y="2719468"/>
            <a:ext cx="3505147" cy="360421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Calibri" panose="020F0502020204030204" pitchFamily="34" charset="0"/>
              <a:cs typeface="Poppins" panose="00000500000000000000" pitchFamily="2" charset="0"/>
            </a:endParaRPr>
          </a:p>
        </p:txBody>
      </p:sp>
      <p:sp>
        <p:nvSpPr>
          <p:cNvPr id="17" name="Rectangle 16">
            <a:extLst>
              <a:ext uri="{FF2B5EF4-FFF2-40B4-BE49-F238E27FC236}">
                <a16:creationId xmlns:a16="http://schemas.microsoft.com/office/drawing/2014/main" id="{A3386E1D-550A-DF4F-3A53-EEE9843EC7BC}"/>
              </a:ext>
            </a:extLst>
          </p:cNvPr>
          <p:cNvSpPr/>
          <p:nvPr/>
        </p:nvSpPr>
        <p:spPr>
          <a:xfrm>
            <a:off x="455084" y="2735650"/>
            <a:ext cx="3505147" cy="3604216"/>
          </a:xfrm>
          <a:prstGeom prst="rect">
            <a:avLst/>
          </a:prstGeom>
          <a:solidFill>
            <a:srgbClr val="F1F4F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Calibri" panose="020F0502020204030204" pitchFamily="34" charset="0"/>
              <a:cs typeface="Poppins" panose="00000500000000000000" pitchFamily="2" charset="0"/>
            </a:endParaRPr>
          </a:p>
        </p:txBody>
      </p:sp>
      <p:sp>
        <p:nvSpPr>
          <p:cNvPr id="27" name="TextBox 26">
            <a:extLst>
              <a:ext uri="{FF2B5EF4-FFF2-40B4-BE49-F238E27FC236}">
                <a16:creationId xmlns:a16="http://schemas.microsoft.com/office/drawing/2014/main" id="{CD3A5811-5BFD-4F1F-3A4B-EE1AA1AFAE50}"/>
              </a:ext>
            </a:extLst>
          </p:cNvPr>
          <p:cNvSpPr txBox="1"/>
          <p:nvPr/>
        </p:nvSpPr>
        <p:spPr>
          <a:xfrm>
            <a:off x="460547" y="2773669"/>
            <a:ext cx="3494710" cy="3647152"/>
          </a:xfrm>
          <a:prstGeom prst="rect">
            <a:avLst/>
          </a:prstGeom>
          <a:noFill/>
        </p:spPr>
        <p:txBody>
          <a:bodyPr wrap="square" lIns="91440" tIns="45720" rIns="91440" bIns="45720" anchor="t">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1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Users faced difficulties navigating multiple dashboards and systems to gather budget insights. The solution required a unified conversational interface to simplify this process. </a:t>
            </a:r>
            <a:endParaRPr kumimoji="0" lang="en-US" sz="11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1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1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Aggregating data from systems like Salesforce, </a:t>
            </a:r>
            <a:r>
              <a:rPr kumimoji="0" lang="en-US" sz="1100" b="0" i="0" u="none" strike="noStrike" kern="1200" cap="none" spc="0" normalizeH="0" baseline="0" noProof="0" err="1">
                <a:ln>
                  <a:noFill/>
                </a:ln>
                <a:solidFill>
                  <a:prstClr val="black"/>
                </a:solidFill>
                <a:effectLst/>
                <a:uLnTx/>
                <a:uFillTx/>
                <a:latin typeface="Poppins" panose="00000500000000000000" pitchFamily="2" charset="0"/>
                <a:ea typeface="+mn-lt"/>
                <a:cs typeface="Poppins" panose="00000500000000000000" pitchFamily="2" charset="0"/>
              </a:rPr>
              <a:t>BigQuery</a:t>
            </a:r>
            <a:r>
              <a:rPr kumimoji="0" lang="en-US" sz="11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 and finance tools required developing robust connectors and seamless APIs. </a:t>
            </a:r>
            <a:endParaRPr kumimoji="0" lang="en-US" sz="11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1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1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Providing instant responses to natural language queries necessitated scalable AI models for on-the-fly data processing and trend analysis. </a:t>
            </a:r>
            <a:endParaRPr kumimoji="0" lang="en-US" sz="11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1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1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The lack of an intuitive, user-friendly interface needed to be addressed with a conversational design that could understand and respond effectively to queries from finance professionals. </a:t>
            </a:r>
            <a:endParaRPr kumimoji="0" lang="en-US" sz="11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p:txBody>
      </p:sp>
      <p:sp>
        <p:nvSpPr>
          <p:cNvPr id="28" name="TextBox 27">
            <a:extLst>
              <a:ext uri="{FF2B5EF4-FFF2-40B4-BE49-F238E27FC236}">
                <a16:creationId xmlns:a16="http://schemas.microsoft.com/office/drawing/2014/main" id="{65089B68-F906-A44E-18E7-0041E3FD1147}"/>
              </a:ext>
            </a:extLst>
          </p:cNvPr>
          <p:cNvSpPr txBox="1"/>
          <p:nvPr/>
        </p:nvSpPr>
        <p:spPr>
          <a:xfrm>
            <a:off x="4059824" y="2763341"/>
            <a:ext cx="3505147" cy="3323987"/>
          </a:xfrm>
          <a:prstGeom prst="rect">
            <a:avLst/>
          </a:prstGeom>
          <a:noFill/>
        </p:spPr>
        <p:txBody>
          <a:bodyPr wrap="square" lIns="91440" tIns="45720" rIns="91440" bIns="45720" anchor="t">
            <a:spAutoFit/>
          </a:bodyPr>
          <a:lstStyle/>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Leveraged ML models and NLP to provide actionable insights on budget and ROI in real-time, such as cost per deal or campaign performance metrics. </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0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Enabled users to input queries in natural language, simplifying the process of retrieving investment and financial insights. This user-friendly interface reduced the complexity of data navigation, improving accessibility and overall user experience.</a:t>
            </a: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0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Incorporated trend and pattern analysis to empower users with foresight into ROI and spending efficiency. By forecasting future outcomes, finance teams could proactively adjust their strategies to maximize ROI.</a:t>
            </a:r>
            <a:endParaRPr kumimoji="0" lang="en-US" sz="1000" b="0" i="0" u="none" strike="noStrike" kern="1200" cap="none" spc="0" normalizeH="0" baseline="0" noProof="0">
              <a:ln>
                <a:noFill/>
              </a:ln>
              <a:solidFill>
                <a:prstClr val="black"/>
              </a:solidFill>
              <a:effectLst/>
              <a:uLnTx/>
              <a:uFillTx/>
              <a:latin typeface="Poppins" panose="00000500000000000000" pitchFamily="2" charset="0"/>
              <a:ea typeface="+mn-ea"/>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endParaRPr kumimoji="0" lang="en-US" sz="10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endParaRPr>
          </a:p>
          <a:p>
            <a:pPr marL="285750" marR="0" lvl="0" indent="-285750" algn="just"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en-US" sz="1000" b="0" i="0" u="none" strike="noStrike" kern="1200" cap="none" spc="0" normalizeH="0" baseline="0" noProof="0">
                <a:ln>
                  <a:noFill/>
                </a:ln>
                <a:solidFill>
                  <a:prstClr val="black"/>
                </a:solidFill>
                <a:effectLst/>
                <a:uLnTx/>
                <a:uFillTx/>
                <a:latin typeface="Poppins" panose="00000500000000000000" pitchFamily="2" charset="0"/>
                <a:ea typeface="+mn-lt"/>
                <a:cs typeface="Poppins" panose="00000500000000000000" pitchFamily="2" charset="0"/>
              </a:rPr>
              <a:t>Integration with disparate datasets allowed for real-time access to comprehensive datasets, eliminating the need for manual aggregation.</a:t>
            </a:r>
          </a:p>
        </p:txBody>
      </p:sp>
      <p:grpSp>
        <p:nvGrpSpPr>
          <p:cNvPr id="30" name="Group 29">
            <a:extLst>
              <a:ext uri="{FF2B5EF4-FFF2-40B4-BE49-F238E27FC236}">
                <a16:creationId xmlns:a16="http://schemas.microsoft.com/office/drawing/2014/main" id="{DFF5BFF8-8157-45D7-32ED-5C8137468FF6}"/>
              </a:ext>
            </a:extLst>
          </p:cNvPr>
          <p:cNvGrpSpPr/>
          <p:nvPr/>
        </p:nvGrpSpPr>
        <p:grpSpPr>
          <a:xfrm>
            <a:off x="455083" y="2124118"/>
            <a:ext cx="3505147" cy="506676"/>
            <a:chOff x="377675" y="2790487"/>
            <a:chExt cx="3075565" cy="506676"/>
          </a:xfrm>
        </p:grpSpPr>
        <p:sp>
          <p:nvSpPr>
            <p:cNvPr id="31" name="Pentagon 43">
              <a:extLst>
                <a:ext uri="{FF2B5EF4-FFF2-40B4-BE49-F238E27FC236}">
                  <a16:creationId xmlns:a16="http://schemas.microsoft.com/office/drawing/2014/main" id="{A56466E3-CA79-265D-6900-46891E61447F}"/>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32" name="Pentagon 42">
              <a:extLst>
                <a:ext uri="{FF2B5EF4-FFF2-40B4-BE49-F238E27FC236}">
                  <a16:creationId xmlns:a16="http://schemas.microsoft.com/office/drawing/2014/main" id="{B7BE423A-6E54-54BD-A460-4B7CABFC99BB}"/>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33" name="Pentagon 40">
              <a:extLst>
                <a:ext uri="{FF2B5EF4-FFF2-40B4-BE49-F238E27FC236}">
                  <a16:creationId xmlns:a16="http://schemas.microsoft.com/office/drawing/2014/main" id="{A112115D-A094-D6DA-DACF-E4C0C104C14A}"/>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2E87"/>
                  </a:solidFill>
                  <a:effectLst/>
                  <a:uLnTx/>
                  <a:uFillTx/>
                  <a:latin typeface="Poppins" panose="00000500000000000000" pitchFamily="2" charset="0"/>
                  <a:ea typeface="+mn-ea"/>
                  <a:cs typeface="Poppins" panose="00000500000000000000" pitchFamily="2" charset="0"/>
                </a:rPr>
                <a:t>Challenges</a:t>
              </a:r>
            </a:p>
          </p:txBody>
        </p:sp>
      </p:grpSp>
      <p:grpSp>
        <p:nvGrpSpPr>
          <p:cNvPr id="38" name="Group 37">
            <a:extLst>
              <a:ext uri="{FF2B5EF4-FFF2-40B4-BE49-F238E27FC236}">
                <a16:creationId xmlns:a16="http://schemas.microsoft.com/office/drawing/2014/main" id="{7FAA4C4E-E09F-B1D3-B9E6-CCF0AF0EFBE0}"/>
              </a:ext>
            </a:extLst>
          </p:cNvPr>
          <p:cNvGrpSpPr/>
          <p:nvPr/>
        </p:nvGrpSpPr>
        <p:grpSpPr>
          <a:xfrm>
            <a:off x="4085265" y="2128987"/>
            <a:ext cx="3505147" cy="506676"/>
            <a:chOff x="377675" y="2790487"/>
            <a:chExt cx="3075565" cy="506676"/>
          </a:xfrm>
        </p:grpSpPr>
        <p:sp>
          <p:nvSpPr>
            <p:cNvPr id="39" name="Pentagon 43">
              <a:extLst>
                <a:ext uri="{FF2B5EF4-FFF2-40B4-BE49-F238E27FC236}">
                  <a16:creationId xmlns:a16="http://schemas.microsoft.com/office/drawing/2014/main" id="{ACAEACA6-7578-40D4-D0DE-FFC642A20B63}"/>
                </a:ext>
              </a:extLst>
            </p:cNvPr>
            <p:cNvSpPr/>
            <p:nvPr/>
          </p:nvSpPr>
          <p:spPr>
            <a:xfrm>
              <a:off x="559489" y="2790487"/>
              <a:ext cx="2893751" cy="506101"/>
            </a:xfrm>
            <a:prstGeom prst="roundRect">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40" name="Pentagon 42">
              <a:extLst>
                <a:ext uri="{FF2B5EF4-FFF2-40B4-BE49-F238E27FC236}">
                  <a16:creationId xmlns:a16="http://schemas.microsoft.com/office/drawing/2014/main" id="{9B7532DD-48EE-1CD1-0DC0-2CBACA1D34D6}"/>
                </a:ext>
              </a:extLst>
            </p:cNvPr>
            <p:cNvSpPr/>
            <p:nvPr/>
          </p:nvSpPr>
          <p:spPr>
            <a:xfrm>
              <a:off x="468582" y="2790775"/>
              <a:ext cx="2893751" cy="506101"/>
            </a:xfrm>
            <a:prstGeom prst="roundRect">
              <a:avLst/>
            </a:prstGeom>
            <a:solidFill>
              <a:srgbClr val="002E8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srgbClr val="FFFFFF"/>
                </a:solidFill>
                <a:effectLst/>
                <a:uLnTx/>
                <a:uFillTx/>
                <a:latin typeface="Poppins" panose="00000500000000000000" pitchFamily="2" charset="0"/>
                <a:ea typeface="+mn-ea"/>
                <a:cs typeface="Poppins" panose="00000500000000000000" pitchFamily="2" charset="0"/>
              </a:endParaRPr>
            </a:p>
          </p:txBody>
        </p:sp>
        <p:sp>
          <p:nvSpPr>
            <p:cNvPr id="41" name="Pentagon 40">
              <a:extLst>
                <a:ext uri="{FF2B5EF4-FFF2-40B4-BE49-F238E27FC236}">
                  <a16:creationId xmlns:a16="http://schemas.microsoft.com/office/drawing/2014/main" id="{382E60A6-3AC8-F104-FC51-EE534C231BA6}"/>
                </a:ext>
              </a:extLst>
            </p:cNvPr>
            <p:cNvSpPr/>
            <p:nvPr/>
          </p:nvSpPr>
          <p:spPr>
            <a:xfrm>
              <a:off x="377675" y="2791062"/>
              <a:ext cx="2893751" cy="506101"/>
            </a:xfrm>
            <a:prstGeom prst="round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002E87"/>
                  </a:solidFill>
                  <a:effectLst/>
                  <a:uLnTx/>
                  <a:uFillTx/>
                  <a:latin typeface="Poppins" panose="00000500000000000000" pitchFamily="2" charset="0"/>
                  <a:ea typeface="+mn-ea"/>
                  <a:cs typeface="Poppins" panose="00000500000000000000" pitchFamily="2" charset="0"/>
                </a:rPr>
                <a:t>Solutions</a:t>
              </a:r>
            </a:p>
          </p:txBody>
        </p:sp>
      </p:grpSp>
      <p:pic>
        <p:nvPicPr>
          <p:cNvPr id="44" name="Picture 43" descr="A blue and yellow snake&#10;&#10;Description automatically generated">
            <a:extLst>
              <a:ext uri="{FF2B5EF4-FFF2-40B4-BE49-F238E27FC236}">
                <a16:creationId xmlns:a16="http://schemas.microsoft.com/office/drawing/2014/main" id="{C59684B9-7AFB-AC1E-458A-416033D55935}"/>
              </a:ext>
            </a:extLst>
          </p:cNvPr>
          <p:cNvPicPr>
            <a:picLocks noChangeAspect="1"/>
          </p:cNvPicPr>
          <p:nvPr/>
        </p:nvPicPr>
        <p:blipFill>
          <a:blip r:embed="rId2"/>
          <a:stretch>
            <a:fillRect/>
          </a:stretch>
        </p:blipFill>
        <p:spPr>
          <a:xfrm>
            <a:off x="8182338" y="4963483"/>
            <a:ext cx="701307" cy="692724"/>
          </a:xfrm>
          <a:prstGeom prst="rect">
            <a:avLst/>
          </a:prstGeom>
        </p:spPr>
      </p:pic>
      <p:pic>
        <p:nvPicPr>
          <p:cNvPr id="48" name="Picture 10" descr="React Logo PNG Transparent &amp; SVG Vector - Freebie Supply">
            <a:extLst>
              <a:ext uri="{FF2B5EF4-FFF2-40B4-BE49-F238E27FC236}">
                <a16:creationId xmlns:a16="http://schemas.microsoft.com/office/drawing/2014/main" id="{448A3694-9901-9559-FD10-F85A03177F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8772" y="5696892"/>
            <a:ext cx="737831" cy="694428"/>
          </a:xfrm>
          <a:prstGeom prst="rect">
            <a:avLst/>
          </a:prstGeom>
          <a:noFill/>
          <a:extLst>
            <a:ext uri="{909E8E84-426E-40DD-AFC4-6F175D3DCCD1}">
              <a14:hiddenFill xmlns:a14="http://schemas.microsoft.com/office/drawing/2010/main">
                <a:solidFill>
                  <a:srgbClr val="FFFFFF"/>
                </a:solidFill>
              </a14:hiddenFill>
            </a:ext>
          </a:extLst>
        </p:spPr>
      </p:pic>
      <p:pic>
        <p:nvPicPr>
          <p:cNvPr id="50" name="Picture 49">
            <a:extLst>
              <a:ext uri="{FF2B5EF4-FFF2-40B4-BE49-F238E27FC236}">
                <a16:creationId xmlns:a16="http://schemas.microsoft.com/office/drawing/2014/main" id="{2B7BE312-E698-4C39-450D-14ED6BAE8D0C}"/>
              </a:ext>
            </a:extLst>
          </p:cNvPr>
          <p:cNvPicPr>
            <a:picLocks noChangeAspect="1"/>
          </p:cNvPicPr>
          <p:nvPr/>
        </p:nvPicPr>
        <p:blipFill>
          <a:blip r:embed="rId4"/>
          <a:stretch>
            <a:fillRect/>
          </a:stretch>
        </p:blipFill>
        <p:spPr>
          <a:xfrm>
            <a:off x="10337041" y="5833533"/>
            <a:ext cx="1447800" cy="419100"/>
          </a:xfrm>
          <a:prstGeom prst="rect">
            <a:avLst/>
          </a:prstGeom>
        </p:spPr>
      </p:pic>
      <p:pic>
        <p:nvPicPr>
          <p:cNvPr id="52" name="Picture 51" descr="&quot;google cloud platform&quot; Icon - Download for free – Iconduck">
            <a:extLst>
              <a:ext uri="{FF2B5EF4-FFF2-40B4-BE49-F238E27FC236}">
                <a16:creationId xmlns:a16="http://schemas.microsoft.com/office/drawing/2014/main" id="{EA60F1DA-0917-FEAC-1ABB-DFF96E8083D3}"/>
              </a:ext>
            </a:extLst>
          </p:cNvPr>
          <p:cNvPicPr>
            <a:picLocks noChangeAspect="1"/>
          </p:cNvPicPr>
          <p:nvPr/>
        </p:nvPicPr>
        <p:blipFill>
          <a:blip r:embed="rId5"/>
          <a:stretch>
            <a:fillRect/>
          </a:stretch>
        </p:blipFill>
        <p:spPr>
          <a:xfrm>
            <a:off x="9301013" y="4962692"/>
            <a:ext cx="764931" cy="658758"/>
          </a:xfrm>
          <a:prstGeom prst="rect">
            <a:avLst/>
          </a:prstGeom>
        </p:spPr>
      </p:pic>
      <p:pic>
        <p:nvPicPr>
          <p:cNvPr id="54" name="Picture 53" descr="&quot;bigquery&quot; Icon - Download for free – Iconduck">
            <a:extLst>
              <a:ext uri="{FF2B5EF4-FFF2-40B4-BE49-F238E27FC236}">
                <a16:creationId xmlns:a16="http://schemas.microsoft.com/office/drawing/2014/main" id="{256CC77D-0520-45C6-4709-854ABD44C2F6}"/>
              </a:ext>
            </a:extLst>
          </p:cNvPr>
          <p:cNvPicPr>
            <a:picLocks noChangeAspect="1"/>
          </p:cNvPicPr>
          <p:nvPr/>
        </p:nvPicPr>
        <p:blipFill>
          <a:blip r:embed="rId6"/>
          <a:stretch>
            <a:fillRect/>
          </a:stretch>
        </p:blipFill>
        <p:spPr>
          <a:xfrm>
            <a:off x="10487976" y="4913271"/>
            <a:ext cx="823546" cy="794240"/>
          </a:xfrm>
          <a:prstGeom prst="rect">
            <a:avLst/>
          </a:prstGeom>
        </p:spPr>
      </p:pic>
      <p:pic>
        <p:nvPicPr>
          <p:cNvPr id="55" name="Picture 54" descr="A colorful circle with a black background&#10;&#10;AI-generated content may be incorrect.">
            <a:extLst>
              <a:ext uri="{FF2B5EF4-FFF2-40B4-BE49-F238E27FC236}">
                <a16:creationId xmlns:a16="http://schemas.microsoft.com/office/drawing/2014/main" id="{5B73B6C3-9E29-2BBB-13A8-CF870088700A}"/>
              </a:ext>
            </a:extLst>
          </p:cNvPr>
          <p:cNvPicPr>
            <a:picLocks noChangeAspect="1"/>
          </p:cNvPicPr>
          <p:nvPr/>
        </p:nvPicPr>
        <p:blipFill>
          <a:blip r:embed="rId7"/>
          <a:stretch>
            <a:fillRect/>
          </a:stretch>
        </p:blipFill>
        <p:spPr>
          <a:xfrm>
            <a:off x="8184268" y="5711119"/>
            <a:ext cx="790575" cy="62865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