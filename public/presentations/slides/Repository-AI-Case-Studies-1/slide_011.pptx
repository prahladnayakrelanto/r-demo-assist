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DCCF20D-9D0C-28B1-4669-06CCD7A1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62" y="210311"/>
            <a:ext cx="10052329" cy="701553"/>
          </a:xfrm>
        </p:spPr>
        <p:txBody>
          <a:bodyPr>
            <a:noAutofit/>
          </a:bodyPr>
          <a:lstStyle/>
          <a:p>
            <a:r>
              <a:rPr lang="en-IN" dirty="0"/>
              <a:t>Virtual Relationship Manager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FF44-DFBF-2FA7-6408-A39C06F7D86B}"/>
              </a:ext>
            </a:extLst>
          </p:cNvPr>
          <p:cNvSpPr/>
          <p:nvPr/>
        </p:nvSpPr>
        <p:spPr>
          <a:xfrm>
            <a:off x="467272" y="2757462"/>
            <a:ext cx="3616442" cy="3916546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/>
                <a:cs typeface="Poppins"/>
              </a:rPr>
              <a:t>Scalability issues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Human RMs can only handle a limited number of clients simultaneously, leading to potential delays and reduced efficiency during peak times.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Scaling up the number of human RMs involves significant costs.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Consistency and Accuracy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The quality of service provided by human RMs can vary significantly based on their experience.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The potential for mistakes or omissions is higher with human RMs, which can impact client satisfaction and trust.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Employing and maintaining a team of human RMs involves high salaries, benefits, and overhead costs.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Consistent follow-up and proactive client engagement can be difficult to maintain, impacting client satisfaction and loyalty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68FC05-AFA9-C290-C9B1-F504FBA361DC}"/>
              </a:ext>
            </a:extLst>
          </p:cNvPr>
          <p:cNvSpPr/>
          <p:nvPr/>
        </p:nvSpPr>
        <p:spPr>
          <a:xfrm>
            <a:off x="4137482" y="2757352"/>
            <a:ext cx="3976577" cy="382615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Utilized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Azure OpenAI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LLM to handle client interactions. The model was fine-tuned with domain-specific data to ensure relevance and accuracy.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Twilio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for robust and scalable communication capabilities, enabling the VRM to make voice calls to clients.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Implemented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RAG using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Langchain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to enhance the VRM's ability to provide accurate and contextually relevant responses.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Enabled live call transfers to human RMs through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Bland.AI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when the VRM encounters complex queries or requires human intervention.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Implemented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Microsoft TTS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to generate realistic human-like voice responses, enhancing the overall client interaction experience.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Collect valuable datasets to improve the AI model, enhance service personalization, and get insights for better client management strategies.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EB5987-ED24-4AB8-1978-35EDE1532E48}"/>
              </a:ext>
            </a:extLst>
          </p:cNvPr>
          <p:cNvSpPr/>
          <p:nvPr/>
        </p:nvSpPr>
        <p:spPr>
          <a:xfrm>
            <a:off x="8801245" y="2512970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73669E-3D09-A6A7-7FBA-3E0E752D6917}"/>
              </a:ext>
            </a:extLst>
          </p:cNvPr>
          <p:cNvSpPr/>
          <p:nvPr/>
        </p:nvSpPr>
        <p:spPr>
          <a:xfrm>
            <a:off x="8787597" y="3615735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07041-A989-0969-EFE3-9A8B1F6E44FB}"/>
              </a:ext>
            </a:extLst>
          </p:cNvPr>
          <p:cNvSpPr/>
          <p:nvPr/>
        </p:nvSpPr>
        <p:spPr>
          <a:xfrm>
            <a:off x="8801245" y="4595412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7ED79C-B6A9-EA53-CD07-D21F76DE0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032" y="1483817"/>
            <a:ext cx="393700" cy="457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764DA5-4A8A-45C4-BE42-384AB4D14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105" y="2618830"/>
            <a:ext cx="450850" cy="4508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DA456B-F997-4914-9895-ED86C8D4B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150" y="3684542"/>
            <a:ext cx="437464" cy="52495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B80D80F-F030-ACE3-4E90-55453C132384}"/>
              </a:ext>
            </a:extLst>
          </p:cNvPr>
          <p:cNvSpPr/>
          <p:nvPr/>
        </p:nvSpPr>
        <p:spPr bwMode="auto">
          <a:xfrm>
            <a:off x="8410316" y="1320754"/>
            <a:ext cx="3487448" cy="31702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A62CA9-9A99-F25D-CCAF-08029250BF25}"/>
              </a:ext>
            </a:extLst>
          </p:cNvPr>
          <p:cNvGrpSpPr/>
          <p:nvPr/>
        </p:nvGrpSpPr>
        <p:grpSpPr>
          <a:xfrm>
            <a:off x="8168548" y="960041"/>
            <a:ext cx="2979921" cy="658812"/>
            <a:chOff x="7555266" y="1214168"/>
            <a:chExt cx="2979921" cy="658812"/>
          </a:xfrm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B6463D82-76E9-0327-F5A4-CA7325BBF0C5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2DEAAAE9-E42E-539C-5F65-60F45CD2916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69C10E-DAA1-0945-B7CD-50A2ED7681C2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A5DBB1E-E4BF-819A-E48D-0FC980DBA67E}"/>
              </a:ext>
            </a:extLst>
          </p:cNvPr>
          <p:cNvSpPr/>
          <p:nvPr/>
        </p:nvSpPr>
        <p:spPr>
          <a:xfrm>
            <a:off x="467272" y="938034"/>
            <a:ext cx="7646787" cy="1119366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4572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Project Overview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: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Aiming to revolutionize client relationship management, our Virtual Relationship Manager (VRM) addresses key challenges faced by traditional human relationship managers. Clients often encountered inconsistencies, limited availability, and scalability issues with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RMs.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 The VRM features realistic, human-like voice interactions through Microsoft TTS, ensuring an engaging client experience. Designed for high scalability and efficiency, it includes a fallback mechanism for complex queries that redirects to human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RMs.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 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FAB0822-631B-7323-AD03-659ABB8466F9}"/>
              </a:ext>
            </a:extLst>
          </p:cNvPr>
          <p:cNvGrpSpPr/>
          <p:nvPr/>
        </p:nvGrpSpPr>
        <p:grpSpPr>
          <a:xfrm>
            <a:off x="4143849" y="2162413"/>
            <a:ext cx="3976577" cy="506676"/>
            <a:chOff x="4602706" y="2803376"/>
            <a:chExt cx="3075565" cy="506676"/>
          </a:xfrm>
        </p:grpSpPr>
        <p:sp>
          <p:nvSpPr>
            <p:cNvPr id="42" name="Pentagon 43">
              <a:extLst>
                <a:ext uri="{FF2B5EF4-FFF2-40B4-BE49-F238E27FC236}">
                  <a16:creationId xmlns:a16="http://schemas.microsoft.com/office/drawing/2014/main" id="{7C44EB57-578A-B7A8-D0B5-9397130BCB17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706AD344-6A30-0D78-E84B-8267E49AA087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Pentagon 40">
              <a:extLst>
                <a:ext uri="{FF2B5EF4-FFF2-40B4-BE49-F238E27FC236}">
                  <a16:creationId xmlns:a16="http://schemas.microsoft.com/office/drawing/2014/main" id="{6B0DE0B4-BFB9-0556-61B7-714CF2D54727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Approach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F082DBD0-0231-E156-DD90-9CDBF52AD19F}"/>
              </a:ext>
            </a:extLst>
          </p:cNvPr>
          <p:cNvSpPr txBox="1"/>
          <p:nvPr/>
        </p:nvSpPr>
        <p:spPr>
          <a:xfrm>
            <a:off x="9154185" y="1637806"/>
            <a:ext cx="2868979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Significant cost savings and improved operational efficiency.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Timely and accurate responses to their queries, enhancing overall satisfaction and engagement.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Can handle large volume of client interactions simultaneously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Leveraged data collected during client interactions to generate actionable insights, improving decision-making and strategy formulation.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C702F4-4260-528B-14CD-E71710A416D0}"/>
              </a:ext>
            </a:extLst>
          </p:cNvPr>
          <p:cNvSpPr/>
          <p:nvPr/>
        </p:nvSpPr>
        <p:spPr bwMode="auto">
          <a:xfrm>
            <a:off x="8373237" y="4868244"/>
            <a:ext cx="3487448" cy="17152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3681C6-0179-3A00-E288-C25FDC1C9BCE}"/>
              </a:ext>
            </a:extLst>
          </p:cNvPr>
          <p:cNvGrpSpPr/>
          <p:nvPr/>
        </p:nvGrpSpPr>
        <p:grpSpPr>
          <a:xfrm>
            <a:off x="8213547" y="4615631"/>
            <a:ext cx="2979921" cy="658812"/>
            <a:chOff x="7555266" y="1214168"/>
            <a:chExt cx="2979921" cy="65881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C9F9F322-21E6-38F3-8D17-0D3F4E42B0E4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3F4DED60-CA17-4345-DC48-AC82C071014A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B32588-24FB-866B-5402-00A4B037C1FD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40564F-D22A-1D9B-38F1-767B8B3338BD}"/>
              </a:ext>
            </a:extLst>
          </p:cNvPr>
          <p:cNvGrpSpPr/>
          <p:nvPr/>
        </p:nvGrpSpPr>
        <p:grpSpPr>
          <a:xfrm>
            <a:off x="472164" y="2162413"/>
            <a:ext cx="3565830" cy="506676"/>
            <a:chOff x="377675" y="2790487"/>
            <a:chExt cx="3075565" cy="506676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8336A6B8-FB2F-8081-1E3B-940D57F6267E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5E6CF2FD-42F0-2B38-7EC8-615157DAA3E3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F4E9CF5C-6754-DFE5-05C7-BFA0E3813E50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DFE01DC8-4EE6-FCCD-36B6-F9BE4CA9F8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7998" y="1614033"/>
            <a:ext cx="598796" cy="59879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44FEB9A-5323-DD36-F895-D727024D41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1939" y="2162413"/>
            <a:ext cx="632307" cy="63230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F496119-0F61-941C-DC15-B1F91C9AE1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8052" y="3468110"/>
            <a:ext cx="640080" cy="64008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7767445-EC3E-B42D-237F-9253CA39BF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80746" y="2671091"/>
            <a:ext cx="679866" cy="679866"/>
          </a:xfrm>
          <a:prstGeom prst="rect">
            <a:avLst/>
          </a:prstGeom>
        </p:spPr>
      </p:pic>
      <p:pic>
        <p:nvPicPr>
          <p:cNvPr id="3" name="Picture 2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829B8D6A-D757-A129-B0D4-6D0A025D4B6B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0536" y="5189228"/>
            <a:ext cx="1393128" cy="426703"/>
          </a:xfrm>
          <a:prstGeom prst="rect">
            <a:avLst/>
          </a:prstGeom>
        </p:spPr>
      </p:pic>
      <p:pic>
        <p:nvPicPr>
          <p:cNvPr id="5" name="Picture 4" descr="🦜️🔗 LangChain">
            <a:extLst>
              <a:ext uri="{FF2B5EF4-FFF2-40B4-BE49-F238E27FC236}">
                <a16:creationId xmlns:a16="http://schemas.microsoft.com/office/drawing/2014/main" id="{0B9D201F-6D73-F00F-7B0C-ADAB36657919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9360" y="5993231"/>
            <a:ext cx="1584959" cy="304598"/>
          </a:xfrm>
          <a:prstGeom prst="rect">
            <a:avLst/>
          </a:prstGeom>
        </p:spPr>
      </p:pic>
      <p:pic>
        <p:nvPicPr>
          <p:cNvPr id="11" name="Picture 10" descr="File:Twilio logo.png - Wikipedia">
            <a:extLst>
              <a:ext uri="{FF2B5EF4-FFF2-40B4-BE49-F238E27FC236}">
                <a16:creationId xmlns:a16="http://schemas.microsoft.com/office/drawing/2014/main" id="{BCB0EE02-8584-288A-EB14-EC6CBAC034F8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1541" y="5190016"/>
            <a:ext cx="1645918" cy="547048"/>
          </a:xfrm>
          <a:prstGeom prst="rect">
            <a:avLst/>
          </a:prstGeom>
        </p:spPr>
      </p:pic>
      <p:pic>
        <p:nvPicPr>
          <p:cNvPr id="25" name="Picture 24" descr="File:OpenAI Logo.svg - Wikimedia Commons">
            <a:extLst>
              <a:ext uri="{FF2B5EF4-FFF2-40B4-BE49-F238E27FC236}">
                <a16:creationId xmlns:a16="http://schemas.microsoft.com/office/drawing/2014/main" id="{3E69CCFF-ADB1-F507-E71B-D11E12761D8F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7720" y="5990868"/>
            <a:ext cx="1516379" cy="3474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