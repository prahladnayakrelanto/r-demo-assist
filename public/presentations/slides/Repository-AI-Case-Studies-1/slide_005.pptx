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5681704-C8AE-B265-E3DB-92AAEF6FB17F}"/>
              </a:ext>
            </a:extLst>
          </p:cNvPr>
          <p:cNvSpPr>
            <a:spLocks noGrp="1"/>
          </p:cNvSpPr>
          <p:nvPr>
            <p:ph type="title"/>
          </p:nvPr>
        </p:nvSpPr>
        <p:spPr>
          <a:xfrm>
            <a:off x="592666" y="257992"/>
            <a:ext cx="9826062" cy="559260"/>
          </a:xfrm>
        </p:spPr>
        <p:txBody>
          <a:bodyPr>
            <a:noAutofit/>
          </a:bodyPr>
          <a:lstStyle/>
          <a:p>
            <a:r>
              <a:rPr lang="en-US" b="1">
                <a:latin typeface="Poppins"/>
                <a:cs typeface="Poppins"/>
              </a:rPr>
              <a:t>AI-Powered Automated Data Capture &amp; Entry</a:t>
            </a:r>
            <a:endParaRPr lang="en-US"/>
          </a:p>
        </p:txBody>
      </p:sp>
      <p:sp>
        <p:nvSpPr>
          <p:cNvPr id="3" name="Rectangle 2">
            <a:extLst>
              <a:ext uri="{FF2B5EF4-FFF2-40B4-BE49-F238E27FC236}">
                <a16:creationId xmlns:a16="http://schemas.microsoft.com/office/drawing/2014/main" id="{8A0D1847-DFEA-1E0B-5B2E-DDB207D5DB98}"/>
              </a:ext>
            </a:extLst>
          </p:cNvPr>
          <p:cNvSpPr/>
          <p:nvPr/>
        </p:nvSpPr>
        <p:spPr>
          <a:xfrm>
            <a:off x="478520" y="898057"/>
            <a:ext cx="7093507" cy="1150125"/>
          </a:xfrm>
          <a:prstGeom prst="rect">
            <a:avLst/>
          </a:prstGeom>
          <a:solidFill>
            <a:srgbClr val="002E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5" name="TextBox 4">
            <a:extLst>
              <a:ext uri="{FF2B5EF4-FFF2-40B4-BE49-F238E27FC236}">
                <a16:creationId xmlns:a16="http://schemas.microsoft.com/office/drawing/2014/main" id="{0EC4897E-75A5-2F35-4336-1B87E5F58F64}"/>
              </a:ext>
            </a:extLst>
          </p:cNvPr>
          <p:cNvSpPr txBox="1"/>
          <p:nvPr/>
        </p:nvSpPr>
        <p:spPr>
          <a:xfrm>
            <a:off x="433721" y="894395"/>
            <a:ext cx="7156691" cy="1107996"/>
          </a:xfrm>
          <a:prstGeom prst="rect">
            <a:avLst/>
          </a:prstGeom>
          <a:noFill/>
        </p:spPr>
        <p:txBody>
          <a:bodyPr wrap="square" lIns="91440" tIns="45720" rIns="91440" bIns="4572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rPr>
              <a:t>Business Context: </a:t>
            </a:r>
            <a:r>
              <a:rPr kumimoji="0" lang="en-US" sz="1100" b="0" i="0" u="none" strike="noStrike" kern="1200" cap="none" spc="0" normalizeH="0" baseline="0" noProof="0">
                <a:ln>
                  <a:noFill/>
                </a:ln>
                <a:solidFill>
                  <a:prstClr val="white"/>
                </a:solidFill>
                <a:effectLst/>
                <a:uLnTx/>
                <a:uFillTx/>
                <a:latin typeface="Poppins" panose="00000500000000000000" pitchFamily="2" charset="0"/>
                <a:ea typeface="+mn-lt"/>
                <a:cs typeface="Poppins" panose="00000500000000000000" pitchFamily="2" charset="0"/>
              </a:rPr>
              <a:t>A leading global enterprise sought an innovative solution to address inefficiencies in their operational workflows. The objective was to develop an AI-powered platform designed to automate form-filling and data entry, reducing the burden of manual tasks. This system aimed to empower marketers by freeing up their time for strategic initiatives, minimizing errors, and streamlining data management processes to drive productivity and business growth.</a:t>
            </a:r>
            <a:endParaRPr kumimoji="0" lang="en-US" sz="1050" b="0"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6" name="Rectangle 5">
            <a:extLst>
              <a:ext uri="{FF2B5EF4-FFF2-40B4-BE49-F238E27FC236}">
                <a16:creationId xmlns:a16="http://schemas.microsoft.com/office/drawing/2014/main" id="{A1189AC2-93A6-A8E9-3E6C-80E6889A2FED}"/>
              </a:ext>
            </a:extLst>
          </p:cNvPr>
          <p:cNvSpPr/>
          <p:nvPr/>
        </p:nvSpPr>
        <p:spPr bwMode="auto">
          <a:xfrm>
            <a:off x="7986181" y="1258770"/>
            <a:ext cx="3913129" cy="2908930"/>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grpSp>
        <p:nvGrpSpPr>
          <p:cNvPr id="7" name="Group 6">
            <a:extLst>
              <a:ext uri="{FF2B5EF4-FFF2-40B4-BE49-F238E27FC236}">
                <a16:creationId xmlns:a16="http://schemas.microsoft.com/office/drawing/2014/main" id="{9AD4B390-C5A1-A252-7EC6-50D4CB21B67A}"/>
              </a:ext>
            </a:extLst>
          </p:cNvPr>
          <p:cNvGrpSpPr/>
          <p:nvPr/>
        </p:nvGrpSpPr>
        <p:grpSpPr>
          <a:xfrm>
            <a:off x="7744415" y="898058"/>
            <a:ext cx="2979921" cy="658812"/>
            <a:chOff x="7555266" y="1214168"/>
            <a:chExt cx="2979921" cy="658812"/>
          </a:xfrm>
        </p:grpSpPr>
        <p:sp>
          <p:nvSpPr>
            <p:cNvPr id="8" name="Right Triangle 7">
              <a:extLst>
                <a:ext uri="{FF2B5EF4-FFF2-40B4-BE49-F238E27FC236}">
                  <a16:creationId xmlns:a16="http://schemas.microsoft.com/office/drawing/2014/main" id="{356AE44B-B783-1735-ADA6-56989A969DCA}"/>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9" name="Right Triangle 8">
              <a:extLst>
                <a:ext uri="{FF2B5EF4-FFF2-40B4-BE49-F238E27FC236}">
                  <a16:creationId xmlns:a16="http://schemas.microsoft.com/office/drawing/2014/main" id="{C8050B10-6A23-BEF0-1C42-26C2626A6FFB}"/>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0" name="Rectangle 9">
              <a:extLst>
                <a:ext uri="{FF2B5EF4-FFF2-40B4-BE49-F238E27FC236}">
                  <a16:creationId xmlns:a16="http://schemas.microsoft.com/office/drawing/2014/main" id="{B6185622-BA5B-950B-4B30-E08B2EC86658}"/>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rPr>
                <a:t> Value Delivered</a:t>
              </a:r>
              <a:endParaRPr kumimoji="0" lang="en-US" sz="140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endParaRPr>
            </a:p>
          </p:txBody>
        </p:sp>
      </p:grpSp>
      <p:sp>
        <p:nvSpPr>
          <p:cNvPr id="11" name="TextBox 10">
            <a:extLst>
              <a:ext uri="{FF2B5EF4-FFF2-40B4-BE49-F238E27FC236}">
                <a16:creationId xmlns:a16="http://schemas.microsoft.com/office/drawing/2014/main" id="{0D510A93-D17D-8714-165A-01C8F8ECFAD0}"/>
              </a:ext>
            </a:extLst>
          </p:cNvPr>
          <p:cNvSpPr txBox="1"/>
          <p:nvPr/>
        </p:nvSpPr>
        <p:spPr>
          <a:xfrm>
            <a:off x="8071399" y="1418739"/>
            <a:ext cx="3827909" cy="2738698"/>
          </a:xfrm>
          <a:prstGeom prst="rect">
            <a:avLst/>
          </a:prstGeom>
          <a:noFill/>
        </p:spPr>
        <p:txBody>
          <a:bodyPr wrap="square" lIns="91440" tIns="45720" rIns="91440" bIns="45720" rtlCol="0" anchor="t">
            <a:spAutoFit/>
          </a:bodyPr>
          <a:lstStyle/>
          <a:p>
            <a:pPr marL="285750" marR="0" lvl="0" indent="-285750" algn="l" defTabSz="1218987" rtl="0" eaLnBrk="1" fontAlgn="auto" latinLnBrk="0" hangingPunct="1">
              <a:lnSpc>
                <a:spcPct val="120000"/>
              </a:lnSpc>
              <a:spcBef>
                <a:spcPts val="0"/>
              </a:spcBef>
              <a:spcAft>
                <a:spcPts val="0"/>
              </a:spcAft>
              <a:buClrTx/>
              <a:buSzPct val="60000"/>
              <a:buFont typeface="Arial" panose="020B0604020202020204" pitchFamily="34" charset="0"/>
              <a:buChar char="•"/>
              <a:tabLst/>
              <a:defRPr/>
            </a:pPr>
            <a:r>
              <a:rPr kumimoji="0" lang="en-US" sz="1200" b="0" i="0" u="none" strike="noStrike" kern="0" cap="none" spc="0" normalizeH="0" baseline="0" noProof="0">
                <a:ln>
                  <a:noFill/>
                </a:ln>
                <a:solidFill>
                  <a:srgbClr val="002060"/>
                </a:solidFill>
                <a:effectLst/>
                <a:uLnTx/>
                <a:uFillTx/>
                <a:latin typeface="Poppins" panose="00000500000000000000" pitchFamily="2" charset="0"/>
                <a:ea typeface="+mn-lt"/>
                <a:cs typeface="Poppins" panose="00000500000000000000" pitchFamily="2" charset="0"/>
              </a:rPr>
              <a:t>Marketers reclaimed over 30% of their time previously spent on manual tasks.</a:t>
            </a:r>
            <a:endParaRPr kumimoji="0" lang="en-US" sz="18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endParaRPr>
          </a:p>
          <a:p>
            <a:pPr marL="285750" marR="0" lvl="0" indent="-285750" algn="l" defTabSz="1218987" rtl="0" eaLnBrk="1" fontAlgn="auto" latinLnBrk="0" hangingPunct="1">
              <a:lnSpc>
                <a:spcPct val="120000"/>
              </a:lnSpc>
              <a:spcBef>
                <a:spcPts val="0"/>
              </a:spcBef>
              <a:spcAft>
                <a:spcPts val="0"/>
              </a:spcAft>
              <a:buClrTx/>
              <a:buSzPct val="60000"/>
              <a:buFont typeface="Arial" panose="020B0604020202020204" pitchFamily="34" charset="0"/>
              <a:buChar char="•"/>
              <a:tabLst/>
              <a:defRPr/>
            </a:pPr>
            <a:endParaRPr kumimoji="0" lang="en-US" sz="1200" b="0" i="0" u="none" strike="noStrike" kern="0" cap="none" spc="0" normalizeH="0" baseline="0" noProof="0">
              <a:ln>
                <a:noFill/>
              </a:ln>
              <a:solidFill>
                <a:srgbClr val="002060"/>
              </a:solidFill>
              <a:effectLst/>
              <a:uLnTx/>
              <a:uFillTx/>
              <a:latin typeface="Poppins" panose="00000500000000000000" pitchFamily="2" charset="0"/>
              <a:ea typeface="+mn-lt"/>
              <a:cs typeface="Poppins" panose="00000500000000000000" pitchFamily="2" charset="0"/>
            </a:endParaRPr>
          </a:p>
          <a:p>
            <a:pPr marL="285750" marR="0" lvl="0" indent="-285750" algn="l" defTabSz="1218987" rtl="0" eaLnBrk="1" fontAlgn="auto" latinLnBrk="0" hangingPunct="1">
              <a:lnSpc>
                <a:spcPct val="120000"/>
              </a:lnSpc>
              <a:spcBef>
                <a:spcPts val="0"/>
              </a:spcBef>
              <a:spcAft>
                <a:spcPts val="0"/>
              </a:spcAft>
              <a:buClrTx/>
              <a:buSzPct val="60000"/>
              <a:buFont typeface="Arial" panose="020B0604020202020204" pitchFamily="34" charset="0"/>
              <a:buChar char="•"/>
              <a:tabLst/>
              <a:defRPr/>
            </a:pPr>
            <a:r>
              <a:rPr kumimoji="0" lang="en-US" sz="1200" b="0" i="0" u="none" strike="noStrike" kern="0" cap="none" spc="0" normalizeH="0" baseline="0" noProof="0">
                <a:ln>
                  <a:noFill/>
                </a:ln>
                <a:solidFill>
                  <a:srgbClr val="002060"/>
                </a:solidFill>
                <a:effectLst/>
                <a:uLnTx/>
                <a:uFillTx/>
                <a:latin typeface="Poppins" panose="00000500000000000000" pitchFamily="2" charset="0"/>
                <a:ea typeface="+mn-lt"/>
                <a:cs typeface="Poppins" panose="00000500000000000000" pitchFamily="2" charset="0"/>
              </a:rPr>
              <a:t>Reduced errors and maintained data consistency across systems.</a:t>
            </a:r>
            <a:endParaRPr kumimoji="0" lang="en-US" sz="18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endParaRPr>
          </a:p>
          <a:p>
            <a:pPr marL="285750" marR="0" lvl="0" indent="-285750" algn="l" defTabSz="1218987" rtl="0" eaLnBrk="1" fontAlgn="auto" latinLnBrk="0" hangingPunct="1">
              <a:lnSpc>
                <a:spcPct val="120000"/>
              </a:lnSpc>
              <a:spcBef>
                <a:spcPts val="0"/>
              </a:spcBef>
              <a:spcAft>
                <a:spcPts val="0"/>
              </a:spcAft>
              <a:buClrTx/>
              <a:buSzPct val="60000"/>
              <a:buFont typeface="Arial" panose="020B0604020202020204" pitchFamily="34" charset="0"/>
              <a:buChar char="•"/>
              <a:tabLst/>
              <a:defRPr/>
            </a:pPr>
            <a:endParaRPr kumimoji="0" lang="en-US" sz="1200" b="0" i="0" u="none" strike="noStrike" kern="0" cap="none" spc="0" normalizeH="0" baseline="0" noProof="0">
              <a:ln>
                <a:noFill/>
              </a:ln>
              <a:solidFill>
                <a:srgbClr val="002060"/>
              </a:solidFill>
              <a:effectLst/>
              <a:uLnTx/>
              <a:uFillTx/>
              <a:latin typeface="Poppins" panose="00000500000000000000" pitchFamily="2" charset="0"/>
              <a:ea typeface="+mn-lt"/>
              <a:cs typeface="Poppins" panose="00000500000000000000" pitchFamily="2" charset="0"/>
            </a:endParaRPr>
          </a:p>
          <a:p>
            <a:pPr marL="285750" marR="0" lvl="0" indent="-285750" algn="l" defTabSz="1218987" rtl="0" eaLnBrk="1" fontAlgn="auto" latinLnBrk="0" hangingPunct="1">
              <a:lnSpc>
                <a:spcPct val="120000"/>
              </a:lnSpc>
              <a:spcBef>
                <a:spcPts val="0"/>
              </a:spcBef>
              <a:spcAft>
                <a:spcPts val="0"/>
              </a:spcAft>
              <a:buClrTx/>
              <a:buSzPct val="60000"/>
              <a:buFont typeface="Arial" panose="020B0604020202020204" pitchFamily="34" charset="0"/>
              <a:buChar char="•"/>
              <a:tabLst/>
              <a:defRPr/>
            </a:pPr>
            <a:r>
              <a:rPr kumimoji="0" lang="en-US" sz="1200" b="0" i="0" u="none" strike="noStrike" kern="0" cap="none" spc="0" normalizeH="0" baseline="0" noProof="0">
                <a:ln>
                  <a:noFill/>
                </a:ln>
                <a:solidFill>
                  <a:srgbClr val="002060"/>
                </a:solidFill>
                <a:effectLst/>
                <a:uLnTx/>
                <a:uFillTx/>
                <a:latin typeface="Poppins" panose="00000500000000000000" pitchFamily="2" charset="0"/>
                <a:ea typeface="+mn-lt"/>
                <a:cs typeface="Poppins" panose="00000500000000000000" pitchFamily="2" charset="0"/>
              </a:rPr>
              <a:t>Streamlined workflows, enabling faster campaign execution and reporting.</a:t>
            </a:r>
          </a:p>
          <a:p>
            <a:pPr marL="285750" marR="0" lvl="0" indent="-285750" algn="l" defTabSz="1218987" rtl="0" eaLnBrk="1" fontAlgn="auto" latinLnBrk="0" hangingPunct="1">
              <a:lnSpc>
                <a:spcPct val="120000"/>
              </a:lnSpc>
              <a:spcBef>
                <a:spcPts val="0"/>
              </a:spcBef>
              <a:spcAft>
                <a:spcPts val="0"/>
              </a:spcAft>
              <a:buClrTx/>
              <a:buSzPct val="60000"/>
              <a:buFont typeface="Arial" panose="020B0604020202020204" pitchFamily="34" charset="0"/>
              <a:buChar char="•"/>
              <a:tabLst/>
              <a:defRPr/>
            </a:pPr>
            <a:endParaRPr kumimoji="0" lang="en-US" sz="1200" b="0" i="0" u="none" strike="noStrike" kern="0" cap="none" spc="0" normalizeH="0" baseline="0" noProof="0">
              <a:ln>
                <a:noFill/>
              </a:ln>
              <a:solidFill>
                <a:srgbClr val="002060"/>
              </a:solidFill>
              <a:effectLst/>
              <a:uLnTx/>
              <a:uFillTx/>
              <a:latin typeface="Poppins" panose="00000500000000000000" pitchFamily="2" charset="0"/>
              <a:ea typeface="+mn-lt"/>
              <a:cs typeface="Poppins" panose="00000500000000000000" pitchFamily="2" charset="0"/>
            </a:endParaRPr>
          </a:p>
          <a:p>
            <a:pPr marL="285750" marR="0" lvl="0" indent="-285750" algn="l" defTabSz="1218987" rtl="0" eaLnBrk="1" fontAlgn="auto" latinLnBrk="0" hangingPunct="1">
              <a:lnSpc>
                <a:spcPct val="120000"/>
              </a:lnSpc>
              <a:spcBef>
                <a:spcPts val="0"/>
              </a:spcBef>
              <a:spcAft>
                <a:spcPts val="0"/>
              </a:spcAft>
              <a:buClrTx/>
              <a:buSzPct val="60000"/>
              <a:buFont typeface="Arial" panose="020B0604020202020204" pitchFamily="34" charset="0"/>
              <a:buChar char="•"/>
              <a:tabLst/>
              <a:defRPr/>
            </a:pPr>
            <a:r>
              <a:rPr kumimoji="0" lang="en-US" sz="1200" b="0" i="0" u="none" strike="noStrike" kern="0" cap="none" spc="0" normalizeH="0" baseline="0" noProof="0">
                <a:ln>
                  <a:noFill/>
                </a:ln>
                <a:solidFill>
                  <a:srgbClr val="002060"/>
                </a:solidFill>
                <a:effectLst/>
                <a:uLnTx/>
                <a:uFillTx/>
                <a:latin typeface="Poppins" panose="00000500000000000000" pitchFamily="2" charset="0"/>
                <a:ea typeface="+mn-lt"/>
                <a:cs typeface="Poppins" panose="00000500000000000000" pitchFamily="2" charset="0"/>
              </a:rPr>
              <a:t>Empowered marketers to focus on high-impact activities, contributing directly to revenue generation.</a:t>
            </a:r>
          </a:p>
        </p:txBody>
      </p:sp>
      <p:sp>
        <p:nvSpPr>
          <p:cNvPr id="12" name="Rectangle 11">
            <a:extLst>
              <a:ext uri="{FF2B5EF4-FFF2-40B4-BE49-F238E27FC236}">
                <a16:creationId xmlns:a16="http://schemas.microsoft.com/office/drawing/2014/main" id="{E3684654-F0F5-6723-6372-91902156D2F3}"/>
              </a:ext>
            </a:extLst>
          </p:cNvPr>
          <p:cNvSpPr/>
          <p:nvPr/>
        </p:nvSpPr>
        <p:spPr bwMode="auto">
          <a:xfrm>
            <a:off x="7986180" y="4739338"/>
            <a:ext cx="3913129" cy="1689542"/>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grpSp>
        <p:nvGrpSpPr>
          <p:cNvPr id="13" name="Group 12">
            <a:extLst>
              <a:ext uri="{FF2B5EF4-FFF2-40B4-BE49-F238E27FC236}">
                <a16:creationId xmlns:a16="http://schemas.microsoft.com/office/drawing/2014/main" id="{43FC5E0D-F4B6-D542-CA3E-33CBA3325EA4}"/>
              </a:ext>
            </a:extLst>
          </p:cNvPr>
          <p:cNvGrpSpPr/>
          <p:nvPr/>
        </p:nvGrpSpPr>
        <p:grpSpPr>
          <a:xfrm>
            <a:off x="7737324" y="4356976"/>
            <a:ext cx="2979921" cy="658812"/>
            <a:chOff x="7555266" y="1214168"/>
            <a:chExt cx="2979921" cy="658812"/>
          </a:xfrm>
        </p:grpSpPr>
        <p:sp>
          <p:nvSpPr>
            <p:cNvPr id="14" name="Right Triangle 13">
              <a:extLst>
                <a:ext uri="{FF2B5EF4-FFF2-40B4-BE49-F238E27FC236}">
                  <a16:creationId xmlns:a16="http://schemas.microsoft.com/office/drawing/2014/main" id="{2BEA4F04-404C-5D9B-41A9-3C8AB9338DF1}"/>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5" name="Right Triangle 14">
              <a:extLst>
                <a:ext uri="{FF2B5EF4-FFF2-40B4-BE49-F238E27FC236}">
                  <a16:creationId xmlns:a16="http://schemas.microsoft.com/office/drawing/2014/main" id="{72A8D883-2B38-3536-6424-CB8EC7DEAFF2}"/>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6" name="Rectangle 15">
              <a:extLst>
                <a:ext uri="{FF2B5EF4-FFF2-40B4-BE49-F238E27FC236}">
                  <a16:creationId xmlns:a16="http://schemas.microsoft.com/office/drawing/2014/main" id="{D52AB15F-2737-1C40-8E87-A19B8E821DD2}"/>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rPr>
                <a:t>Technology Stack </a:t>
              </a:r>
            </a:p>
          </p:txBody>
        </p:sp>
      </p:grpSp>
      <p:sp>
        <p:nvSpPr>
          <p:cNvPr id="4" name="Rectangle 3">
            <a:extLst>
              <a:ext uri="{FF2B5EF4-FFF2-40B4-BE49-F238E27FC236}">
                <a16:creationId xmlns:a16="http://schemas.microsoft.com/office/drawing/2014/main" id="{9A5FAFF9-3147-5893-E384-0D75C05DE6D9}"/>
              </a:ext>
            </a:extLst>
          </p:cNvPr>
          <p:cNvSpPr/>
          <p:nvPr/>
        </p:nvSpPr>
        <p:spPr>
          <a:xfrm>
            <a:off x="4085266" y="2824664"/>
            <a:ext cx="3505147" cy="360421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Calibri" panose="020F0502020204030204" pitchFamily="34" charset="0"/>
              <a:cs typeface="Poppins" panose="00000500000000000000" pitchFamily="2" charset="0"/>
            </a:endParaRPr>
          </a:p>
        </p:txBody>
      </p:sp>
      <p:sp>
        <p:nvSpPr>
          <p:cNvPr id="17" name="Rectangle 16">
            <a:extLst>
              <a:ext uri="{FF2B5EF4-FFF2-40B4-BE49-F238E27FC236}">
                <a16:creationId xmlns:a16="http://schemas.microsoft.com/office/drawing/2014/main" id="{39DE49E2-F165-EF72-E9AA-14C1C87F967C}"/>
              </a:ext>
            </a:extLst>
          </p:cNvPr>
          <p:cNvSpPr/>
          <p:nvPr/>
        </p:nvSpPr>
        <p:spPr>
          <a:xfrm>
            <a:off x="455084" y="2824662"/>
            <a:ext cx="3505147" cy="360421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Calibri" panose="020F0502020204030204" pitchFamily="34" charset="0"/>
              <a:cs typeface="Poppins" panose="00000500000000000000" pitchFamily="2" charset="0"/>
            </a:endParaRPr>
          </a:p>
        </p:txBody>
      </p:sp>
      <p:sp>
        <p:nvSpPr>
          <p:cNvPr id="27" name="TextBox 26">
            <a:extLst>
              <a:ext uri="{FF2B5EF4-FFF2-40B4-BE49-F238E27FC236}">
                <a16:creationId xmlns:a16="http://schemas.microsoft.com/office/drawing/2014/main" id="{1D6654E2-D0F3-FCD6-F72C-E1EF45EBB4F0}"/>
              </a:ext>
            </a:extLst>
          </p:cNvPr>
          <p:cNvSpPr txBox="1"/>
          <p:nvPr/>
        </p:nvSpPr>
        <p:spPr>
          <a:xfrm>
            <a:off x="460547" y="2771995"/>
            <a:ext cx="3494710" cy="4108817"/>
          </a:xfrm>
          <a:prstGeom prst="rect">
            <a:avLst/>
          </a:prstGeom>
          <a:noFill/>
        </p:spPr>
        <p:txBody>
          <a:bodyPr wrap="square" lIns="91440" tIns="45720" rIns="91440" bIns="45720" anchor="t">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Lack of an interactive and user-friendly form-filling experience made the process tedious and less engaging for marketers. To address this, the solution needed to integrate an intuitive conversational form-filling mechanism that could guide users dynamically while capturing the necessary data accurately.</a:t>
            </a:r>
            <a:endParaRPr kumimoji="0" lang="en-US" sz="18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Mapping diverse data sources, including emails, Google Drives, webpages, and social media platforms, to ensure seamless integration into the platform. This required creating connectors and APIs that could handle data ingestion at scale while preserving the integrity and structure of the collected information.</a:t>
            </a:r>
            <a:endParaRPr kumimoji="0" lang="en-US" sz="18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Developing mechanisms for validation and error correction to maintain high standards of data quality. Advanced ML algorithms and rule-based systems were deployed to cross-verify data consistency across multiple sources.</a:t>
            </a:r>
            <a:endParaRPr kumimoji="0" lang="en-US" sz="18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Designing a system compatible with existing marketing tools and capable of handling the scale and complexity of global marketing operations. This involved developing scalable backend infrastructure and implementing robust data pipelines to manage peak workloads efficiently.</a:t>
            </a:r>
          </a:p>
        </p:txBody>
      </p:sp>
      <p:sp>
        <p:nvSpPr>
          <p:cNvPr id="28" name="TextBox 27">
            <a:extLst>
              <a:ext uri="{FF2B5EF4-FFF2-40B4-BE49-F238E27FC236}">
                <a16:creationId xmlns:a16="http://schemas.microsoft.com/office/drawing/2014/main" id="{3B6596AA-09F4-F189-4D1A-2164579BDE79}"/>
              </a:ext>
            </a:extLst>
          </p:cNvPr>
          <p:cNvSpPr txBox="1"/>
          <p:nvPr/>
        </p:nvSpPr>
        <p:spPr>
          <a:xfrm>
            <a:off x="4066880" y="2750067"/>
            <a:ext cx="3505147" cy="3970318"/>
          </a:xfrm>
          <a:prstGeom prst="rect">
            <a:avLst/>
          </a:prstGeom>
          <a:noFill/>
        </p:spPr>
        <p:txBody>
          <a:bodyPr wrap="square" lIns="91440" tIns="45720" rIns="91440" bIns="45720" anchor="t">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Leveraging advanced OCR and ML technologies, </a:t>
            </a:r>
            <a:r>
              <a:rPr kumimoji="0" lang="en-US" sz="900" b="0" i="0" u="none" strike="noStrike" kern="1200" cap="none" spc="0" normalizeH="0" baseline="0" noProof="0" err="1">
                <a:ln>
                  <a:noFill/>
                </a:ln>
                <a:solidFill>
                  <a:prstClr val="black"/>
                </a:solidFill>
                <a:effectLst/>
                <a:uLnTx/>
                <a:uFillTx/>
                <a:latin typeface="Poppins" panose="00000500000000000000" pitchFamily="2" charset="0"/>
                <a:ea typeface="+mn-lt"/>
                <a:cs typeface="Poppins" panose="00000500000000000000" pitchFamily="2" charset="0"/>
              </a:rPr>
              <a:t>FormEase</a:t>
            </a: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 AI extracts and organizes unstructured data from multiple sources, including documents, emails, and online platforms. The system intelligently processes this information, ensuring it is categorized and stored effectively.</a:t>
            </a:r>
            <a:endParaRPr kumimoji="0" lang="en-US" sz="18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Implemented an interactive, AI-driven conversational form-filling feature to enhance user experience and engagement. This functionality used natural language processing (NLP) to guide users step-by-step through data entry processes, making it easier and more intuitive for marketers.</a:t>
            </a:r>
            <a:endParaRPr kumimoji="0" lang="en-US" sz="18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Automatically populates forms with relevant data, reducing manual intervention and the likelihood of errors. The solution employed a routing mechanism powered by a Large Language Model (LLM) to classify user inputs and dynamically adapt to specific data req</a:t>
            </a:r>
            <a:endParaRPr kumimoji="0" lang="en-US" sz="18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9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Processes captured data through validation checks to ensure consistency and quality before seamless ingestion into marketing systems like </a:t>
            </a:r>
            <a:r>
              <a:rPr kumimoji="0" lang="en-US" sz="900" b="0" i="0" u="none" strike="noStrike" kern="1200" cap="none" spc="0" normalizeH="0" baseline="0" noProof="0" err="1">
                <a:ln>
                  <a:noFill/>
                </a:ln>
                <a:solidFill>
                  <a:prstClr val="black"/>
                </a:solidFill>
                <a:effectLst/>
                <a:uLnTx/>
                <a:uFillTx/>
                <a:latin typeface="Poppins" panose="00000500000000000000" pitchFamily="2" charset="0"/>
                <a:ea typeface="+mn-lt"/>
                <a:cs typeface="Poppins" panose="00000500000000000000" pitchFamily="2" charset="0"/>
              </a:rPr>
              <a:t>BigQuery</a:t>
            </a:r>
            <a:r>
              <a:rPr kumimoji="0" lang="en-US" sz="9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 for analytics. Multi-layered validation mechanisms, including AI-driven anomaly detection, were implemented to identify and rectify potential errors in real time.</a:t>
            </a:r>
            <a:endParaRPr kumimoji="0" lang="en-US" sz="18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endParaRPr>
          </a:p>
        </p:txBody>
      </p:sp>
      <p:grpSp>
        <p:nvGrpSpPr>
          <p:cNvPr id="30" name="Group 29">
            <a:extLst>
              <a:ext uri="{FF2B5EF4-FFF2-40B4-BE49-F238E27FC236}">
                <a16:creationId xmlns:a16="http://schemas.microsoft.com/office/drawing/2014/main" id="{14B9A853-278D-05C9-5AA3-1590CFF6FF22}"/>
              </a:ext>
            </a:extLst>
          </p:cNvPr>
          <p:cNvGrpSpPr/>
          <p:nvPr/>
        </p:nvGrpSpPr>
        <p:grpSpPr>
          <a:xfrm>
            <a:off x="464164" y="2193164"/>
            <a:ext cx="3505147" cy="506676"/>
            <a:chOff x="377675" y="2790487"/>
            <a:chExt cx="3075565" cy="506676"/>
          </a:xfrm>
        </p:grpSpPr>
        <p:sp>
          <p:nvSpPr>
            <p:cNvPr id="31" name="Pentagon 43">
              <a:extLst>
                <a:ext uri="{FF2B5EF4-FFF2-40B4-BE49-F238E27FC236}">
                  <a16:creationId xmlns:a16="http://schemas.microsoft.com/office/drawing/2014/main" id="{D3BFC0A4-F911-BC5C-D6BF-CA6C9DA9A066}"/>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sp>
          <p:nvSpPr>
            <p:cNvPr id="32" name="Pentagon 42">
              <a:extLst>
                <a:ext uri="{FF2B5EF4-FFF2-40B4-BE49-F238E27FC236}">
                  <a16:creationId xmlns:a16="http://schemas.microsoft.com/office/drawing/2014/main" id="{66FC2598-0C77-6793-89C6-3938051EB87E}"/>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sp>
          <p:nvSpPr>
            <p:cNvPr id="33" name="Pentagon 40">
              <a:extLst>
                <a:ext uri="{FF2B5EF4-FFF2-40B4-BE49-F238E27FC236}">
                  <a16:creationId xmlns:a16="http://schemas.microsoft.com/office/drawing/2014/main" id="{058B3700-A051-86AB-F0BF-3017AB8F1FB6}"/>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2E87"/>
                  </a:solidFill>
                  <a:effectLst/>
                  <a:uLnTx/>
                  <a:uFillTx/>
                  <a:latin typeface="Poppins" panose="00000500000000000000" pitchFamily="2" charset="0"/>
                  <a:ea typeface="+mn-ea"/>
                  <a:cs typeface="Poppins" panose="00000500000000000000" pitchFamily="2" charset="0"/>
                </a:rPr>
                <a:t>Challenges</a:t>
              </a:r>
            </a:p>
          </p:txBody>
        </p:sp>
      </p:grpSp>
      <p:grpSp>
        <p:nvGrpSpPr>
          <p:cNvPr id="38" name="Group 37">
            <a:extLst>
              <a:ext uri="{FF2B5EF4-FFF2-40B4-BE49-F238E27FC236}">
                <a16:creationId xmlns:a16="http://schemas.microsoft.com/office/drawing/2014/main" id="{FAC2031B-E9E9-52BF-6A5E-BACA6B692B14}"/>
              </a:ext>
            </a:extLst>
          </p:cNvPr>
          <p:cNvGrpSpPr/>
          <p:nvPr/>
        </p:nvGrpSpPr>
        <p:grpSpPr>
          <a:xfrm>
            <a:off x="4063591" y="2193164"/>
            <a:ext cx="3505147" cy="506676"/>
            <a:chOff x="377675" y="2790487"/>
            <a:chExt cx="3075565" cy="506676"/>
          </a:xfrm>
        </p:grpSpPr>
        <p:sp>
          <p:nvSpPr>
            <p:cNvPr id="39" name="Pentagon 43">
              <a:extLst>
                <a:ext uri="{FF2B5EF4-FFF2-40B4-BE49-F238E27FC236}">
                  <a16:creationId xmlns:a16="http://schemas.microsoft.com/office/drawing/2014/main" id="{A9B0A604-DE75-CB28-4808-08EAC9029A9A}"/>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sp>
          <p:nvSpPr>
            <p:cNvPr id="40" name="Pentagon 42">
              <a:extLst>
                <a:ext uri="{FF2B5EF4-FFF2-40B4-BE49-F238E27FC236}">
                  <a16:creationId xmlns:a16="http://schemas.microsoft.com/office/drawing/2014/main" id="{6523C618-42B9-A9AF-787E-C52EFA07038B}"/>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sp>
          <p:nvSpPr>
            <p:cNvPr id="41" name="Pentagon 40">
              <a:extLst>
                <a:ext uri="{FF2B5EF4-FFF2-40B4-BE49-F238E27FC236}">
                  <a16:creationId xmlns:a16="http://schemas.microsoft.com/office/drawing/2014/main" id="{CB99C435-C892-4749-8D9F-210F08509AC0}"/>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2E87"/>
                  </a:solidFill>
                  <a:effectLst/>
                  <a:uLnTx/>
                  <a:uFillTx/>
                  <a:latin typeface="Poppins" panose="00000500000000000000" pitchFamily="2" charset="0"/>
                  <a:ea typeface="+mn-ea"/>
                  <a:cs typeface="Poppins" panose="00000500000000000000" pitchFamily="2" charset="0"/>
                </a:rPr>
                <a:t>Solutions</a:t>
              </a:r>
            </a:p>
          </p:txBody>
        </p:sp>
      </p:grpSp>
      <p:pic>
        <p:nvPicPr>
          <p:cNvPr id="18" name="Picture 17" descr="A blue and yellow snake&#10;&#10;Description automatically generated">
            <a:extLst>
              <a:ext uri="{FF2B5EF4-FFF2-40B4-BE49-F238E27FC236}">
                <a16:creationId xmlns:a16="http://schemas.microsoft.com/office/drawing/2014/main" id="{B2861564-E342-1EEA-0538-B1F58FD853D1}"/>
              </a:ext>
            </a:extLst>
          </p:cNvPr>
          <p:cNvPicPr>
            <a:picLocks noChangeAspect="1"/>
          </p:cNvPicPr>
          <p:nvPr/>
        </p:nvPicPr>
        <p:blipFill>
          <a:blip r:embed="rId2"/>
          <a:stretch>
            <a:fillRect/>
          </a:stretch>
        </p:blipFill>
        <p:spPr>
          <a:xfrm>
            <a:off x="8111782" y="4921150"/>
            <a:ext cx="701307" cy="692724"/>
          </a:xfrm>
          <a:prstGeom prst="rect">
            <a:avLst/>
          </a:prstGeom>
        </p:spPr>
      </p:pic>
      <p:pic>
        <p:nvPicPr>
          <p:cNvPr id="1030" name="Picture 6" descr="Download OpenShift Logo in SVG Vector or PNG File Format ...">
            <a:extLst>
              <a:ext uri="{FF2B5EF4-FFF2-40B4-BE49-F238E27FC236}">
                <a16:creationId xmlns:a16="http://schemas.microsoft.com/office/drawing/2014/main" id="{BAF77AB5-F670-9008-40A1-F786E1C783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16" y="5613874"/>
            <a:ext cx="1365072" cy="91004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React Logo PNG Transparent &amp; SVG Vector - Freebie Supply">
            <a:extLst>
              <a:ext uri="{FF2B5EF4-FFF2-40B4-BE49-F238E27FC236}">
                <a16:creationId xmlns:a16="http://schemas.microsoft.com/office/drawing/2014/main" id="{2DFF6218-9CA6-8E01-1FBE-C75A6DD99A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68216" y="5654559"/>
            <a:ext cx="737831" cy="69442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92967D36-A749-C1FC-556F-9FAB8A537D0B}"/>
              </a:ext>
            </a:extLst>
          </p:cNvPr>
          <p:cNvPicPr>
            <a:picLocks noChangeAspect="1"/>
          </p:cNvPicPr>
          <p:nvPr/>
        </p:nvPicPr>
        <p:blipFill>
          <a:blip r:embed="rId5"/>
          <a:stretch>
            <a:fillRect/>
          </a:stretch>
        </p:blipFill>
        <p:spPr>
          <a:xfrm>
            <a:off x="10266485" y="5791200"/>
            <a:ext cx="1447800" cy="419100"/>
          </a:xfrm>
          <a:prstGeom prst="rect">
            <a:avLst/>
          </a:prstGeom>
        </p:spPr>
      </p:pic>
      <p:pic>
        <p:nvPicPr>
          <p:cNvPr id="22" name="Picture 21" descr="&quot;google cloud platform&quot; Icon - Download for free – Iconduck">
            <a:extLst>
              <a:ext uri="{FF2B5EF4-FFF2-40B4-BE49-F238E27FC236}">
                <a16:creationId xmlns:a16="http://schemas.microsoft.com/office/drawing/2014/main" id="{ED2A7A7F-02FB-5EB2-6A5B-A0BA35D98E86}"/>
              </a:ext>
            </a:extLst>
          </p:cNvPr>
          <p:cNvPicPr>
            <a:picLocks noChangeAspect="1"/>
          </p:cNvPicPr>
          <p:nvPr/>
        </p:nvPicPr>
        <p:blipFill>
          <a:blip r:embed="rId6"/>
          <a:stretch>
            <a:fillRect/>
          </a:stretch>
        </p:blipFill>
        <p:spPr>
          <a:xfrm>
            <a:off x="9230457" y="4920359"/>
            <a:ext cx="764931" cy="658758"/>
          </a:xfrm>
          <a:prstGeom prst="rect">
            <a:avLst/>
          </a:prstGeom>
        </p:spPr>
      </p:pic>
      <p:pic>
        <p:nvPicPr>
          <p:cNvPr id="25" name="Picture 24" descr="&quot;bigquery&quot; Icon - Download for free – Iconduck">
            <a:extLst>
              <a:ext uri="{FF2B5EF4-FFF2-40B4-BE49-F238E27FC236}">
                <a16:creationId xmlns:a16="http://schemas.microsoft.com/office/drawing/2014/main" id="{BEBB9BBF-52CF-5A3E-E3FA-18720BEA63E5}"/>
              </a:ext>
            </a:extLst>
          </p:cNvPr>
          <p:cNvPicPr>
            <a:picLocks noChangeAspect="1"/>
          </p:cNvPicPr>
          <p:nvPr/>
        </p:nvPicPr>
        <p:blipFill>
          <a:blip r:embed="rId7"/>
          <a:stretch>
            <a:fillRect/>
          </a:stretch>
        </p:blipFill>
        <p:spPr>
          <a:xfrm>
            <a:off x="10417420" y="4870938"/>
            <a:ext cx="823546" cy="7942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