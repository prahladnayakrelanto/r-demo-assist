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DCCF20D-9D0C-28B1-4669-06CCD7A1878A}"/>
              </a:ext>
            </a:extLst>
          </p:cNvPr>
          <p:cNvSpPr>
            <a:spLocks noGrp="1"/>
          </p:cNvSpPr>
          <p:nvPr>
            <p:ph type="title"/>
          </p:nvPr>
        </p:nvSpPr>
        <p:spPr>
          <a:xfrm>
            <a:off x="577562" y="210311"/>
            <a:ext cx="10052329" cy="701553"/>
          </a:xfrm>
        </p:spPr>
        <p:txBody>
          <a:bodyPr>
            <a:noAutofit/>
          </a:bodyPr>
          <a:lstStyle/>
          <a:p>
            <a:r>
              <a:rPr lang="en-IN" dirty="0">
                <a:cs typeface="Poppins SemiBold"/>
              </a:rPr>
              <a:t>LLM – RAG based Chatbot, </a:t>
            </a:r>
            <a:r>
              <a:rPr lang="en-IN" dirty="0" err="1">
                <a:cs typeface="Poppins SemiBold"/>
              </a:rPr>
              <a:t>Voicebots</a:t>
            </a:r>
            <a:r>
              <a:rPr lang="en-IN" dirty="0">
                <a:cs typeface="Poppins SemiBold"/>
              </a:rPr>
              <a:t>, </a:t>
            </a:r>
            <a:r>
              <a:rPr lang="en-IN" dirty="0" err="1">
                <a:cs typeface="Poppins SemiBold"/>
              </a:rPr>
              <a:t>Videobots</a:t>
            </a:r>
          </a:p>
        </p:txBody>
      </p:sp>
      <p:sp>
        <p:nvSpPr>
          <p:cNvPr id="8" name="Rectangle 7">
            <a:extLst>
              <a:ext uri="{FF2B5EF4-FFF2-40B4-BE49-F238E27FC236}">
                <a16:creationId xmlns:a16="http://schemas.microsoft.com/office/drawing/2014/main" id="{4D9EFF44-DFBF-2FA7-6408-A39C06F7D86B}"/>
              </a:ext>
            </a:extLst>
          </p:cNvPr>
          <p:cNvSpPr/>
          <p:nvPr/>
        </p:nvSpPr>
        <p:spPr>
          <a:xfrm>
            <a:off x="467272" y="2756976"/>
            <a:ext cx="3570722" cy="3922868"/>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74151"/>
                </a:solidFill>
                <a:effectLst/>
                <a:uLnTx/>
                <a:uFillTx/>
                <a:latin typeface="Poppins"/>
                <a:ea typeface="+mn-lt"/>
                <a:cs typeface="Poppins"/>
              </a:rPr>
              <a:t>No more waiting in endless queues. RAG chatbots can understand your question and deliver the answer you need in seconds, freeing up human agents for trickier problems.</a:t>
            </a:r>
            <a:endParaRPr kumimoji="0" lang="en-US" sz="1100" b="0" i="0" u="none" strike="noStrike" kern="1200" cap="none" spc="0" normalizeH="0" baseline="0" noProof="0" dirty="0">
              <a:ln>
                <a:noFill/>
              </a:ln>
              <a:solidFill>
                <a:srgbClr val="374151"/>
              </a:solidFill>
              <a:effectLst/>
              <a:uLnTx/>
              <a:uFillTx/>
              <a:latin typeface="Poppins"/>
              <a:ea typeface="+mn-lt"/>
              <a:cs typeface="Poppin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Many traditional chatbots operate on predefined scripts or rule-based systems, limiting their ability to understand and respond to complex or nuanced queries.</a:t>
            </a:r>
            <a:endParaRPr kumimoji="0" lang="en-US" sz="1100" b="0" i="0" u="none" strike="noStrike" kern="1200" cap="none" spc="0" normalizeH="0" baseline="0" noProof="0">
              <a:ln>
                <a:noFill/>
              </a:ln>
              <a:solidFill>
                <a:srgbClr val="374151"/>
              </a:solidFill>
              <a:effectLst/>
              <a:uLnTx/>
              <a:uFillTx/>
              <a:latin typeface="Poppins"/>
              <a:ea typeface="Calibri"/>
              <a:cs typeface="Poppin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74151"/>
                </a:solidFill>
                <a:effectLst/>
                <a:uLnTx/>
                <a:uFillTx/>
                <a:latin typeface="Poppins"/>
                <a:ea typeface="+mn-lt"/>
                <a:cs typeface="Poppins"/>
              </a:rPr>
              <a:t>RAG chatbots can grasp the subtleties of human conversation, so they can tailor their responses to your specific situation and offer relevant solutions.</a:t>
            </a:r>
            <a:endParaRPr kumimoji="0" lang="en-US" sz="1100" b="0" i="0" u="none" strike="noStrike" kern="1200" cap="none" spc="0" normalizeH="0" baseline="0" noProof="0" dirty="0">
              <a:ln>
                <a:noFill/>
              </a:ln>
              <a:solidFill>
                <a:srgbClr val="374151"/>
              </a:solidFill>
              <a:effectLst/>
              <a:uLnTx/>
              <a:uFillTx/>
              <a:latin typeface="Poppins"/>
              <a:ea typeface="+mn-lt"/>
              <a:cs typeface="Poppin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Integrating traditional chatbots with various data sources and systems to provide comprehensive and accurate responses can be complex.</a:t>
            </a:r>
            <a:endParaRPr kumimoji="0" lang="en-US" sz="1800" b="0" i="0" u="none" strike="noStrike" kern="1200" cap="none" spc="0" normalizeH="0" baseline="0" noProof="0">
              <a:ln>
                <a:noFill/>
              </a:ln>
              <a:solidFill>
                <a:prstClr val="white"/>
              </a:solidFill>
              <a:effectLst/>
              <a:uLnTx/>
              <a:uFillTx/>
              <a:latin typeface="Poppins"/>
              <a:ea typeface="+mn-ea"/>
              <a:cs typeface="+mn-c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Traditional chatbots often provide text-based interactions that can be perceived as monotonous and boring.</a:t>
            </a:r>
            <a:endPar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endParaRPr>
          </a:p>
        </p:txBody>
      </p:sp>
      <p:sp>
        <p:nvSpPr>
          <p:cNvPr id="16" name="Rectangle 15">
            <a:extLst>
              <a:ext uri="{FF2B5EF4-FFF2-40B4-BE49-F238E27FC236}">
                <a16:creationId xmlns:a16="http://schemas.microsoft.com/office/drawing/2014/main" id="{1868FC05-AFA9-C290-C9B1-F504FBA361DC}"/>
              </a:ext>
            </a:extLst>
          </p:cNvPr>
          <p:cNvSpPr/>
          <p:nvPr/>
        </p:nvSpPr>
        <p:spPr>
          <a:xfrm>
            <a:off x="4137482" y="2757352"/>
            <a:ext cx="3976577" cy="3826150"/>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Utilized </a:t>
            </a:r>
            <a:r>
              <a:rPr kumimoji="0" lang="en-US" sz="1100" b="1" i="0" u="none" strike="noStrike" kern="1200" cap="none" spc="0" normalizeH="0" baseline="0" noProof="0" dirty="0">
                <a:ln>
                  <a:noFill/>
                </a:ln>
                <a:solidFill>
                  <a:srgbClr val="374151"/>
                </a:solidFill>
                <a:effectLst/>
                <a:uLnTx/>
                <a:uFillTx/>
                <a:latin typeface="Poppins"/>
                <a:ea typeface="+mn-lt"/>
                <a:cs typeface="Poppins"/>
              </a:rPr>
              <a:t>OpenAI</a:t>
            </a:r>
            <a:r>
              <a:rPr kumimoji="0" lang="en-US" sz="1100" b="0" i="0" u="none" strike="noStrike" kern="1200" cap="none" spc="0" normalizeH="0" baseline="0" noProof="0" dirty="0">
                <a:ln>
                  <a:noFill/>
                </a:ln>
                <a:solidFill>
                  <a:srgbClr val="374151"/>
                </a:solidFill>
                <a:effectLst/>
                <a:uLnTx/>
                <a:uFillTx/>
                <a:latin typeface="Poppins"/>
                <a:ea typeface="+mn-lt"/>
                <a:cs typeface="Poppins"/>
              </a:rPr>
              <a:t>'s LLM to integrate powerful language models capable of understanding and generating human-like text.</a:t>
            </a: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Used </a:t>
            </a:r>
            <a:r>
              <a:rPr kumimoji="0" lang="en-US" sz="1100" b="1" i="0" u="none" strike="noStrike" kern="1200" cap="none" spc="0" normalizeH="0" baseline="0" noProof="0" err="1">
                <a:ln>
                  <a:noFill/>
                </a:ln>
                <a:solidFill>
                  <a:srgbClr val="374151"/>
                </a:solidFill>
                <a:effectLst/>
                <a:uLnTx/>
                <a:uFillTx/>
                <a:latin typeface="Poppins"/>
                <a:ea typeface="+mn-lt"/>
                <a:cs typeface="Poppins"/>
              </a:rPr>
              <a:t>ElevenLabs</a:t>
            </a:r>
            <a:r>
              <a:rPr kumimoji="0" lang="en-US" sz="1100" b="1" i="0" u="none" strike="noStrike" kern="1200" cap="none" spc="0" normalizeH="0" baseline="0" noProof="0" dirty="0">
                <a:ln>
                  <a:noFill/>
                </a:ln>
                <a:solidFill>
                  <a:srgbClr val="374151"/>
                </a:solidFill>
                <a:effectLst/>
                <a:uLnTx/>
                <a:uFillTx/>
                <a:latin typeface="Poppins"/>
                <a:ea typeface="+mn-lt"/>
                <a:cs typeface="Poppins"/>
              </a:rPr>
              <a:t> </a:t>
            </a:r>
            <a:r>
              <a:rPr kumimoji="0" lang="en-US" sz="1100" b="0" i="0" u="none" strike="noStrike" kern="1200" cap="none" spc="0" normalizeH="0" baseline="0" noProof="0" dirty="0">
                <a:ln>
                  <a:noFill/>
                </a:ln>
                <a:solidFill>
                  <a:srgbClr val="374151"/>
                </a:solidFill>
                <a:effectLst/>
                <a:uLnTx/>
                <a:uFillTx/>
                <a:latin typeface="Poppins"/>
                <a:ea typeface="+mn-lt"/>
                <a:cs typeface="Poppins"/>
              </a:rPr>
              <a:t>for realistic text-to-speech (TTS) conversion, enabling the creation of lifelike voice responses.</a:t>
            </a:r>
            <a:endParaRPr kumimoji="0" lang="en-US" sz="1800" b="0" i="0" u="none" strike="noStrike" kern="1200" cap="none" spc="0" normalizeH="0" baseline="0" noProof="0" dirty="0">
              <a:ln>
                <a:noFill/>
              </a:ln>
              <a:solidFill>
                <a:prstClr val="white"/>
              </a:solidFill>
              <a:effectLst/>
              <a:uLnTx/>
              <a:uFillTx/>
              <a:latin typeface="Poppins"/>
              <a:ea typeface="+mn-lt"/>
              <a:cs typeface="Poppin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374151"/>
                </a:solidFill>
                <a:effectLst/>
                <a:uLnTx/>
                <a:uFillTx/>
                <a:latin typeface="Poppins"/>
                <a:ea typeface="+mn-lt"/>
                <a:cs typeface="Poppins"/>
              </a:rPr>
              <a:t>Langchain</a:t>
            </a:r>
            <a:r>
              <a:rPr kumimoji="0" lang="en-US" sz="1100" b="0" i="0" u="none" strike="noStrike" kern="1200" cap="none" spc="0" normalizeH="0" baseline="0" noProof="0" dirty="0">
                <a:ln>
                  <a:noFill/>
                </a:ln>
                <a:solidFill>
                  <a:srgbClr val="374151"/>
                </a:solidFill>
                <a:effectLst/>
                <a:uLnTx/>
                <a:uFillTx/>
                <a:latin typeface="Poppins"/>
                <a:ea typeface="+mn-lt"/>
                <a:cs typeface="Poppins"/>
              </a:rPr>
              <a:t> to manage conversational context and state across multiple interactions. </a:t>
            </a:r>
            <a:endParaRPr kumimoji="0" lang="en-US" sz="1800" b="0" i="0" u="none" strike="noStrike" kern="1200" cap="none" spc="0" normalizeH="0" baseline="0" noProof="0">
              <a:ln>
                <a:noFill/>
              </a:ln>
              <a:solidFill>
                <a:prstClr val="white"/>
              </a:solidFill>
              <a:effectLst/>
              <a:uLnTx/>
              <a:uFillTx/>
              <a:latin typeface="Poppins"/>
              <a:ea typeface="+mn-ea"/>
              <a:cs typeface="+mn-c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Used </a:t>
            </a:r>
            <a:r>
              <a:rPr kumimoji="0" lang="en-US" sz="1100" b="1" i="0" u="none" strike="noStrike" kern="1200" cap="none" spc="0" normalizeH="0" baseline="0" noProof="0" err="1">
                <a:ln>
                  <a:noFill/>
                </a:ln>
                <a:solidFill>
                  <a:srgbClr val="374151"/>
                </a:solidFill>
                <a:effectLst/>
                <a:uLnTx/>
                <a:uFillTx/>
                <a:latin typeface="Poppins"/>
                <a:ea typeface="+mn-lt"/>
                <a:cs typeface="Poppins"/>
              </a:rPr>
              <a:t>Langchain</a:t>
            </a:r>
            <a:r>
              <a:rPr kumimoji="0" lang="en-US" sz="1100" b="1" i="0" u="none" strike="noStrike" kern="1200" cap="none" spc="0" normalizeH="0" baseline="0" noProof="0" dirty="0">
                <a:ln>
                  <a:noFill/>
                </a:ln>
                <a:solidFill>
                  <a:srgbClr val="374151"/>
                </a:solidFill>
                <a:effectLst/>
                <a:uLnTx/>
                <a:uFillTx/>
                <a:latin typeface="Poppins"/>
                <a:ea typeface="+mn-lt"/>
                <a:cs typeface="Poppins"/>
              </a:rPr>
              <a:t> </a:t>
            </a:r>
            <a:r>
              <a:rPr kumimoji="0" lang="en-US" sz="1100" b="0" i="0" u="none" strike="noStrike" kern="1200" cap="none" spc="0" normalizeH="0" baseline="0" noProof="0" dirty="0">
                <a:ln>
                  <a:noFill/>
                </a:ln>
                <a:solidFill>
                  <a:srgbClr val="374151"/>
                </a:solidFill>
                <a:effectLst/>
                <a:uLnTx/>
                <a:uFillTx/>
                <a:latin typeface="Poppins"/>
                <a:ea typeface="+mn-lt"/>
                <a:cs typeface="Poppins"/>
              </a:rPr>
              <a:t>to manage various data formats, including </a:t>
            </a:r>
            <a:r>
              <a:rPr kumimoji="0" lang="en-US" sz="1100" b="1" i="0" u="none" strike="noStrike" kern="1200" cap="none" spc="0" normalizeH="0" baseline="0" noProof="0" dirty="0">
                <a:ln>
                  <a:noFill/>
                </a:ln>
                <a:solidFill>
                  <a:srgbClr val="374151"/>
                </a:solidFill>
                <a:effectLst/>
                <a:uLnTx/>
                <a:uFillTx/>
                <a:latin typeface="Poppins"/>
                <a:ea typeface="+mn-lt"/>
                <a:cs typeface="Poppins"/>
              </a:rPr>
              <a:t>CSV, DB, JSON, and PDF</a:t>
            </a:r>
            <a:r>
              <a:rPr kumimoji="0" lang="en-US" sz="1100" b="0" i="0" u="none" strike="noStrike" kern="1200" cap="none" spc="0" normalizeH="0" baseline="0" noProof="0" dirty="0">
                <a:ln>
                  <a:noFill/>
                </a:ln>
                <a:solidFill>
                  <a:srgbClr val="374151"/>
                </a:solidFill>
                <a:effectLst/>
                <a:uLnTx/>
                <a:uFillTx/>
                <a:latin typeface="Poppins"/>
                <a:ea typeface="+mn-lt"/>
                <a:cs typeface="Poppins"/>
              </a:rPr>
              <a:t>. </a:t>
            </a:r>
            <a:r>
              <a:rPr kumimoji="0" lang="en-US" sz="1100" b="0" i="0" u="none" strike="noStrike" kern="1200" cap="none" spc="0" normalizeH="0" baseline="0" noProof="0" err="1">
                <a:ln>
                  <a:noFill/>
                </a:ln>
                <a:solidFill>
                  <a:srgbClr val="374151"/>
                </a:solidFill>
                <a:effectLst/>
                <a:uLnTx/>
                <a:uFillTx/>
                <a:latin typeface="Poppins"/>
                <a:ea typeface="+mn-lt"/>
                <a:cs typeface="Poppins"/>
              </a:rPr>
              <a:t>Langchain</a:t>
            </a:r>
            <a:r>
              <a:rPr kumimoji="0" lang="en-US" sz="1100" b="0" i="0" u="none" strike="noStrike" kern="1200" cap="none" spc="0" normalizeH="0" baseline="0" noProof="0" dirty="0">
                <a:ln>
                  <a:noFill/>
                </a:ln>
                <a:solidFill>
                  <a:srgbClr val="374151"/>
                </a:solidFill>
                <a:effectLst/>
                <a:uLnTx/>
                <a:uFillTx/>
                <a:latin typeface="Poppins"/>
                <a:ea typeface="+mn-lt"/>
                <a:cs typeface="Poppins"/>
              </a:rPr>
              <a:t> can also extract content from </a:t>
            </a:r>
            <a:r>
              <a:rPr kumimoji="0" lang="en-US" sz="1100" b="1" i="0" u="none" strike="noStrike" kern="1200" cap="none" spc="0" normalizeH="0" baseline="0" noProof="0" dirty="0">
                <a:ln>
                  <a:noFill/>
                </a:ln>
                <a:solidFill>
                  <a:srgbClr val="374151"/>
                </a:solidFill>
                <a:effectLst/>
                <a:uLnTx/>
                <a:uFillTx/>
                <a:latin typeface="Poppins"/>
                <a:ea typeface="+mn-lt"/>
                <a:cs typeface="Poppins"/>
              </a:rPr>
              <a:t>Google </a:t>
            </a:r>
            <a:r>
              <a:rPr kumimoji="0" lang="en-US" sz="1100" b="0" i="0" u="none" strike="noStrike" kern="1200" cap="none" spc="0" normalizeH="0" baseline="0" noProof="0" dirty="0">
                <a:ln>
                  <a:noFill/>
                </a:ln>
                <a:solidFill>
                  <a:srgbClr val="374151"/>
                </a:solidFill>
                <a:effectLst/>
                <a:uLnTx/>
                <a:uFillTx/>
                <a:latin typeface="Poppins"/>
                <a:ea typeface="+mn-lt"/>
                <a:cs typeface="Poppins"/>
              </a:rPr>
              <a:t>when answers are not found in the provided data sources.</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Integrated </a:t>
            </a:r>
            <a:r>
              <a:rPr kumimoji="0" lang="en-US" sz="1100" b="1" i="0" u="none" strike="noStrike" kern="1200" cap="none" spc="0" normalizeH="0" baseline="0" noProof="0" dirty="0" err="1">
                <a:ln>
                  <a:noFill/>
                </a:ln>
                <a:solidFill>
                  <a:srgbClr val="374151"/>
                </a:solidFill>
                <a:effectLst/>
                <a:uLnTx/>
                <a:uFillTx/>
                <a:latin typeface="Poppins"/>
                <a:ea typeface="+mn-lt"/>
                <a:cs typeface="Poppins"/>
              </a:rPr>
              <a:t>ChromaDB</a:t>
            </a:r>
            <a:r>
              <a:rPr kumimoji="0" lang="en-US" sz="1100" b="0" i="0" u="none" strike="noStrike" kern="1200" cap="none" spc="0" normalizeH="0" baseline="0" noProof="0" dirty="0">
                <a:ln>
                  <a:noFill/>
                </a:ln>
                <a:solidFill>
                  <a:srgbClr val="374151"/>
                </a:solidFill>
                <a:effectLst/>
                <a:uLnTx/>
                <a:uFillTx/>
                <a:latin typeface="Poppins"/>
                <a:ea typeface="+mn-lt"/>
                <a:cs typeface="Poppins"/>
              </a:rPr>
              <a:t> to handle fast and efficient data retrieval, allowing the bot to access and utilize large datasets for informed responses.</a:t>
            </a: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mn-lt"/>
                <a:cs typeface="Poppins"/>
              </a:rPr>
              <a:t>Developed support for multimodal interactions by combining text, voice, and video capabilities. Used OpenAI for text processing, </a:t>
            </a:r>
            <a:r>
              <a:rPr kumimoji="0" lang="en-US" sz="1100" b="0" i="0" u="none" strike="noStrike" kern="1200" cap="none" spc="0" normalizeH="0" baseline="0" noProof="0" err="1">
                <a:ln>
                  <a:noFill/>
                </a:ln>
                <a:solidFill>
                  <a:srgbClr val="374151"/>
                </a:solidFill>
                <a:effectLst/>
                <a:uLnTx/>
                <a:uFillTx/>
                <a:latin typeface="Poppins"/>
                <a:ea typeface="+mn-lt"/>
                <a:cs typeface="Poppins"/>
              </a:rPr>
              <a:t>ElevenLabs</a:t>
            </a:r>
            <a:r>
              <a:rPr kumimoji="0" lang="en-US" sz="1100" b="0" i="0" u="none" strike="noStrike" kern="1200" cap="none" spc="0" normalizeH="0" baseline="0" noProof="0" dirty="0">
                <a:ln>
                  <a:noFill/>
                </a:ln>
                <a:solidFill>
                  <a:srgbClr val="374151"/>
                </a:solidFill>
                <a:effectLst/>
                <a:uLnTx/>
                <a:uFillTx/>
                <a:latin typeface="Poppins"/>
                <a:ea typeface="+mn-lt"/>
                <a:cs typeface="Poppins"/>
              </a:rPr>
              <a:t> for voice synthesis, and </a:t>
            </a:r>
            <a:r>
              <a:rPr kumimoji="0" lang="en-US" sz="1100" b="1" i="0" u="none" strike="noStrike" kern="1200" cap="none" spc="0" normalizeH="0" baseline="0" noProof="0" dirty="0">
                <a:ln>
                  <a:noFill/>
                </a:ln>
                <a:solidFill>
                  <a:srgbClr val="374151"/>
                </a:solidFill>
                <a:effectLst/>
                <a:uLnTx/>
                <a:uFillTx/>
                <a:latin typeface="Poppins"/>
                <a:ea typeface="+mn-lt"/>
                <a:cs typeface="Poppins"/>
              </a:rPr>
              <a:t>open-source video generation</a:t>
            </a:r>
            <a:r>
              <a:rPr kumimoji="0" lang="en-US" sz="1100" b="0" i="0" u="none" strike="noStrike" kern="1200" cap="none" spc="0" normalizeH="0" baseline="0" noProof="0" dirty="0">
                <a:ln>
                  <a:noFill/>
                </a:ln>
                <a:solidFill>
                  <a:srgbClr val="374151"/>
                </a:solidFill>
                <a:effectLst/>
                <a:uLnTx/>
                <a:uFillTx/>
                <a:latin typeface="Poppins"/>
                <a:ea typeface="+mn-lt"/>
                <a:cs typeface="Poppins"/>
              </a:rPr>
              <a:t> tools for </a:t>
            </a:r>
            <a:r>
              <a:rPr kumimoji="0" lang="en-US" sz="1100" b="0" i="0" u="none" strike="noStrike" kern="1200" cap="none" spc="0" normalizeH="0" baseline="0" noProof="0" err="1">
                <a:ln>
                  <a:noFill/>
                </a:ln>
                <a:solidFill>
                  <a:srgbClr val="374151"/>
                </a:solidFill>
                <a:effectLst/>
                <a:uLnTx/>
                <a:uFillTx/>
                <a:latin typeface="Poppins"/>
                <a:ea typeface="+mn-lt"/>
                <a:cs typeface="Poppins"/>
              </a:rPr>
              <a:t>videobot</a:t>
            </a:r>
            <a:r>
              <a:rPr kumimoji="0" lang="en-US" sz="1100" b="0" i="0" u="none" strike="noStrike" kern="1200" cap="none" spc="0" normalizeH="0" baseline="0" noProof="0" dirty="0">
                <a:ln>
                  <a:noFill/>
                </a:ln>
                <a:solidFill>
                  <a:srgbClr val="374151"/>
                </a:solidFill>
                <a:effectLst/>
                <a:uLnTx/>
                <a:uFillTx/>
                <a:latin typeface="Poppins"/>
                <a:ea typeface="+mn-lt"/>
                <a:cs typeface="Poppins"/>
              </a:rPr>
              <a:t> functionality.</a:t>
            </a:r>
            <a:endParaRPr kumimoji="0" lang="en-US" sz="1100" b="0" i="0" u="none" strike="noStrike" kern="1200" cap="none" spc="0" normalizeH="0" baseline="0" noProof="0" dirty="0">
              <a:ln>
                <a:noFill/>
              </a:ln>
              <a:solidFill>
                <a:srgbClr val="374151"/>
              </a:solidFill>
              <a:effectLst/>
              <a:uLnTx/>
              <a:uFillTx/>
              <a:latin typeface="Poppins"/>
              <a:ea typeface="+mn-ea"/>
              <a:cs typeface="Poppins"/>
            </a:endParaRPr>
          </a:p>
        </p:txBody>
      </p:sp>
      <p:sp>
        <p:nvSpPr>
          <p:cNvPr id="21" name="Oval 20">
            <a:extLst>
              <a:ext uri="{FF2B5EF4-FFF2-40B4-BE49-F238E27FC236}">
                <a16:creationId xmlns:a16="http://schemas.microsoft.com/office/drawing/2014/main" id="{4DEB5987-ED24-4AB8-1978-35EDE1532E48}"/>
              </a:ext>
            </a:extLst>
          </p:cNvPr>
          <p:cNvSpPr/>
          <p:nvPr/>
        </p:nvSpPr>
        <p:spPr>
          <a:xfrm>
            <a:off x="8801245" y="2512970"/>
            <a:ext cx="640080" cy="6400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sp>
        <p:nvSpPr>
          <p:cNvPr id="24" name="Oval 23">
            <a:extLst>
              <a:ext uri="{FF2B5EF4-FFF2-40B4-BE49-F238E27FC236}">
                <a16:creationId xmlns:a16="http://schemas.microsoft.com/office/drawing/2014/main" id="{6D73669E-3D09-A6A7-7FBA-3E0E752D6917}"/>
              </a:ext>
            </a:extLst>
          </p:cNvPr>
          <p:cNvSpPr/>
          <p:nvPr/>
        </p:nvSpPr>
        <p:spPr>
          <a:xfrm>
            <a:off x="8787597" y="3615735"/>
            <a:ext cx="640080" cy="6400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sp>
        <p:nvSpPr>
          <p:cNvPr id="26" name="Oval 25">
            <a:extLst>
              <a:ext uri="{FF2B5EF4-FFF2-40B4-BE49-F238E27FC236}">
                <a16:creationId xmlns:a16="http://schemas.microsoft.com/office/drawing/2014/main" id="{5E707041-A989-0969-EFE3-9A8B1F6E44FB}"/>
              </a:ext>
            </a:extLst>
          </p:cNvPr>
          <p:cNvSpPr/>
          <p:nvPr/>
        </p:nvSpPr>
        <p:spPr>
          <a:xfrm>
            <a:off x="8801245" y="4595412"/>
            <a:ext cx="640080" cy="6400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pic>
        <p:nvPicPr>
          <p:cNvPr id="27" name="Picture 26">
            <a:extLst>
              <a:ext uri="{FF2B5EF4-FFF2-40B4-BE49-F238E27FC236}">
                <a16:creationId xmlns:a16="http://schemas.microsoft.com/office/drawing/2014/main" id="{FD7ED79C-B6A9-EA53-CD07-D21F76DE00ED}"/>
              </a:ext>
            </a:extLst>
          </p:cNvPr>
          <p:cNvPicPr>
            <a:picLocks noChangeAspect="1"/>
          </p:cNvPicPr>
          <p:nvPr/>
        </p:nvPicPr>
        <p:blipFill>
          <a:blip r:embed="rId3"/>
          <a:stretch>
            <a:fillRect/>
          </a:stretch>
        </p:blipFill>
        <p:spPr>
          <a:xfrm>
            <a:off x="8922032" y="1483817"/>
            <a:ext cx="393700" cy="457200"/>
          </a:xfrm>
          <a:prstGeom prst="rect">
            <a:avLst/>
          </a:prstGeom>
        </p:spPr>
      </p:pic>
      <p:pic>
        <p:nvPicPr>
          <p:cNvPr id="28" name="Picture 27">
            <a:extLst>
              <a:ext uri="{FF2B5EF4-FFF2-40B4-BE49-F238E27FC236}">
                <a16:creationId xmlns:a16="http://schemas.microsoft.com/office/drawing/2014/main" id="{16764DA5-4A8A-45C4-BE42-384AB4D14582}"/>
              </a:ext>
            </a:extLst>
          </p:cNvPr>
          <p:cNvPicPr>
            <a:picLocks noChangeAspect="1"/>
          </p:cNvPicPr>
          <p:nvPr/>
        </p:nvPicPr>
        <p:blipFill>
          <a:blip r:embed="rId4"/>
          <a:stretch>
            <a:fillRect/>
          </a:stretch>
        </p:blipFill>
        <p:spPr>
          <a:xfrm>
            <a:off x="8907105" y="2618830"/>
            <a:ext cx="450850" cy="450850"/>
          </a:xfrm>
          <a:prstGeom prst="rect">
            <a:avLst/>
          </a:prstGeom>
        </p:spPr>
      </p:pic>
      <p:pic>
        <p:nvPicPr>
          <p:cNvPr id="29" name="Picture 28">
            <a:extLst>
              <a:ext uri="{FF2B5EF4-FFF2-40B4-BE49-F238E27FC236}">
                <a16:creationId xmlns:a16="http://schemas.microsoft.com/office/drawing/2014/main" id="{D9DA456B-F997-4914-9895-ED86C8D4B2A0}"/>
              </a:ext>
            </a:extLst>
          </p:cNvPr>
          <p:cNvPicPr>
            <a:picLocks noChangeAspect="1"/>
          </p:cNvPicPr>
          <p:nvPr/>
        </p:nvPicPr>
        <p:blipFill>
          <a:blip r:embed="rId5"/>
          <a:stretch>
            <a:fillRect/>
          </a:stretch>
        </p:blipFill>
        <p:spPr>
          <a:xfrm>
            <a:off x="8900150" y="3684542"/>
            <a:ext cx="437464" cy="524957"/>
          </a:xfrm>
          <a:prstGeom prst="rect">
            <a:avLst/>
          </a:prstGeom>
        </p:spPr>
      </p:pic>
      <p:sp>
        <p:nvSpPr>
          <p:cNvPr id="30" name="Rectangle 29">
            <a:extLst>
              <a:ext uri="{FF2B5EF4-FFF2-40B4-BE49-F238E27FC236}">
                <a16:creationId xmlns:a16="http://schemas.microsoft.com/office/drawing/2014/main" id="{BB80D80F-F030-ACE3-4E90-55453C132384}"/>
              </a:ext>
            </a:extLst>
          </p:cNvPr>
          <p:cNvSpPr/>
          <p:nvPr/>
        </p:nvSpPr>
        <p:spPr bwMode="auto">
          <a:xfrm>
            <a:off x="8410316" y="1320754"/>
            <a:ext cx="3487448" cy="31702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Calibri"/>
            </a:endParaRPr>
          </a:p>
        </p:txBody>
      </p:sp>
      <p:grpSp>
        <p:nvGrpSpPr>
          <p:cNvPr id="31" name="Group 30">
            <a:extLst>
              <a:ext uri="{FF2B5EF4-FFF2-40B4-BE49-F238E27FC236}">
                <a16:creationId xmlns:a16="http://schemas.microsoft.com/office/drawing/2014/main" id="{4EA62CA9-9A99-F25D-CCAF-08029250BF25}"/>
              </a:ext>
            </a:extLst>
          </p:cNvPr>
          <p:cNvGrpSpPr/>
          <p:nvPr/>
        </p:nvGrpSpPr>
        <p:grpSpPr>
          <a:xfrm>
            <a:off x="8168548" y="960041"/>
            <a:ext cx="2979921" cy="658812"/>
            <a:chOff x="7555266" y="1214168"/>
            <a:chExt cx="2979921" cy="658812"/>
          </a:xfrm>
        </p:grpSpPr>
        <p:sp>
          <p:nvSpPr>
            <p:cNvPr id="32" name="Right Triangle 31">
              <a:extLst>
                <a:ext uri="{FF2B5EF4-FFF2-40B4-BE49-F238E27FC236}">
                  <a16:creationId xmlns:a16="http://schemas.microsoft.com/office/drawing/2014/main" id="{B6463D82-76E9-0327-F5A4-CA7325BBF0C5}"/>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ight Triangle 32">
              <a:extLst>
                <a:ext uri="{FF2B5EF4-FFF2-40B4-BE49-F238E27FC236}">
                  <a16:creationId xmlns:a16="http://schemas.microsoft.com/office/drawing/2014/main" id="{2DEAAAE9-E42E-539C-5F65-60F45CD2916C}"/>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D069C10E-DAA1-0945-B7CD-50A2ED7681C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35" name="Rectangle 34">
            <a:extLst>
              <a:ext uri="{FF2B5EF4-FFF2-40B4-BE49-F238E27FC236}">
                <a16:creationId xmlns:a16="http://schemas.microsoft.com/office/drawing/2014/main" id="{9A5DBB1E-E4BF-819A-E48D-0FC980DBA67E}"/>
              </a:ext>
            </a:extLst>
          </p:cNvPr>
          <p:cNvSpPr/>
          <p:nvPr/>
        </p:nvSpPr>
        <p:spPr>
          <a:xfrm>
            <a:off x="467272" y="938034"/>
            <a:ext cx="7646787" cy="1119366"/>
          </a:xfrm>
          <a:prstGeom prst="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chorCtr="0"/>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Poppins"/>
                <a:ea typeface="+mn-ea"/>
                <a:cs typeface="Calibri"/>
              </a:rPr>
              <a:t>Project Overview</a:t>
            </a:r>
            <a:r>
              <a:rPr kumimoji="0" lang="en-US" sz="1050" b="0" i="0" u="none" strike="noStrike" kern="1200" cap="none" spc="0" normalizeH="0" baseline="0" noProof="0" dirty="0">
                <a:ln>
                  <a:noFill/>
                </a:ln>
                <a:solidFill>
                  <a:prstClr val="white"/>
                </a:solidFill>
                <a:effectLst/>
                <a:uLnTx/>
                <a:uFillTx/>
                <a:latin typeface="Poppins"/>
                <a:ea typeface="+mn-ea"/>
                <a:cs typeface="Calibri"/>
              </a:rPr>
              <a:t>: </a:t>
            </a:r>
            <a:r>
              <a:rPr kumimoji="0" lang="en-US" sz="1050" b="0" i="0" u="none" strike="noStrike" kern="1200" cap="none" spc="0" normalizeH="0" baseline="0" noProof="0" dirty="0">
                <a:ln>
                  <a:noFill/>
                </a:ln>
                <a:solidFill>
                  <a:prstClr val="white"/>
                </a:solidFill>
                <a:effectLst/>
                <a:uLnTx/>
                <a:uFillTx/>
                <a:latin typeface="Poppins"/>
                <a:ea typeface="+mn-lt"/>
                <a:cs typeface="Calibri"/>
              </a:rPr>
              <a:t>T</a:t>
            </a:r>
            <a:r>
              <a:rPr kumimoji="0" lang="en-US" sz="1050" b="0" i="0" u="none" strike="noStrike" kern="1200" cap="none" spc="0" normalizeH="0" baseline="0" noProof="0" dirty="0">
                <a:ln>
                  <a:noFill/>
                </a:ln>
                <a:solidFill>
                  <a:prstClr val="white"/>
                </a:solidFill>
                <a:effectLst/>
                <a:uLnTx/>
                <a:uFillTx/>
                <a:latin typeface="Poppins"/>
                <a:ea typeface="+mn-lt"/>
                <a:cs typeface="Poppins"/>
              </a:rPr>
              <a:t>he traditional chatbots often struggle with understanding complex queries, providing personalized responses, handling ambiguity, and maintaining user engagement. Additionally, these chatbots face challenges with scalability, integration, and availability, leading to unsatisfactory user experiences. To overcome these issues, we implemented a solution utilizing Retrieval Augmented Generation. This implementation supports multimodal interactions, ensuring a seamless, engaging, and personalized user experience, while also providing 24/7 availability without the need for human intervention.</a:t>
            </a:r>
            <a:endParaRPr kumimoji="0" lang="en-US" sz="1050" b="0" i="0" u="none" strike="noStrike" kern="1200" cap="none" spc="0" normalizeH="0" baseline="0" noProof="0" dirty="0">
              <a:ln>
                <a:noFill/>
              </a:ln>
              <a:solidFill>
                <a:prstClr val="white"/>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Poppins"/>
                <a:ea typeface="+mn-lt"/>
                <a:cs typeface="Poppins"/>
              </a:rPr>
              <a:t>4o</a:t>
            </a: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white"/>
              </a:solidFill>
              <a:effectLst/>
              <a:uLnTx/>
              <a:uFillTx/>
              <a:latin typeface="Poppins"/>
              <a:ea typeface="+mn-lt"/>
              <a:cs typeface="Calibri"/>
            </a:endParaRPr>
          </a:p>
        </p:txBody>
      </p:sp>
      <p:grpSp>
        <p:nvGrpSpPr>
          <p:cNvPr id="41" name="Group 40">
            <a:extLst>
              <a:ext uri="{FF2B5EF4-FFF2-40B4-BE49-F238E27FC236}">
                <a16:creationId xmlns:a16="http://schemas.microsoft.com/office/drawing/2014/main" id="{8FAB0822-631B-7323-AD03-659ABB8466F9}"/>
              </a:ext>
            </a:extLst>
          </p:cNvPr>
          <p:cNvGrpSpPr/>
          <p:nvPr/>
        </p:nvGrpSpPr>
        <p:grpSpPr>
          <a:xfrm>
            <a:off x="4143849" y="2162413"/>
            <a:ext cx="3976577" cy="506676"/>
            <a:chOff x="4602706" y="2803376"/>
            <a:chExt cx="3075565" cy="506676"/>
          </a:xfrm>
        </p:grpSpPr>
        <p:sp>
          <p:nvSpPr>
            <p:cNvPr id="42" name="Pentagon 43">
              <a:extLst>
                <a:ext uri="{FF2B5EF4-FFF2-40B4-BE49-F238E27FC236}">
                  <a16:creationId xmlns:a16="http://schemas.microsoft.com/office/drawing/2014/main" id="{7C44EB57-578A-B7A8-D0B5-9397130BCB17}"/>
                </a:ext>
              </a:extLst>
            </p:cNvPr>
            <p:cNvSpPr/>
            <p:nvPr/>
          </p:nvSpPr>
          <p:spPr>
            <a:xfrm>
              <a:off x="4784520" y="2803376"/>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Pentagon 42">
              <a:extLst>
                <a:ext uri="{FF2B5EF4-FFF2-40B4-BE49-F238E27FC236}">
                  <a16:creationId xmlns:a16="http://schemas.microsoft.com/office/drawing/2014/main" id="{706AD344-6A30-0D78-E84B-8267E49AA087}"/>
                </a:ext>
              </a:extLst>
            </p:cNvPr>
            <p:cNvSpPr/>
            <p:nvPr/>
          </p:nvSpPr>
          <p:spPr>
            <a:xfrm>
              <a:off x="4693613" y="2803664"/>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Pentagon 40">
              <a:extLst>
                <a:ext uri="{FF2B5EF4-FFF2-40B4-BE49-F238E27FC236}">
                  <a16:creationId xmlns:a16="http://schemas.microsoft.com/office/drawing/2014/main" id="{6B0DE0B4-BFB9-0556-61B7-714CF2D54727}"/>
                </a:ext>
              </a:extLst>
            </p:cNvPr>
            <p:cNvSpPr/>
            <p:nvPr/>
          </p:nvSpPr>
          <p:spPr>
            <a:xfrm>
              <a:off x="4602706" y="2803951"/>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E87"/>
                  </a:solidFill>
                  <a:effectLst/>
                  <a:uLnTx/>
                  <a:uFillTx/>
                  <a:latin typeface="Poppins SemiBold"/>
                  <a:ea typeface="+mn-ea"/>
                  <a:cs typeface="+mn-cs"/>
                </a:rPr>
                <a:t>Approach</a:t>
              </a:r>
              <a:endParaRPr kumimoji="0" lang="en-US" sz="1800" b="0" i="0" u="none" strike="noStrike" kern="1200" cap="none" spc="0" normalizeH="0" baseline="0" noProof="0" dirty="0">
                <a:ln>
                  <a:noFill/>
                </a:ln>
                <a:solidFill>
                  <a:srgbClr val="002E87"/>
                </a:solidFill>
                <a:effectLst/>
                <a:uLnTx/>
                <a:uFillTx/>
                <a:latin typeface="Poppins SemiBold"/>
                <a:ea typeface="+mn-ea"/>
                <a:cs typeface="+mn-cs"/>
              </a:endParaRPr>
            </a:p>
          </p:txBody>
        </p:sp>
      </p:grpSp>
      <p:sp>
        <p:nvSpPr>
          <p:cNvPr id="45" name="TextBox 44">
            <a:extLst>
              <a:ext uri="{FF2B5EF4-FFF2-40B4-BE49-F238E27FC236}">
                <a16:creationId xmlns:a16="http://schemas.microsoft.com/office/drawing/2014/main" id="{F082DBD0-0231-E156-DD90-9CDBF52AD19F}"/>
              </a:ext>
            </a:extLst>
          </p:cNvPr>
          <p:cNvSpPr txBox="1"/>
          <p:nvPr/>
        </p:nvSpPr>
        <p:spPr>
          <a:xfrm>
            <a:off x="9146565" y="1653046"/>
            <a:ext cx="2632759" cy="249299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a:ea typeface="+mn-lt"/>
                <a:cs typeface="Poppins"/>
              </a:rPr>
              <a:t>Enhanced Accuracy and Reliability</a:t>
            </a:r>
            <a:endParaRPr kumimoji="0" lang="en-US" sz="18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a:ea typeface="+mn-lt"/>
                <a:cs typeface="Poppins"/>
              </a:rPr>
              <a:t>Valuable Customer Data and Feedback</a:t>
            </a:r>
            <a:endParaRPr kumimoji="0" lang="en-US" sz="18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a:ea typeface="+mn-lt"/>
                <a:cs typeface="Poppins"/>
              </a:rPr>
              <a:t>Dynamic and Contextual Responses</a:t>
            </a:r>
            <a:br>
              <a:rPr kumimoji="0" lang="en-US" sz="1200" b="0" i="0" u="none" strike="noStrike" kern="1200" cap="none" spc="0" normalizeH="0" baseline="0" noProof="0" dirty="0">
                <a:ln>
                  <a:noFill/>
                </a:ln>
                <a:solidFill>
                  <a:prstClr val="black"/>
                </a:solidFill>
                <a:effectLst/>
                <a:uLnTx/>
                <a:uFillTx/>
                <a:latin typeface="Poppins"/>
                <a:ea typeface="+mn-ea"/>
                <a:cs typeface="+mn-cs"/>
              </a:rPr>
            </a:br>
            <a:br>
              <a:rPr kumimoji="0" lang="en-US" sz="1200" b="0" i="0" u="none" strike="noStrike" kern="1200" cap="none" spc="0" normalizeH="0" baseline="0" noProof="0" dirty="0">
                <a:ln>
                  <a:noFill/>
                </a:ln>
                <a:solidFill>
                  <a:prstClr val="black"/>
                </a:solidFill>
                <a:effectLst/>
                <a:uLnTx/>
                <a:uFillTx/>
                <a:latin typeface="Poppins"/>
                <a:ea typeface="+mn-ea"/>
                <a:cs typeface="+mn-cs"/>
              </a:rPr>
            </a:br>
            <a:r>
              <a:rPr kumimoji="0" lang="en-US" sz="1200" b="0" i="0" u="none" strike="noStrike" kern="1200" cap="none" spc="0" normalizeH="0" baseline="0" noProof="0" dirty="0">
                <a:ln>
                  <a:noFill/>
                </a:ln>
                <a:solidFill>
                  <a:prstClr val="black"/>
                </a:solidFill>
                <a:effectLst/>
                <a:uLnTx/>
                <a:uFillTx/>
                <a:latin typeface="Poppins"/>
                <a:ea typeface="+mn-lt"/>
                <a:cs typeface="Poppins"/>
              </a:rPr>
              <a:t>Eeduce reliance on human customer service representatives, leading to substantial cost savings.</a:t>
            </a:r>
            <a:endParaRPr kumimoji="0" lang="en-US" sz="1200" b="0" i="0" u="none" strike="noStrike" kern="1200" cap="none" spc="0" normalizeH="0" baseline="0" noProof="0">
              <a:ln>
                <a:noFill/>
              </a:ln>
              <a:solidFill>
                <a:prstClr val="black"/>
              </a:solidFill>
              <a:effectLst/>
              <a:uLnTx/>
              <a:uFillTx/>
              <a:latin typeface="Poppins"/>
              <a:ea typeface="+mn-ea"/>
              <a:cs typeface="Poppins"/>
            </a:endParaRPr>
          </a:p>
        </p:txBody>
      </p:sp>
      <p:sp>
        <p:nvSpPr>
          <p:cNvPr id="51" name="Rectangle 50">
            <a:extLst>
              <a:ext uri="{FF2B5EF4-FFF2-40B4-BE49-F238E27FC236}">
                <a16:creationId xmlns:a16="http://schemas.microsoft.com/office/drawing/2014/main" id="{58C702F4-4260-528B-14CD-E71710A416D0}"/>
              </a:ext>
            </a:extLst>
          </p:cNvPr>
          <p:cNvSpPr/>
          <p:nvPr/>
        </p:nvSpPr>
        <p:spPr bwMode="auto">
          <a:xfrm>
            <a:off x="8373237" y="4868244"/>
            <a:ext cx="3487448" cy="1715258"/>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Calibri"/>
            </a:endParaRPr>
          </a:p>
        </p:txBody>
      </p:sp>
      <p:grpSp>
        <p:nvGrpSpPr>
          <p:cNvPr id="52" name="Group 51">
            <a:extLst>
              <a:ext uri="{FF2B5EF4-FFF2-40B4-BE49-F238E27FC236}">
                <a16:creationId xmlns:a16="http://schemas.microsoft.com/office/drawing/2014/main" id="{4E3681C6-0179-3A00-E288-C25FDC1C9BCE}"/>
              </a:ext>
            </a:extLst>
          </p:cNvPr>
          <p:cNvGrpSpPr/>
          <p:nvPr/>
        </p:nvGrpSpPr>
        <p:grpSpPr>
          <a:xfrm>
            <a:off x="8213547" y="4615631"/>
            <a:ext cx="2979921" cy="658812"/>
            <a:chOff x="7555266" y="1214168"/>
            <a:chExt cx="2979921" cy="658812"/>
          </a:xfrm>
        </p:grpSpPr>
        <p:sp>
          <p:nvSpPr>
            <p:cNvPr id="53" name="Right Triangle 52">
              <a:extLst>
                <a:ext uri="{FF2B5EF4-FFF2-40B4-BE49-F238E27FC236}">
                  <a16:creationId xmlns:a16="http://schemas.microsoft.com/office/drawing/2014/main" id="{C9F9F322-21E6-38F3-8D17-0D3F4E42B0E4}"/>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Right Triangle 53">
              <a:extLst>
                <a:ext uri="{FF2B5EF4-FFF2-40B4-BE49-F238E27FC236}">
                  <a16:creationId xmlns:a16="http://schemas.microsoft.com/office/drawing/2014/main" id="{3F4DED60-CA17-4345-DC48-AC82C071014A}"/>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F8B32588-24FB-866B-5402-00A4B037C1FD}"/>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Tools Utilized</a:t>
              </a:r>
            </a:p>
          </p:txBody>
        </p:sp>
      </p:grpSp>
      <p:grpSp>
        <p:nvGrpSpPr>
          <p:cNvPr id="15" name="Group 14">
            <a:extLst>
              <a:ext uri="{FF2B5EF4-FFF2-40B4-BE49-F238E27FC236}">
                <a16:creationId xmlns:a16="http://schemas.microsoft.com/office/drawing/2014/main" id="{E140564F-D22A-1D9B-38F1-767B8B3338BD}"/>
              </a:ext>
            </a:extLst>
          </p:cNvPr>
          <p:cNvGrpSpPr/>
          <p:nvPr/>
        </p:nvGrpSpPr>
        <p:grpSpPr>
          <a:xfrm>
            <a:off x="472164" y="2162413"/>
            <a:ext cx="3565830" cy="506676"/>
            <a:chOff x="377675" y="2790487"/>
            <a:chExt cx="3075565" cy="506676"/>
          </a:xfrm>
        </p:grpSpPr>
        <p:sp>
          <p:nvSpPr>
            <p:cNvPr id="17" name="Pentagon 43">
              <a:extLst>
                <a:ext uri="{FF2B5EF4-FFF2-40B4-BE49-F238E27FC236}">
                  <a16:creationId xmlns:a16="http://schemas.microsoft.com/office/drawing/2014/main" id="{8336A6B8-FB2F-8081-1E3B-940D57F6267E}"/>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Pentagon 42">
              <a:extLst>
                <a:ext uri="{FF2B5EF4-FFF2-40B4-BE49-F238E27FC236}">
                  <a16:creationId xmlns:a16="http://schemas.microsoft.com/office/drawing/2014/main" id="{5E6CF2FD-42F0-2B38-7EC8-615157DAA3E3}"/>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Pentagon 40">
              <a:extLst>
                <a:ext uri="{FF2B5EF4-FFF2-40B4-BE49-F238E27FC236}">
                  <a16:creationId xmlns:a16="http://schemas.microsoft.com/office/drawing/2014/main" id="{F4E9CF5C-6754-DFE5-05C7-BFA0E3813E50}"/>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E87"/>
                  </a:solidFill>
                  <a:effectLst/>
                  <a:uLnTx/>
                  <a:uFillTx/>
                  <a:latin typeface="Poppins SemiBold"/>
                  <a:ea typeface="+mn-ea"/>
                  <a:cs typeface="+mn-cs"/>
                </a:rPr>
                <a:t>Challenges</a:t>
              </a:r>
              <a:endParaRPr kumimoji="0" lang="en-US" sz="1800" b="0" i="0" u="none" strike="noStrike" kern="1200" cap="none" spc="0" normalizeH="0" baseline="0" noProof="0" dirty="0">
                <a:ln>
                  <a:noFill/>
                </a:ln>
                <a:solidFill>
                  <a:srgbClr val="002E87"/>
                </a:solidFill>
                <a:effectLst/>
                <a:uLnTx/>
                <a:uFillTx/>
                <a:latin typeface="Poppins SemiBold"/>
                <a:ea typeface="+mn-ea"/>
                <a:cs typeface="+mn-cs"/>
              </a:endParaRPr>
            </a:p>
          </p:txBody>
        </p:sp>
      </p:grpSp>
      <p:pic>
        <p:nvPicPr>
          <p:cNvPr id="9" name="Graphic 8">
            <a:extLst>
              <a:ext uri="{FF2B5EF4-FFF2-40B4-BE49-F238E27FC236}">
                <a16:creationId xmlns:a16="http://schemas.microsoft.com/office/drawing/2014/main" id="{DFE01DC8-4EE6-FCCD-36B6-F9BE4CA9F88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97998" y="1614033"/>
            <a:ext cx="598796" cy="598796"/>
          </a:xfrm>
          <a:prstGeom prst="rect">
            <a:avLst/>
          </a:prstGeom>
        </p:spPr>
      </p:pic>
      <p:pic>
        <p:nvPicPr>
          <p:cNvPr id="10" name="Graphic 9">
            <a:extLst>
              <a:ext uri="{FF2B5EF4-FFF2-40B4-BE49-F238E27FC236}">
                <a16:creationId xmlns:a16="http://schemas.microsoft.com/office/drawing/2014/main" id="{844FEB9A-5323-DD36-F895-D727024D41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11939" y="2162413"/>
            <a:ext cx="632307" cy="632307"/>
          </a:xfrm>
          <a:prstGeom prst="rect">
            <a:avLst/>
          </a:prstGeom>
        </p:spPr>
      </p:pic>
      <p:pic>
        <p:nvPicPr>
          <p:cNvPr id="12" name="Graphic 11">
            <a:extLst>
              <a:ext uri="{FF2B5EF4-FFF2-40B4-BE49-F238E27FC236}">
                <a16:creationId xmlns:a16="http://schemas.microsoft.com/office/drawing/2014/main" id="{6F496119-0F61-941C-DC15-B1F91C9AE1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508052" y="3468110"/>
            <a:ext cx="640080" cy="640080"/>
          </a:xfrm>
          <a:prstGeom prst="rect">
            <a:avLst/>
          </a:prstGeom>
        </p:spPr>
      </p:pic>
      <p:pic>
        <p:nvPicPr>
          <p:cNvPr id="14" name="Graphic 13">
            <a:extLst>
              <a:ext uri="{FF2B5EF4-FFF2-40B4-BE49-F238E27FC236}">
                <a16:creationId xmlns:a16="http://schemas.microsoft.com/office/drawing/2014/main" id="{17767445-EC3E-B42D-237F-9253CA39BFE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480746" y="2671091"/>
            <a:ext cx="679866" cy="679866"/>
          </a:xfrm>
          <a:prstGeom prst="rect">
            <a:avLst/>
          </a:prstGeom>
        </p:spPr>
      </p:pic>
      <p:pic>
        <p:nvPicPr>
          <p:cNvPr id="4" name="Picture 3" descr="🦜️🔗 LangChain">
            <a:extLst>
              <a:ext uri="{FF2B5EF4-FFF2-40B4-BE49-F238E27FC236}">
                <a16:creationId xmlns:a16="http://schemas.microsoft.com/office/drawing/2014/main" id="{AF262A87-7F7D-64FB-CF85-91DA18AC87C4}"/>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422212" y="6009444"/>
            <a:ext cx="1584959" cy="304598"/>
          </a:xfrm>
          <a:prstGeom prst="rect">
            <a:avLst/>
          </a:prstGeom>
        </p:spPr>
      </p:pic>
      <p:pic>
        <p:nvPicPr>
          <p:cNvPr id="7" name="Picture 6" descr="File:OpenAI Logo.svg - Wikimedia Commons">
            <a:extLst>
              <a:ext uri="{FF2B5EF4-FFF2-40B4-BE49-F238E27FC236}">
                <a16:creationId xmlns:a16="http://schemas.microsoft.com/office/drawing/2014/main" id="{8CDC2DDF-1DC4-123A-5614-48A151347C72}"/>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8549316" y="5439634"/>
            <a:ext cx="1516379" cy="347424"/>
          </a:xfrm>
          <a:prstGeom prst="rect">
            <a:avLst/>
          </a:prstGeom>
        </p:spPr>
      </p:pic>
      <p:pic>
        <p:nvPicPr>
          <p:cNvPr id="11" name="Picture 10" descr="File:ElevenLabs logo 2.png - Wikipedia">
            <a:extLst>
              <a:ext uri="{FF2B5EF4-FFF2-40B4-BE49-F238E27FC236}">
                <a16:creationId xmlns:a16="http://schemas.microsoft.com/office/drawing/2014/main" id="{2C523BDB-66F2-138D-7734-E50F89B216B7}"/>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0220529" y="5435633"/>
            <a:ext cx="1462390" cy="2993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