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 name="Rectangle 22">
            <a:extLst>
              <a:ext uri="{FF2B5EF4-FFF2-40B4-BE49-F238E27FC236}">
                <a16:creationId xmlns:a16="http://schemas.microsoft.com/office/drawing/2014/main" id="{6179331F-3A15-A4F1-1641-D8417B96D297}"/>
              </a:ext>
            </a:extLst>
          </p:cNvPr>
          <p:cNvSpPr/>
          <p:nvPr/>
        </p:nvSpPr>
        <p:spPr bwMode="auto">
          <a:xfrm>
            <a:off x="8005473" y="5032861"/>
            <a:ext cx="3913129" cy="1396018"/>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182563" marR="0" lvl="0" indent="-171450" algn="l" defTabSz="914400" rtl="0" eaLnBrk="1" fontAlgn="auto" latinLnBrk="0" hangingPunct="1">
              <a:lnSpc>
                <a:spcPct val="110000"/>
              </a:lnSpc>
              <a:spcBef>
                <a:spcPts val="0"/>
              </a:spcBef>
              <a:spcAft>
                <a:spcPts val="1800"/>
              </a:spcAft>
              <a:buClrTx/>
              <a:buSzPct val="60000"/>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implementation of ML models reduced the time required for daily risk calculations, allowing for faster and more responsive risk management decisions.</a:t>
            </a:r>
          </a:p>
          <a:p>
            <a:pPr marL="182563" marR="0" lvl="0" indent="-171450" algn="l" defTabSz="914400" rtl="0" eaLnBrk="1" fontAlgn="auto" latinLnBrk="0" hangingPunct="1">
              <a:lnSpc>
                <a:spcPct val="110000"/>
              </a:lnSpc>
              <a:spcBef>
                <a:spcPts val="0"/>
              </a:spcBef>
              <a:spcAft>
                <a:spcPts val="1800"/>
              </a:spcAft>
              <a:buClrTx/>
              <a:buSzPct val="60000"/>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bank experienced a reduction in unexpected losses, as the models provided early warnings of increased market risk.</a:t>
            </a:r>
          </a:p>
        </p:txBody>
      </p:sp>
      <p:sp>
        <p:nvSpPr>
          <p:cNvPr id="2" name="Title 1">
            <a:extLst>
              <a:ext uri="{FF2B5EF4-FFF2-40B4-BE49-F238E27FC236}">
                <a16:creationId xmlns:a16="http://schemas.microsoft.com/office/drawing/2014/main" id="{17B33F41-F667-85C6-2A6F-3573E84BAEB7}"/>
              </a:ext>
            </a:extLst>
          </p:cNvPr>
          <p:cNvSpPr>
            <a:spLocks noGrp="1"/>
          </p:cNvSpPr>
          <p:nvPr>
            <p:ph type="title"/>
          </p:nvPr>
        </p:nvSpPr>
        <p:spPr>
          <a:xfrm>
            <a:off x="592668" y="257992"/>
            <a:ext cx="8131712" cy="559260"/>
          </a:xfrm>
        </p:spPr>
        <p:txBody>
          <a:bodyPr>
            <a:noAutofit/>
          </a:bodyPr>
          <a:lstStyle/>
          <a:p>
            <a:r>
              <a:rPr lang="en-US" b="1" dirty="0">
                <a:latin typeface="Poppins SemiBold" panose="00000700000000000000" pitchFamily="2" charset="0"/>
                <a:cs typeface="Poppins SemiBold" panose="00000700000000000000" pitchFamily="2" charset="0"/>
              </a:rPr>
              <a:t>Predicting Market Volatility and Value at Risk using Machine Learning Models</a:t>
            </a:r>
          </a:p>
        </p:txBody>
      </p:sp>
      <p:sp>
        <p:nvSpPr>
          <p:cNvPr id="3" name="Rectangle 2">
            <a:extLst>
              <a:ext uri="{FF2B5EF4-FFF2-40B4-BE49-F238E27FC236}">
                <a16:creationId xmlns:a16="http://schemas.microsoft.com/office/drawing/2014/main" id="{BF8402D9-B384-EE58-448C-978051FA8D1F}"/>
              </a:ext>
            </a:extLst>
          </p:cNvPr>
          <p:cNvSpPr/>
          <p:nvPr/>
        </p:nvSpPr>
        <p:spPr>
          <a:xfrm>
            <a:off x="478520" y="955210"/>
            <a:ext cx="7111893" cy="1040850"/>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Business Context: </a:t>
            </a: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A global investment bank aimed to enhance its market risk management capabilities by implementing machine learning (ML) models to predict market volatility and calculate Value at Risk (</a:t>
            </a:r>
            <a:r>
              <a:rPr kumimoji="0" lang="en-US" sz="1200" b="0" i="0" u="none" strike="noStrike" kern="1200" cap="none" spc="0" normalizeH="0" baseline="0" noProof="0" dirty="0" err="1">
                <a:ln>
                  <a:noFill/>
                </a:ln>
                <a:solidFill>
                  <a:prstClr val="white"/>
                </a:solidFill>
                <a:effectLst/>
                <a:uLnTx/>
                <a:uFillTx/>
                <a:latin typeface="Poppins" pitchFamily="2" charset="77"/>
                <a:ea typeface="+mn-ea"/>
                <a:cs typeface="Poppins" pitchFamily="2" charset="77"/>
              </a:rPr>
              <a:t>VaR</a:t>
            </a: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 The traditional methods were found to be less accurate and slow in responding to sudden market changes, prompting the bank to explore advanced ML techniques.</a:t>
            </a:r>
          </a:p>
        </p:txBody>
      </p:sp>
      <p:grpSp>
        <p:nvGrpSpPr>
          <p:cNvPr id="7" name="Group 6">
            <a:extLst>
              <a:ext uri="{FF2B5EF4-FFF2-40B4-BE49-F238E27FC236}">
                <a16:creationId xmlns:a16="http://schemas.microsoft.com/office/drawing/2014/main" id="{B34AE2BE-E536-A9DF-666F-7F3B22864BA2}"/>
              </a:ext>
            </a:extLst>
          </p:cNvPr>
          <p:cNvGrpSpPr/>
          <p:nvPr/>
        </p:nvGrpSpPr>
        <p:grpSpPr>
          <a:xfrm>
            <a:off x="7763708" y="4585165"/>
            <a:ext cx="2979921" cy="658812"/>
            <a:chOff x="7555266" y="1214168"/>
            <a:chExt cx="2979921" cy="658812"/>
          </a:xfrm>
        </p:grpSpPr>
        <p:sp>
          <p:nvSpPr>
            <p:cNvPr id="8" name="Right Triangle 7">
              <a:extLst>
                <a:ext uri="{FF2B5EF4-FFF2-40B4-BE49-F238E27FC236}">
                  <a16:creationId xmlns:a16="http://schemas.microsoft.com/office/drawing/2014/main" id="{E8C9E3BE-CE73-965C-1F5A-8DE5259DBD16}"/>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ight Triangle 8">
              <a:extLst>
                <a:ext uri="{FF2B5EF4-FFF2-40B4-BE49-F238E27FC236}">
                  <a16:creationId xmlns:a16="http://schemas.microsoft.com/office/drawing/2014/main" id="{C3A6A9FE-CFB6-CCCB-2DB8-322863F54162}"/>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464FB2A-332E-D147-C025-0D442B7A7A9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 Value Delivered</a:t>
              </a:r>
              <a:endParaRPr kumimoji="0" lang="en-US" sz="1400" b="1" i="0" u="none" strike="noStrike" kern="1200" cap="none" spc="0" normalizeH="0" baseline="0" noProof="0" dirty="0">
                <a:ln>
                  <a:noFill/>
                </a:ln>
                <a:solidFill>
                  <a:prstClr val="white"/>
                </a:solidFill>
                <a:effectLst/>
                <a:uLnTx/>
                <a:uFillTx/>
                <a:latin typeface="Poppins"/>
                <a:ea typeface="+mn-ea"/>
                <a:cs typeface="+mn-cs"/>
              </a:endParaRPr>
            </a:p>
          </p:txBody>
        </p:sp>
      </p:grpSp>
      <p:sp>
        <p:nvSpPr>
          <p:cNvPr id="12" name="Rectangle 11">
            <a:extLst>
              <a:ext uri="{FF2B5EF4-FFF2-40B4-BE49-F238E27FC236}">
                <a16:creationId xmlns:a16="http://schemas.microsoft.com/office/drawing/2014/main" id="{DBCCA228-D5A5-3545-C40F-D528498CC984}"/>
              </a:ext>
            </a:extLst>
          </p:cNvPr>
          <p:cNvSpPr/>
          <p:nvPr/>
        </p:nvSpPr>
        <p:spPr bwMode="auto">
          <a:xfrm>
            <a:off x="8005474" y="1262453"/>
            <a:ext cx="3913129" cy="3235405"/>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a:p>
            <a:pPr marL="0" marR="0" lvl="0" indent="239713"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Enhanced Volatility Prediction::</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LSTM model reduced the Mean Absolute Error (MAE) of volatility predictions compared to the traditional GARCH model.</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Root Mean Squared Error (RMSE) was significantly lower, indicating more accurate and reliable volatility forecasts.</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a:p>
            <a:pPr marL="0" marR="0" lvl="0" indent="239713"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Improved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Calculation:</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GBM model provided more accurate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estimates, with a reduction in prediction error compared to traditional methods (e.g., historical simulation and parametric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Back-testing results showed that the GBM model's predicted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values closely matched actual market losses, with fewer exceedances beyond the predicted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threshold.</a:t>
            </a:r>
          </a:p>
        </p:txBody>
      </p:sp>
      <p:grpSp>
        <p:nvGrpSpPr>
          <p:cNvPr id="13" name="Group 12">
            <a:extLst>
              <a:ext uri="{FF2B5EF4-FFF2-40B4-BE49-F238E27FC236}">
                <a16:creationId xmlns:a16="http://schemas.microsoft.com/office/drawing/2014/main" id="{4C72ADC4-41A1-6D45-E6B5-66957286870C}"/>
              </a:ext>
            </a:extLst>
          </p:cNvPr>
          <p:cNvGrpSpPr/>
          <p:nvPr/>
        </p:nvGrpSpPr>
        <p:grpSpPr>
          <a:xfrm>
            <a:off x="7763709" y="904237"/>
            <a:ext cx="2979921" cy="658812"/>
            <a:chOff x="7555266" y="1214168"/>
            <a:chExt cx="2979921" cy="658812"/>
          </a:xfrm>
        </p:grpSpPr>
        <p:sp>
          <p:nvSpPr>
            <p:cNvPr id="14" name="Right Triangle 13">
              <a:extLst>
                <a:ext uri="{FF2B5EF4-FFF2-40B4-BE49-F238E27FC236}">
                  <a16:creationId xmlns:a16="http://schemas.microsoft.com/office/drawing/2014/main" id="{5205685E-4F3B-E805-02D1-B986E271BC4F}"/>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Right Triangle 14">
              <a:extLst>
                <a:ext uri="{FF2B5EF4-FFF2-40B4-BE49-F238E27FC236}">
                  <a16:creationId xmlns:a16="http://schemas.microsoft.com/office/drawing/2014/main" id="{1EDE7A0A-EB58-7D29-7FAE-F1CF6C44F6D3}"/>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A27D2DD-C7C3-D438-43BF-817DA9A5BE2E}"/>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Results</a:t>
              </a:r>
            </a:p>
          </p:txBody>
        </p:sp>
      </p:grpSp>
      <p:sp>
        <p:nvSpPr>
          <p:cNvPr id="4" name="Rectangle 3">
            <a:extLst>
              <a:ext uri="{FF2B5EF4-FFF2-40B4-BE49-F238E27FC236}">
                <a16:creationId xmlns:a16="http://schemas.microsoft.com/office/drawing/2014/main" id="{87B7291E-09B0-7B3D-5E97-87E84192EFF5}"/>
              </a:ext>
            </a:extLst>
          </p:cNvPr>
          <p:cNvSpPr/>
          <p:nvPr/>
        </p:nvSpPr>
        <p:spPr>
          <a:xfrm>
            <a:off x="3499316" y="2824664"/>
            <a:ext cx="409109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184150" marR="0" lvl="0" indent="-1841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Model Selection and Training:</a:t>
            </a:r>
          </a:p>
          <a:p>
            <a:pPr marL="3556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Volatility Prediction</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A Long Short-Term Memory (LSTM) neural network was chosen for predicting market volatility due to its ability to capture temporal dependencies in time series data. The model was trained on historical price data and technical indicators.</a:t>
            </a:r>
          </a:p>
          <a:p>
            <a:pPr marL="3556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Value at Risk (</a:t>
            </a:r>
            <a:r>
              <a:rPr kumimoji="0" lang="en-US" sz="1100" b="1"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A Gradient Boosting Machine (GBM) model was used to estimate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The GBM model was selected for its robustness in handling nonlinear relationships and interactions between features. The model was trained on historical returns and various market risk factors.</a:t>
            </a:r>
          </a:p>
          <a:p>
            <a:pPr marL="184150" marR="0" lvl="0" indent="-1841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Model Validation and Testing: Metrics such as Mean Absolute Error (MAE) and Root Mean Squared Error (RMSE) were used to assess the accuracy of the volatility predictions.</a:t>
            </a:r>
          </a:p>
          <a:p>
            <a:pPr marL="184150" marR="0" lvl="0" indent="-1841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model's performance was evaluated using back-testing, comparing predicted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values with actual market losses.</a:t>
            </a:r>
          </a:p>
        </p:txBody>
      </p:sp>
      <p:sp>
        <p:nvSpPr>
          <p:cNvPr id="17" name="Rectangle 16">
            <a:extLst>
              <a:ext uri="{FF2B5EF4-FFF2-40B4-BE49-F238E27FC236}">
                <a16:creationId xmlns:a16="http://schemas.microsoft.com/office/drawing/2014/main" id="{C230EEC2-230B-3772-9D81-74B5F5DD09A4}"/>
              </a:ext>
            </a:extLst>
          </p:cNvPr>
          <p:cNvSpPr/>
          <p:nvPr/>
        </p:nvSpPr>
        <p:spPr>
          <a:xfrm>
            <a:off x="455085" y="2824662"/>
            <a:ext cx="2802466"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Develop an ML Model to Predict Market Volatility:</a:t>
            </a:r>
          </a:p>
          <a:p>
            <a:pPr marL="295275" marR="0" lvl="1" indent="-1603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Create a machine learning model to analyze historical data and economic indicators, providing accurate forecasts of market volatility.</a:t>
            </a:r>
          </a:p>
          <a:p>
            <a:pPr marL="295275" marR="0" lvl="1" indent="-1730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Enhance decision-making and risk management by anticipating market changes.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Calculate Value at Risk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Using ML Techniques:</a:t>
            </a:r>
          </a:p>
          <a:p>
            <a:pPr marL="295275" marR="0" lvl="1" indent="-1730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Develop an ML model to calculate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measuring potential portfolio losses over a specified period with a given confidence level.</a:t>
            </a:r>
          </a:p>
          <a:p>
            <a:pPr marL="295275" marR="0" lvl="1" indent="-1730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Integrate market risk factors and historical returns to provide precise and dynamic </a:t>
            </a:r>
            <a:r>
              <a:rPr kumimoji="0" lang="en-US" sz="1100" b="0" i="0" u="none" strike="noStrike" kern="1200" cap="none" spc="0" normalizeH="0" baseline="0" noProof="0" dirty="0" err="1">
                <a:ln>
                  <a:noFill/>
                </a:ln>
                <a:solidFill>
                  <a:srgbClr val="002060"/>
                </a:solidFill>
                <a:effectLst/>
                <a:uLnTx/>
                <a:uFillTx/>
                <a:latin typeface="Poppins" pitchFamily="2" charset="77"/>
                <a:ea typeface="+mn-ea"/>
                <a:cs typeface="Poppins" pitchFamily="2" charset="77"/>
              </a:rPr>
              <a:t>VaR</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estimates</a:t>
            </a:r>
            <a:endParaRPr kumimoji="0" lang="en-US" sz="12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p:txBody>
      </p:sp>
      <p:grpSp>
        <p:nvGrpSpPr>
          <p:cNvPr id="30" name="Group 29">
            <a:extLst>
              <a:ext uri="{FF2B5EF4-FFF2-40B4-BE49-F238E27FC236}">
                <a16:creationId xmlns:a16="http://schemas.microsoft.com/office/drawing/2014/main" id="{4EFB427B-9229-D276-0AB1-E347C7400EC3}"/>
              </a:ext>
            </a:extLst>
          </p:cNvPr>
          <p:cNvGrpSpPr/>
          <p:nvPr/>
        </p:nvGrpSpPr>
        <p:grpSpPr>
          <a:xfrm>
            <a:off x="454841" y="2251949"/>
            <a:ext cx="2802466" cy="506677"/>
            <a:chOff x="377675" y="2790487"/>
            <a:chExt cx="3075565" cy="506677"/>
          </a:xfrm>
        </p:grpSpPr>
        <p:sp>
          <p:nvSpPr>
            <p:cNvPr id="31" name="Pentagon 43">
              <a:extLst>
                <a:ext uri="{FF2B5EF4-FFF2-40B4-BE49-F238E27FC236}">
                  <a16:creationId xmlns:a16="http://schemas.microsoft.com/office/drawing/2014/main" id="{9A7299B6-6150-4864-9089-E85F1AD9BEF5}"/>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Pentagon 42">
              <a:extLst>
                <a:ext uri="{FF2B5EF4-FFF2-40B4-BE49-F238E27FC236}">
                  <a16:creationId xmlns:a16="http://schemas.microsoft.com/office/drawing/2014/main" id="{711F5E5E-EEF4-6E9D-A8D4-3B60D8D8F17F}"/>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Pentagon 40">
              <a:extLst>
                <a:ext uri="{FF2B5EF4-FFF2-40B4-BE49-F238E27FC236}">
                  <a16:creationId xmlns:a16="http://schemas.microsoft.com/office/drawing/2014/main" id="{B31B539E-A0EF-4DD7-3AAA-028B09D2DC88}"/>
                </a:ext>
              </a:extLst>
            </p:cNvPr>
            <p:cNvSpPr/>
            <p:nvPr/>
          </p:nvSpPr>
          <p:spPr>
            <a:xfrm>
              <a:off x="377675" y="2790488"/>
              <a:ext cx="2893751" cy="506676"/>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E87"/>
                  </a:solidFill>
                  <a:effectLst/>
                  <a:uLnTx/>
                  <a:uFillTx/>
                  <a:latin typeface="Poppins SemiBold"/>
                  <a:ea typeface="+mn-ea"/>
                  <a:cs typeface="+mn-cs"/>
                </a:rPr>
                <a:t>Objectives</a:t>
              </a:r>
            </a:p>
          </p:txBody>
        </p:sp>
      </p:grpSp>
      <p:grpSp>
        <p:nvGrpSpPr>
          <p:cNvPr id="38" name="Group 37">
            <a:extLst>
              <a:ext uri="{FF2B5EF4-FFF2-40B4-BE49-F238E27FC236}">
                <a16:creationId xmlns:a16="http://schemas.microsoft.com/office/drawing/2014/main" id="{49B97168-E2E9-9364-5B20-FB8D9270BC2F}"/>
              </a:ext>
            </a:extLst>
          </p:cNvPr>
          <p:cNvGrpSpPr/>
          <p:nvPr/>
        </p:nvGrpSpPr>
        <p:grpSpPr>
          <a:xfrm>
            <a:off x="3506699" y="2283405"/>
            <a:ext cx="4083714" cy="506676"/>
            <a:chOff x="377675" y="2790487"/>
            <a:chExt cx="3075565" cy="506676"/>
          </a:xfrm>
        </p:grpSpPr>
        <p:sp>
          <p:nvSpPr>
            <p:cNvPr id="39" name="Pentagon 43">
              <a:extLst>
                <a:ext uri="{FF2B5EF4-FFF2-40B4-BE49-F238E27FC236}">
                  <a16:creationId xmlns:a16="http://schemas.microsoft.com/office/drawing/2014/main" id="{07F8590A-0C6D-37BB-2FF1-E48A0477A3C9}"/>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Pentagon 42">
              <a:extLst>
                <a:ext uri="{FF2B5EF4-FFF2-40B4-BE49-F238E27FC236}">
                  <a16:creationId xmlns:a16="http://schemas.microsoft.com/office/drawing/2014/main" id="{9D2B759E-FB8B-E718-2A6D-5F13423FA885}"/>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1" name="Pentagon 40">
              <a:extLst>
                <a:ext uri="{FF2B5EF4-FFF2-40B4-BE49-F238E27FC236}">
                  <a16:creationId xmlns:a16="http://schemas.microsoft.com/office/drawing/2014/main" id="{D89BB247-9E71-D4F8-F44A-7ED94AA5E0DC}"/>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E87"/>
                  </a:solidFill>
                  <a:effectLst/>
                  <a:uLnTx/>
                  <a:uFillTx/>
                  <a:latin typeface="Poppins SemiBold"/>
                  <a:ea typeface="+mn-ea"/>
                  <a:cs typeface="+mn-cs"/>
                </a:rPr>
                <a:t>Methodology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