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4" name="Rectangle 143">
            <a:extLst>
              <a:ext uri="{FF2B5EF4-FFF2-40B4-BE49-F238E27FC236}">
                <a16:creationId xmlns:a16="http://schemas.microsoft.com/office/drawing/2014/main" id="{4E46454E-DB5E-E1A6-E68B-B5C0942D3565}"/>
              </a:ext>
            </a:extLst>
          </p:cNvPr>
          <p:cNvSpPr/>
          <p:nvPr/>
        </p:nvSpPr>
        <p:spPr>
          <a:xfrm>
            <a:off x="10560596" y="4350845"/>
            <a:ext cx="1562312" cy="1964868"/>
          </a:xfrm>
          <a:prstGeom prst="rect">
            <a:avLst/>
          </a:prstGeom>
          <a:solidFill>
            <a:srgbClr val="F1F4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43" name="Rectangle 142">
            <a:extLst>
              <a:ext uri="{FF2B5EF4-FFF2-40B4-BE49-F238E27FC236}">
                <a16:creationId xmlns:a16="http://schemas.microsoft.com/office/drawing/2014/main" id="{D899F247-C0B5-2097-19CB-F61D9DFE0D98}"/>
              </a:ext>
            </a:extLst>
          </p:cNvPr>
          <p:cNvSpPr/>
          <p:nvPr/>
        </p:nvSpPr>
        <p:spPr>
          <a:xfrm>
            <a:off x="10516540" y="1793083"/>
            <a:ext cx="1562312" cy="1877065"/>
          </a:xfrm>
          <a:prstGeom prst="rect">
            <a:avLst/>
          </a:prstGeom>
          <a:solidFill>
            <a:srgbClr val="F1F4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19" name="Picture 4" descr="3d abstract flow background with rays and cyber dots">
            <a:extLst>
              <a:ext uri="{FF2B5EF4-FFF2-40B4-BE49-F238E27FC236}">
                <a16:creationId xmlns:a16="http://schemas.microsoft.com/office/drawing/2014/main" id="{2FFF60EF-4931-571D-C0B0-B740928870B6}"/>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saturation sat="400000"/>
                    </a14:imgEffect>
                  </a14:imgLayer>
                </a14:imgProps>
              </a:ext>
              <a:ext uri="{28A0092B-C50C-407E-A947-70E740481C1C}">
                <a14:useLocalDpi xmlns:a14="http://schemas.microsoft.com/office/drawing/2010/main" val="0"/>
              </a:ext>
            </a:extLst>
          </a:blip>
          <a:srcRect l="51057" r="14288"/>
          <a:stretch/>
        </p:blipFill>
        <p:spPr bwMode="auto">
          <a:xfrm>
            <a:off x="-7736" y="-3"/>
            <a:ext cx="3165499" cy="6858001"/>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19">
            <a:extLst>
              <a:ext uri="{FF2B5EF4-FFF2-40B4-BE49-F238E27FC236}">
                <a16:creationId xmlns:a16="http://schemas.microsoft.com/office/drawing/2014/main" id="{CE90FCF4-0126-7F34-DE07-5136D655C3E5}"/>
              </a:ext>
            </a:extLst>
          </p:cNvPr>
          <p:cNvSpPr/>
          <p:nvPr/>
        </p:nvSpPr>
        <p:spPr>
          <a:xfrm>
            <a:off x="0" y="-3"/>
            <a:ext cx="3158066" cy="6858000"/>
          </a:xfrm>
          <a:prstGeom prst="rect">
            <a:avLst/>
          </a:prstGeom>
          <a:solidFill>
            <a:srgbClr val="24255B">
              <a:alpha val="69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Poppins"/>
              <a:ea typeface="+mn-ea"/>
              <a:cs typeface="+mn-cs"/>
            </a:endParaRPr>
          </a:p>
        </p:txBody>
      </p:sp>
      <p:sp>
        <p:nvSpPr>
          <p:cNvPr id="21" name="TextBox 20">
            <a:extLst>
              <a:ext uri="{FF2B5EF4-FFF2-40B4-BE49-F238E27FC236}">
                <a16:creationId xmlns:a16="http://schemas.microsoft.com/office/drawing/2014/main" id="{03CC370B-C7A7-17D1-3AA1-50A5CE14D90D}"/>
              </a:ext>
            </a:extLst>
          </p:cNvPr>
          <p:cNvSpPr txBox="1"/>
          <p:nvPr/>
        </p:nvSpPr>
        <p:spPr>
          <a:xfrm>
            <a:off x="333590" y="534862"/>
            <a:ext cx="2850811" cy="193899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Poppins SemiBold"/>
                <a:ea typeface="+mn-ea"/>
                <a:cs typeface="+mn-cs"/>
              </a:rPr>
              <a:t>CASE STUDY: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a:ln>
                <a:noFill/>
              </a:ln>
              <a:solidFill>
                <a:prstClr val="white"/>
              </a:solidFill>
              <a:effectLst/>
              <a:uLnTx/>
              <a:uFillTx/>
              <a:latin typeface="Poppins SemiBol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Poppins SemiBold"/>
                <a:ea typeface="+mn-ea"/>
                <a:cs typeface="+mn-cs"/>
              </a:rPr>
              <a:t>Customer Opportunity Assessment</a:t>
            </a:r>
          </a:p>
        </p:txBody>
      </p:sp>
      <p:cxnSp>
        <p:nvCxnSpPr>
          <p:cNvPr id="22" name="Straight Connector 21">
            <a:extLst>
              <a:ext uri="{FF2B5EF4-FFF2-40B4-BE49-F238E27FC236}">
                <a16:creationId xmlns:a16="http://schemas.microsoft.com/office/drawing/2014/main" id="{B882F3EF-D363-2C75-CFAC-09F68932F732}"/>
              </a:ext>
            </a:extLst>
          </p:cNvPr>
          <p:cNvCxnSpPr>
            <a:cxnSpLocks/>
          </p:cNvCxnSpPr>
          <p:nvPr/>
        </p:nvCxnSpPr>
        <p:spPr>
          <a:xfrm>
            <a:off x="257639" y="534862"/>
            <a:ext cx="0" cy="779588"/>
          </a:xfrm>
          <a:prstGeom prst="line">
            <a:avLst/>
          </a:prstGeom>
          <a:noFill/>
          <a:ln w="57150" cap="flat" cmpd="sng" algn="ctr">
            <a:solidFill>
              <a:srgbClr val="EB4925"/>
            </a:solidFill>
            <a:prstDash val="solid"/>
            <a:miter lim="800000"/>
          </a:ln>
          <a:effectLst/>
        </p:spPr>
      </p:cxnSp>
      <p:sp>
        <p:nvSpPr>
          <p:cNvPr id="2" name="Rectangle 1">
            <a:extLst>
              <a:ext uri="{FF2B5EF4-FFF2-40B4-BE49-F238E27FC236}">
                <a16:creationId xmlns:a16="http://schemas.microsoft.com/office/drawing/2014/main" id="{0EE58A0C-2C66-D876-31DE-7D8F98ECD632}"/>
              </a:ext>
            </a:extLst>
          </p:cNvPr>
          <p:cNvSpPr/>
          <p:nvPr/>
        </p:nvSpPr>
        <p:spPr>
          <a:xfrm>
            <a:off x="3304039" y="697088"/>
            <a:ext cx="7111893" cy="420186"/>
          </a:xfrm>
          <a:prstGeom prst="rect">
            <a:avLst/>
          </a:prstGeom>
          <a:solidFill>
            <a:srgbClr val="002E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0000"/>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966B51AF-A7E3-D3A5-DC4F-160D8511CFB4}"/>
              </a:ext>
            </a:extLst>
          </p:cNvPr>
          <p:cNvSpPr txBox="1"/>
          <p:nvPr/>
        </p:nvSpPr>
        <p:spPr>
          <a:xfrm>
            <a:off x="3338175" y="698462"/>
            <a:ext cx="7111893"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Poppins "/>
                <a:ea typeface="+mn-ea"/>
                <a:cs typeface="Calibri" panose="020F0502020204030204" pitchFamily="34" charset="0"/>
              </a:rPr>
              <a:t>Customer Opportunity Assessment For An Information Technology And Networking Giant</a:t>
            </a:r>
          </a:p>
        </p:txBody>
      </p:sp>
      <p:sp>
        <p:nvSpPr>
          <p:cNvPr id="4" name="Rectangle 3">
            <a:extLst>
              <a:ext uri="{FF2B5EF4-FFF2-40B4-BE49-F238E27FC236}">
                <a16:creationId xmlns:a16="http://schemas.microsoft.com/office/drawing/2014/main" id="{8828B6A9-5CBA-FA61-0D5F-E038DAE865AB}"/>
              </a:ext>
            </a:extLst>
          </p:cNvPr>
          <p:cNvSpPr/>
          <p:nvPr/>
        </p:nvSpPr>
        <p:spPr>
          <a:xfrm>
            <a:off x="6934221" y="1782837"/>
            <a:ext cx="3505147" cy="1877065"/>
          </a:xfrm>
          <a:prstGeom prst="rect">
            <a:avLst/>
          </a:prstGeom>
          <a:solidFill>
            <a:srgbClr val="F1F4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5" name="Rectangle 4">
            <a:extLst>
              <a:ext uri="{FF2B5EF4-FFF2-40B4-BE49-F238E27FC236}">
                <a16:creationId xmlns:a16="http://schemas.microsoft.com/office/drawing/2014/main" id="{E87D0E22-C0B1-49A6-F7C1-92550FE29AF9}"/>
              </a:ext>
            </a:extLst>
          </p:cNvPr>
          <p:cNvSpPr/>
          <p:nvPr/>
        </p:nvSpPr>
        <p:spPr>
          <a:xfrm>
            <a:off x="3304039" y="1782837"/>
            <a:ext cx="3505147" cy="1913936"/>
          </a:xfrm>
          <a:prstGeom prst="rect">
            <a:avLst/>
          </a:prstGeom>
          <a:solidFill>
            <a:srgbClr val="F1F4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02E71D78-9D8E-4A2F-E169-5E8EB6C76717}"/>
              </a:ext>
            </a:extLst>
          </p:cNvPr>
          <p:cNvSpPr/>
          <p:nvPr/>
        </p:nvSpPr>
        <p:spPr>
          <a:xfrm>
            <a:off x="6905811" y="4359651"/>
            <a:ext cx="3505147" cy="1986079"/>
          </a:xfrm>
          <a:prstGeom prst="rect">
            <a:avLst/>
          </a:prstGeom>
          <a:solidFill>
            <a:srgbClr val="F1F4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2B106F06-20DD-DB82-A41B-E94F1C827774}"/>
              </a:ext>
            </a:extLst>
          </p:cNvPr>
          <p:cNvSpPr/>
          <p:nvPr/>
        </p:nvSpPr>
        <p:spPr>
          <a:xfrm>
            <a:off x="3275629" y="4359650"/>
            <a:ext cx="3505147" cy="1986079"/>
          </a:xfrm>
          <a:prstGeom prst="rect">
            <a:avLst/>
          </a:prstGeom>
          <a:solidFill>
            <a:srgbClr val="F1F4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E91BBEE-D08F-FBC7-53F9-6385B298601D}"/>
              </a:ext>
            </a:extLst>
          </p:cNvPr>
          <p:cNvSpPr txBox="1"/>
          <p:nvPr/>
        </p:nvSpPr>
        <p:spPr>
          <a:xfrm>
            <a:off x="3293585" y="3141541"/>
            <a:ext cx="3494710" cy="553998"/>
          </a:xfrm>
          <a:prstGeom prst="rect">
            <a:avLst/>
          </a:prstGeom>
          <a:noFill/>
        </p:spPr>
        <p:txBody>
          <a:bodyPr wrap="square">
            <a:spAutoFit/>
          </a:bodyPr>
          <a:lstStyle>
            <a:defPPr>
              <a:defRPr lang="en-US"/>
            </a:defPPr>
            <a:lvl1pPr marR="0" lvl="0" indent="0" algn="ctr" fontAlgn="auto">
              <a:lnSpc>
                <a:spcPct val="100000"/>
              </a:lnSpc>
              <a:spcBef>
                <a:spcPts val="600"/>
              </a:spcBef>
              <a:spcAft>
                <a:spcPts val="0"/>
              </a:spcAft>
              <a:buClrTx/>
              <a:buSzTx/>
              <a:buFontTx/>
              <a:buNone/>
              <a:tabLst/>
              <a:defRPr kumimoji="0" sz="1000" b="0" i="0" u="none" strike="noStrike" cap="none" spc="0" normalizeH="0" baseline="0">
                <a:ln>
                  <a:noFill/>
                </a:ln>
                <a:solidFill>
                  <a:srgbClr val="002060"/>
                </a:solidFill>
                <a:effectLst/>
                <a:uLnTx/>
                <a:uFillTx/>
                <a:latin typeface="Poppins" pitchFamily="2" charset="77"/>
                <a:cs typeface="Poppins" pitchFamily="2" charset="77"/>
              </a:defRPr>
            </a:lvl1p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2060"/>
                </a:solidFill>
                <a:effectLst/>
                <a:uLnTx/>
                <a:uFillTx/>
                <a:latin typeface="Poppins" pitchFamily="2" charset="77"/>
                <a:ea typeface="+mn-ea"/>
                <a:cs typeface="Poppins" pitchFamily="2" charset="77"/>
              </a:rPr>
              <a:t>The client aimed to better understand customer needs and predict buying behaviors to help optimize their Partner’s sales strategy.</a:t>
            </a:r>
          </a:p>
        </p:txBody>
      </p:sp>
      <p:sp>
        <p:nvSpPr>
          <p:cNvPr id="9" name="TextBox 8">
            <a:extLst>
              <a:ext uri="{FF2B5EF4-FFF2-40B4-BE49-F238E27FC236}">
                <a16:creationId xmlns:a16="http://schemas.microsoft.com/office/drawing/2014/main" id="{4E8AFEC8-CBDE-5798-5536-1D12288D38C4}"/>
              </a:ext>
            </a:extLst>
          </p:cNvPr>
          <p:cNvSpPr txBox="1"/>
          <p:nvPr/>
        </p:nvSpPr>
        <p:spPr>
          <a:xfrm>
            <a:off x="3319922" y="5673425"/>
            <a:ext cx="3505147" cy="707886"/>
          </a:xfrm>
          <a:prstGeom prst="rect">
            <a:avLst/>
          </a:prstGeom>
          <a:noFill/>
        </p:spPr>
        <p:txBody>
          <a:bodyPr wrap="square">
            <a:spAutoFit/>
          </a:bodyPr>
          <a:lstStyle>
            <a:defPPr>
              <a:defRPr lang="en-US"/>
            </a:defPPr>
            <a:lvl1pPr marR="0" lvl="0" indent="0" algn="ctr" fontAlgn="auto">
              <a:lnSpc>
                <a:spcPct val="100000"/>
              </a:lnSpc>
              <a:spcBef>
                <a:spcPts val="600"/>
              </a:spcBef>
              <a:spcAft>
                <a:spcPts val="0"/>
              </a:spcAft>
              <a:buClrTx/>
              <a:buSzTx/>
              <a:buFontTx/>
              <a:buNone/>
              <a:tabLst/>
              <a:defRPr kumimoji="0" sz="1000" b="0" i="0" u="none" strike="noStrike" cap="none" spc="0" normalizeH="0" baseline="0">
                <a:ln>
                  <a:noFill/>
                </a:ln>
                <a:solidFill>
                  <a:srgbClr val="002060"/>
                </a:solidFill>
                <a:effectLst/>
                <a:uLnTx/>
                <a:uFillTx/>
                <a:latin typeface="Poppins" pitchFamily="2" charset="77"/>
                <a:cs typeface="Poppins" pitchFamily="2" charset="77"/>
              </a:defRPr>
            </a:lvl1p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2060"/>
                </a:solidFill>
                <a:effectLst/>
                <a:uLnTx/>
                <a:uFillTx/>
                <a:latin typeface="Poppins" pitchFamily="2" charset="77"/>
                <a:ea typeface="+mn-ea"/>
                <a:cs typeface="Poppins" pitchFamily="2" charset="77"/>
              </a:rPr>
              <a:t>Using segmentation and ML techniques, algorithms analyze variations in customer’s Bookings patterns with reference to similar customer from segment and predicted cross-selling upselling opportunities.</a:t>
            </a:r>
          </a:p>
        </p:txBody>
      </p:sp>
      <p:sp>
        <p:nvSpPr>
          <p:cNvPr id="10" name="TextBox 9">
            <a:extLst>
              <a:ext uri="{FF2B5EF4-FFF2-40B4-BE49-F238E27FC236}">
                <a16:creationId xmlns:a16="http://schemas.microsoft.com/office/drawing/2014/main" id="{C28FE020-7C1B-FB1F-AB2E-6E369FB3DED4}"/>
              </a:ext>
            </a:extLst>
          </p:cNvPr>
          <p:cNvSpPr txBox="1"/>
          <p:nvPr/>
        </p:nvSpPr>
        <p:spPr>
          <a:xfrm>
            <a:off x="8431480" y="1799753"/>
            <a:ext cx="2151781" cy="1938992"/>
          </a:xfrm>
          <a:prstGeom prst="rect">
            <a:avLst/>
          </a:prstGeom>
          <a:noFill/>
        </p:spPr>
        <p:txBody>
          <a:bodyPr wrap="square">
            <a:spAutoFit/>
          </a:bodyPr>
          <a:lstStyle>
            <a:defPPr>
              <a:defRPr lang="en-US"/>
            </a:defPPr>
            <a:lvl1pPr marR="0" lvl="0" indent="0" algn="ctr" fontAlgn="auto">
              <a:lnSpc>
                <a:spcPct val="100000"/>
              </a:lnSpc>
              <a:spcBef>
                <a:spcPts val="600"/>
              </a:spcBef>
              <a:spcAft>
                <a:spcPts val="0"/>
              </a:spcAft>
              <a:buClrTx/>
              <a:buSzTx/>
              <a:buFontTx/>
              <a:buNone/>
              <a:tabLst/>
              <a:defRPr kumimoji="0" sz="1000" b="0" i="0" u="none" strike="noStrike" cap="none" spc="0" normalizeH="0" baseline="0">
                <a:ln>
                  <a:noFill/>
                </a:ln>
                <a:solidFill>
                  <a:srgbClr val="002060"/>
                </a:solidFill>
                <a:effectLst/>
                <a:uLnTx/>
                <a:uFillTx/>
                <a:latin typeface="Poppins" pitchFamily="2" charset="77"/>
                <a:cs typeface="Poppins" pitchFamily="2" charset="77"/>
              </a:defRPr>
            </a:lvl1p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2060"/>
                </a:solidFill>
                <a:effectLst/>
                <a:uLnTx/>
                <a:uFillTx/>
                <a:latin typeface="Poppins" pitchFamily="2" charset="77"/>
                <a:ea typeface="+mn-ea"/>
                <a:cs typeface="Poppins" pitchFamily="2" charset="77"/>
              </a:rPr>
              <a:t>We opted to use deep neural networks and XGBoost, their ability to analyze and predict opportunity using vast data which comprised customer purchase data, interaction histories and engagement patterns. The model was trained on historical sales data, customer interaction logs, support queries, and activity.</a:t>
            </a:r>
          </a:p>
        </p:txBody>
      </p:sp>
      <p:grpSp>
        <p:nvGrpSpPr>
          <p:cNvPr id="11" name="Group 10">
            <a:extLst>
              <a:ext uri="{FF2B5EF4-FFF2-40B4-BE49-F238E27FC236}">
                <a16:creationId xmlns:a16="http://schemas.microsoft.com/office/drawing/2014/main" id="{BCDE68B5-5757-54A6-F610-433DE77A0E4F}"/>
              </a:ext>
            </a:extLst>
          </p:cNvPr>
          <p:cNvGrpSpPr/>
          <p:nvPr/>
        </p:nvGrpSpPr>
        <p:grpSpPr>
          <a:xfrm>
            <a:off x="3280359" y="1223113"/>
            <a:ext cx="3505147" cy="506676"/>
            <a:chOff x="377675" y="2790487"/>
            <a:chExt cx="3075565" cy="506676"/>
          </a:xfrm>
        </p:grpSpPr>
        <p:sp>
          <p:nvSpPr>
            <p:cNvPr id="12" name="Pentagon 43">
              <a:extLst>
                <a:ext uri="{FF2B5EF4-FFF2-40B4-BE49-F238E27FC236}">
                  <a16:creationId xmlns:a16="http://schemas.microsoft.com/office/drawing/2014/main" id="{E20BB58B-7A3B-5AA1-3465-51EF8712CC1E}"/>
                </a:ext>
              </a:extLst>
            </p:cNvPr>
            <p:cNvSpPr/>
            <p:nvPr/>
          </p:nvSpPr>
          <p:spPr>
            <a:xfrm>
              <a:off x="559489" y="2790487"/>
              <a:ext cx="2893751" cy="50610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Poppins" pitchFamily="2" charset="77"/>
                <a:ea typeface="+mn-ea"/>
                <a:cs typeface="Poppins" pitchFamily="2" charset="77"/>
              </a:endParaRPr>
            </a:p>
          </p:txBody>
        </p:sp>
        <p:sp>
          <p:nvSpPr>
            <p:cNvPr id="13" name="Pentagon 42">
              <a:extLst>
                <a:ext uri="{FF2B5EF4-FFF2-40B4-BE49-F238E27FC236}">
                  <a16:creationId xmlns:a16="http://schemas.microsoft.com/office/drawing/2014/main" id="{997BE957-CF67-6444-97E9-26BD19DEED1C}"/>
                </a:ext>
              </a:extLst>
            </p:cNvPr>
            <p:cNvSpPr/>
            <p:nvPr/>
          </p:nvSpPr>
          <p:spPr>
            <a:xfrm>
              <a:off x="468582" y="2790775"/>
              <a:ext cx="2893751" cy="506101"/>
            </a:xfrm>
            <a:prstGeom prst="roundRect">
              <a:avLst/>
            </a:prstGeom>
            <a:solidFill>
              <a:srgbClr val="002E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Poppins" pitchFamily="2" charset="77"/>
                <a:ea typeface="+mn-ea"/>
                <a:cs typeface="Poppins" pitchFamily="2" charset="77"/>
              </a:endParaRPr>
            </a:p>
          </p:txBody>
        </p:sp>
        <p:sp>
          <p:nvSpPr>
            <p:cNvPr id="14" name="Pentagon 40">
              <a:extLst>
                <a:ext uri="{FF2B5EF4-FFF2-40B4-BE49-F238E27FC236}">
                  <a16:creationId xmlns:a16="http://schemas.microsoft.com/office/drawing/2014/main" id="{1E6EC697-2940-2A60-6F9D-E059C2DFBE1A}"/>
                </a:ext>
              </a:extLst>
            </p:cNvPr>
            <p:cNvSpPr/>
            <p:nvPr/>
          </p:nvSpPr>
          <p:spPr>
            <a:xfrm>
              <a:off x="377675" y="2791062"/>
              <a:ext cx="2893751" cy="506101"/>
            </a:xfrm>
            <a:prstGeom prst="round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2060"/>
                  </a:solidFill>
                  <a:effectLst/>
                  <a:uLnTx/>
                  <a:uFillTx/>
                  <a:latin typeface="Poppins" pitchFamily="2" charset="77"/>
                  <a:ea typeface="+mn-ea"/>
                  <a:cs typeface="Poppins" pitchFamily="2" charset="77"/>
                </a:rPr>
                <a:t>BUSINESS PROBLEM</a:t>
              </a:r>
            </a:p>
          </p:txBody>
        </p:sp>
      </p:grpSp>
      <p:grpSp>
        <p:nvGrpSpPr>
          <p:cNvPr id="15" name="Group 14">
            <a:extLst>
              <a:ext uri="{FF2B5EF4-FFF2-40B4-BE49-F238E27FC236}">
                <a16:creationId xmlns:a16="http://schemas.microsoft.com/office/drawing/2014/main" id="{3AF3D153-2D64-5368-6066-A232E6EDDE9E}"/>
              </a:ext>
            </a:extLst>
          </p:cNvPr>
          <p:cNvGrpSpPr/>
          <p:nvPr/>
        </p:nvGrpSpPr>
        <p:grpSpPr>
          <a:xfrm>
            <a:off x="6910785" y="1223113"/>
            <a:ext cx="3505147" cy="506676"/>
            <a:chOff x="4602706" y="2803376"/>
            <a:chExt cx="3075565" cy="506676"/>
          </a:xfrm>
        </p:grpSpPr>
        <p:sp>
          <p:nvSpPr>
            <p:cNvPr id="16" name="Pentagon 43">
              <a:extLst>
                <a:ext uri="{FF2B5EF4-FFF2-40B4-BE49-F238E27FC236}">
                  <a16:creationId xmlns:a16="http://schemas.microsoft.com/office/drawing/2014/main" id="{5404EEF9-10DD-D7CB-6A9C-B3CA338928B7}"/>
                </a:ext>
              </a:extLst>
            </p:cNvPr>
            <p:cNvSpPr/>
            <p:nvPr/>
          </p:nvSpPr>
          <p:spPr>
            <a:xfrm>
              <a:off x="4784520" y="2803376"/>
              <a:ext cx="2893751" cy="50610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Poppins" pitchFamily="2" charset="77"/>
                <a:ea typeface="+mn-ea"/>
                <a:cs typeface="Poppins" pitchFamily="2" charset="77"/>
              </a:endParaRPr>
            </a:p>
          </p:txBody>
        </p:sp>
        <p:sp>
          <p:nvSpPr>
            <p:cNvPr id="17" name="Pentagon 42">
              <a:extLst>
                <a:ext uri="{FF2B5EF4-FFF2-40B4-BE49-F238E27FC236}">
                  <a16:creationId xmlns:a16="http://schemas.microsoft.com/office/drawing/2014/main" id="{0C1611C2-3D57-DA31-D74D-7E08CD1A40E9}"/>
                </a:ext>
              </a:extLst>
            </p:cNvPr>
            <p:cNvSpPr/>
            <p:nvPr/>
          </p:nvSpPr>
          <p:spPr>
            <a:xfrm>
              <a:off x="4693613" y="2803664"/>
              <a:ext cx="2893751" cy="506101"/>
            </a:xfrm>
            <a:prstGeom prst="roundRect">
              <a:avLst/>
            </a:prstGeom>
            <a:solidFill>
              <a:srgbClr val="002E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Poppins" pitchFamily="2" charset="77"/>
                <a:ea typeface="+mn-ea"/>
                <a:cs typeface="Poppins" pitchFamily="2" charset="77"/>
              </a:endParaRPr>
            </a:p>
          </p:txBody>
        </p:sp>
        <p:sp>
          <p:nvSpPr>
            <p:cNvPr id="18" name="Pentagon 40">
              <a:extLst>
                <a:ext uri="{FF2B5EF4-FFF2-40B4-BE49-F238E27FC236}">
                  <a16:creationId xmlns:a16="http://schemas.microsoft.com/office/drawing/2014/main" id="{05C8D761-05BC-E838-A774-1880BEFDCD2F}"/>
                </a:ext>
              </a:extLst>
            </p:cNvPr>
            <p:cNvSpPr/>
            <p:nvPr/>
          </p:nvSpPr>
          <p:spPr>
            <a:xfrm>
              <a:off x="4602706" y="2803951"/>
              <a:ext cx="2893751" cy="506101"/>
            </a:xfrm>
            <a:prstGeom prst="round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2060"/>
                  </a:solidFill>
                  <a:effectLst/>
                  <a:uLnTx/>
                  <a:uFillTx/>
                  <a:latin typeface="Poppins" pitchFamily="2" charset="77"/>
                  <a:ea typeface="+mn-ea"/>
                  <a:cs typeface="Poppins" pitchFamily="2" charset="77"/>
                </a:rPr>
                <a:t>MODELING TECHNIQUE</a:t>
              </a:r>
            </a:p>
          </p:txBody>
        </p:sp>
      </p:grpSp>
      <p:grpSp>
        <p:nvGrpSpPr>
          <p:cNvPr id="35" name="Group 34">
            <a:extLst>
              <a:ext uri="{FF2B5EF4-FFF2-40B4-BE49-F238E27FC236}">
                <a16:creationId xmlns:a16="http://schemas.microsoft.com/office/drawing/2014/main" id="{403983E7-5D44-A340-537F-658AF08F7EDC}"/>
              </a:ext>
            </a:extLst>
          </p:cNvPr>
          <p:cNvGrpSpPr/>
          <p:nvPr/>
        </p:nvGrpSpPr>
        <p:grpSpPr>
          <a:xfrm>
            <a:off x="3280290" y="3784422"/>
            <a:ext cx="3505147" cy="506676"/>
            <a:chOff x="377675" y="2790487"/>
            <a:chExt cx="3075565" cy="506676"/>
          </a:xfrm>
        </p:grpSpPr>
        <p:sp>
          <p:nvSpPr>
            <p:cNvPr id="36" name="Pentagon 43">
              <a:extLst>
                <a:ext uri="{FF2B5EF4-FFF2-40B4-BE49-F238E27FC236}">
                  <a16:creationId xmlns:a16="http://schemas.microsoft.com/office/drawing/2014/main" id="{ED3DF342-7A02-FCAB-F24F-A3CF7B91FE46}"/>
                </a:ext>
              </a:extLst>
            </p:cNvPr>
            <p:cNvSpPr/>
            <p:nvPr/>
          </p:nvSpPr>
          <p:spPr>
            <a:xfrm>
              <a:off x="559489" y="2790487"/>
              <a:ext cx="2893751" cy="50610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Poppins" pitchFamily="2" charset="77"/>
                <a:ea typeface="+mn-ea"/>
                <a:cs typeface="Poppins" pitchFamily="2" charset="77"/>
              </a:endParaRPr>
            </a:p>
          </p:txBody>
        </p:sp>
        <p:sp>
          <p:nvSpPr>
            <p:cNvPr id="37" name="Pentagon 42">
              <a:extLst>
                <a:ext uri="{FF2B5EF4-FFF2-40B4-BE49-F238E27FC236}">
                  <a16:creationId xmlns:a16="http://schemas.microsoft.com/office/drawing/2014/main" id="{D8728AA2-0FBA-CAE2-BD94-D319D1763855}"/>
                </a:ext>
              </a:extLst>
            </p:cNvPr>
            <p:cNvSpPr/>
            <p:nvPr/>
          </p:nvSpPr>
          <p:spPr>
            <a:xfrm>
              <a:off x="468582" y="2790775"/>
              <a:ext cx="2893751" cy="506101"/>
            </a:xfrm>
            <a:prstGeom prst="roundRect">
              <a:avLst/>
            </a:prstGeom>
            <a:solidFill>
              <a:srgbClr val="002E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Poppins" pitchFamily="2" charset="77"/>
                <a:ea typeface="+mn-ea"/>
                <a:cs typeface="Poppins" pitchFamily="2" charset="77"/>
              </a:endParaRPr>
            </a:p>
          </p:txBody>
        </p:sp>
        <p:sp>
          <p:nvSpPr>
            <p:cNvPr id="38" name="Pentagon 40">
              <a:extLst>
                <a:ext uri="{FF2B5EF4-FFF2-40B4-BE49-F238E27FC236}">
                  <a16:creationId xmlns:a16="http://schemas.microsoft.com/office/drawing/2014/main" id="{6B93B069-6020-799C-CD0F-EB14835F4A7F}"/>
                </a:ext>
              </a:extLst>
            </p:cNvPr>
            <p:cNvSpPr/>
            <p:nvPr/>
          </p:nvSpPr>
          <p:spPr>
            <a:xfrm>
              <a:off x="377675" y="2791062"/>
              <a:ext cx="2893751" cy="506101"/>
            </a:xfrm>
            <a:prstGeom prst="round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2060"/>
                  </a:solidFill>
                  <a:effectLst/>
                  <a:uLnTx/>
                  <a:uFillTx/>
                  <a:latin typeface="Poppins" pitchFamily="2" charset="77"/>
                  <a:ea typeface="+mn-ea"/>
                  <a:cs typeface="Poppins" pitchFamily="2" charset="77"/>
                </a:rPr>
                <a:t>OUTPUT</a:t>
              </a:r>
            </a:p>
          </p:txBody>
        </p:sp>
      </p:grpSp>
      <p:grpSp>
        <p:nvGrpSpPr>
          <p:cNvPr id="39" name="Group 38">
            <a:extLst>
              <a:ext uri="{FF2B5EF4-FFF2-40B4-BE49-F238E27FC236}">
                <a16:creationId xmlns:a16="http://schemas.microsoft.com/office/drawing/2014/main" id="{68961A1B-3E25-3DBA-2284-A2C885C8649A}"/>
              </a:ext>
            </a:extLst>
          </p:cNvPr>
          <p:cNvGrpSpPr/>
          <p:nvPr/>
        </p:nvGrpSpPr>
        <p:grpSpPr>
          <a:xfrm>
            <a:off x="6910785" y="3784422"/>
            <a:ext cx="3500173" cy="506676"/>
            <a:chOff x="4602706" y="2803376"/>
            <a:chExt cx="3075565" cy="506676"/>
          </a:xfrm>
        </p:grpSpPr>
        <p:sp>
          <p:nvSpPr>
            <p:cNvPr id="40" name="Pentagon 43">
              <a:extLst>
                <a:ext uri="{FF2B5EF4-FFF2-40B4-BE49-F238E27FC236}">
                  <a16:creationId xmlns:a16="http://schemas.microsoft.com/office/drawing/2014/main" id="{151F46F6-3BC3-26F7-E761-CEB215129042}"/>
                </a:ext>
              </a:extLst>
            </p:cNvPr>
            <p:cNvSpPr/>
            <p:nvPr/>
          </p:nvSpPr>
          <p:spPr>
            <a:xfrm>
              <a:off x="4784520" y="2803376"/>
              <a:ext cx="2893751" cy="50610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Poppins" pitchFamily="2" charset="77"/>
                <a:ea typeface="+mn-ea"/>
                <a:cs typeface="Poppins" pitchFamily="2" charset="77"/>
              </a:endParaRPr>
            </a:p>
          </p:txBody>
        </p:sp>
        <p:sp>
          <p:nvSpPr>
            <p:cNvPr id="41" name="Pentagon 42">
              <a:extLst>
                <a:ext uri="{FF2B5EF4-FFF2-40B4-BE49-F238E27FC236}">
                  <a16:creationId xmlns:a16="http://schemas.microsoft.com/office/drawing/2014/main" id="{CC8D1748-B058-DA47-B8B0-468B8251F96D}"/>
                </a:ext>
              </a:extLst>
            </p:cNvPr>
            <p:cNvSpPr/>
            <p:nvPr/>
          </p:nvSpPr>
          <p:spPr>
            <a:xfrm>
              <a:off x="4693613" y="2803664"/>
              <a:ext cx="2893751" cy="506101"/>
            </a:xfrm>
            <a:prstGeom prst="roundRect">
              <a:avLst/>
            </a:prstGeom>
            <a:solidFill>
              <a:srgbClr val="002E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Poppins" pitchFamily="2" charset="77"/>
                <a:ea typeface="+mn-ea"/>
                <a:cs typeface="Poppins" pitchFamily="2" charset="77"/>
              </a:endParaRPr>
            </a:p>
          </p:txBody>
        </p:sp>
        <p:sp>
          <p:nvSpPr>
            <p:cNvPr id="42" name="Pentagon 40">
              <a:extLst>
                <a:ext uri="{FF2B5EF4-FFF2-40B4-BE49-F238E27FC236}">
                  <a16:creationId xmlns:a16="http://schemas.microsoft.com/office/drawing/2014/main" id="{9F30DBC4-4B66-22F0-397F-1FF603BDD2B9}"/>
                </a:ext>
              </a:extLst>
            </p:cNvPr>
            <p:cNvSpPr/>
            <p:nvPr/>
          </p:nvSpPr>
          <p:spPr>
            <a:xfrm>
              <a:off x="4602706" y="2803951"/>
              <a:ext cx="2893751" cy="506101"/>
            </a:xfrm>
            <a:prstGeom prst="round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2060"/>
                  </a:solidFill>
                  <a:effectLst/>
                  <a:uLnTx/>
                  <a:uFillTx/>
                  <a:latin typeface="Poppins" pitchFamily="2" charset="77"/>
                  <a:ea typeface="+mn-ea"/>
                  <a:cs typeface="Poppins" pitchFamily="2" charset="77"/>
                </a:rPr>
                <a:t>BUSINESS BENEFITS</a:t>
              </a:r>
            </a:p>
          </p:txBody>
        </p:sp>
      </p:grpSp>
      <p:grpSp>
        <p:nvGrpSpPr>
          <p:cNvPr id="61" name="Group 60">
            <a:extLst>
              <a:ext uri="{FF2B5EF4-FFF2-40B4-BE49-F238E27FC236}">
                <a16:creationId xmlns:a16="http://schemas.microsoft.com/office/drawing/2014/main" id="{9694D011-BA50-9245-E742-3578D81F923E}"/>
              </a:ext>
            </a:extLst>
          </p:cNvPr>
          <p:cNvGrpSpPr>
            <a:grpSpLocks noChangeAspect="1"/>
          </p:cNvGrpSpPr>
          <p:nvPr/>
        </p:nvGrpSpPr>
        <p:grpSpPr>
          <a:xfrm>
            <a:off x="7306435" y="4437250"/>
            <a:ext cx="365760" cy="355078"/>
            <a:chOff x="985962" y="4707478"/>
            <a:chExt cx="1598362" cy="1599965"/>
          </a:xfrm>
          <a:solidFill>
            <a:srgbClr val="767171"/>
          </a:solidFill>
        </p:grpSpPr>
        <p:sp>
          <p:nvSpPr>
            <p:cNvPr id="62" name="Freeform 64">
              <a:extLst>
                <a:ext uri="{FF2B5EF4-FFF2-40B4-BE49-F238E27FC236}">
                  <a16:creationId xmlns:a16="http://schemas.microsoft.com/office/drawing/2014/main" id="{70C7E959-CA37-89C2-6619-7125309227C1}"/>
                </a:ext>
              </a:extLst>
            </p:cNvPr>
            <p:cNvSpPr>
              <a:spLocks/>
            </p:cNvSpPr>
            <p:nvPr/>
          </p:nvSpPr>
          <p:spPr bwMode="auto">
            <a:xfrm>
              <a:off x="1282400" y="5112877"/>
              <a:ext cx="897326" cy="897327"/>
            </a:xfrm>
            <a:custGeom>
              <a:avLst/>
              <a:gdLst>
                <a:gd name="T0" fmla="*/ 0 w 474"/>
                <a:gd name="T1" fmla="*/ 237 h 474"/>
                <a:gd name="T2" fmla="*/ 237 w 474"/>
                <a:gd name="T3" fmla="*/ 474 h 474"/>
                <a:gd name="T4" fmla="*/ 474 w 474"/>
                <a:gd name="T5" fmla="*/ 237 h 474"/>
                <a:gd name="T6" fmla="*/ 452 w 474"/>
                <a:gd name="T7" fmla="*/ 137 h 474"/>
                <a:gd name="T8" fmla="*/ 390 w 474"/>
                <a:gd name="T9" fmla="*/ 198 h 474"/>
                <a:gd name="T10" fmla="*/ 395 w 474"/>
                <a:gd name="T11" fmla="*/ 237 h 474"/>
                <a:gd name="T12" fmla="*/ 237 w 474"/>
                <a:gd name="T13" fmla="*/ 395 h 474"/>
                <a:gd name="T14" fmla="*/ 79 w 474"/>
                <a:gd name="T15" fmla="*/ 237 h 474"/>
                <a:gd name="T16" fmla="*/ 237 w 474"/>
                <a:gd name="T17" fmla="*/ 79 h 474"/>
                <a:gd name="T18" fmla="*/ 276 w 474"/>
                <a:gd name="T19" fmla="*/ 84 h 474"/>
                <a:gd name="T20" fmla="*/ 337 w 474"/>
                <a:gd name="T21" fmla="*/ 22 h 474"/>
                <a:gd name="T22" fmla="*/ 237 w 474"/>
                <a:gd name="T23" fmla="*/ 0 h 474"/>
                <a:gd name="T24" fmla="*/ 0 w 474"/>
                <a:gd name="T25" fmla="*/ 237 h 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4" h="474">
                  <a:moveTo>
                    <a:pt x="0" y="237"/>
                  </a:moveTo>
                  <a:cubicBezTo>
                    <a:pt x="0" y="368"/>
                    <a:pt x="106" y="474"/>
                    <a:pt x="237" y="474"/>
                  </a:cubicBezTo>
                  <a:cubicBezTo>
                    <a:pt x="368" y="474"/>
                    <a:pt x="474" y="368"/>
                    <a:pt x="474" y="237"/>
                  </a:cubicBezTo>
                  <a:cubicBezTo>
                    <a:pt x="474" y="201"/>
                    <a:pt x="466" y="167"/>
                    <a:pt x="452" y="137"/>
                  </a:cubicBezTo>
                  <a:cubicBezTo>
                    <a:pt x="390" y="198"/>
                    <a:pt x="390" y="198"/>
                    <a:pt x="390" y="198"/>
                  </a:cubicBezTo>
                  <a:cubicBezTo>
                    <a:pt x="393" y="210"/>
                    <a:pt x="395" y="223"/>
                    <a:pt x="395" y="237"/>
                  </a:cubicBezTo>
                  <a:cubicBezTo>
                    <a:pt x="395" y="324"/>
                    <a:pt x="324" y="395"/>
                    <a:pt x="237" y="395"/>
                  </a:cubicBezTo>
                  <a:cubicBezTo>
                    <a:pt x="150" y="395"/>
                    <a:pt x="79" y="324"/>
                    <a:pt x="79" y="237"/>
                  </a:cubicBezTo>
                  <a:cubicBezTo>
                    <a:pt x="79" y="150"/>
                    <a:pt x="150" y="79"/>
                    <a:pt x="237" y="79"/>
                  </a:cubicBezTo>
                  <a:cubicBezTo>
                    <a:pt x="251" y="79"/>
                    <a:pt x="264" y="81"/>
                    <a:pt x="276" y="84"/>
                  </a:cubicBezTo>
                  <a:cubicBezTo>
                    <a:pt x="337" y="22"/>
                    <a:pt x="337" y="22"/>
                    <a:pt x="337" y="22"/>
                  </a:cubicBezTo>
                  <a:cubicBezTo>
                    <a:pt x="307" y="8"/>
                    <a:pt x="273" y="0"/>
                    <a:pt x="237" y="0"/>
                  </a:cubicBezTo>
                  <a:cubicBezTo>
                    <a:pt x="106" y="0"/>
                    <a:pt x="0" y="106"/>
                    <a:pt x="0" y="237"/>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mn-ea"/>
                <a:cs typeface="Arial" charset="0"/>
              </a:endParaRPr>
            </a:p>
          </p:txBody>
        </p:sp>
        <p:sp>
          <p:nvSpPr>
            <p:cNvPr id="63" name="Freeform 65">
              <a:extLst>
                <a:ext uri="{FF2B5EF4-FFF2-40B4-BE49-F238E27FC236}">
                  <a16:creationId xmlns:a16="http://schemas.microsoft.com/office/drawing/2014/main" id="{4C9D7EA9-8156-09E8-D961-B21BBD26081F}"/>
                </a:ext>
              </a:extLst>
            </p:cNvPr>
            <p:cNvSpPr>
              <a:spLocks/>
            </p:cNvSpPr>
            <p:nvPr/>
          </p:nvSpPr>
          <p:spPr bwMode="auto">
            <a:xfrm>
              <a:off x="1582043" y="4707478"/>
              <a:ext cx="1002281" cy="1003083"/>
            </a:xfrm>
            <a:custGeom>
              <a:avLst/>
              <a:gdLst>
                <a:gd name="T0" fmla="*/ 408 w 530"/>
                <a:gd name="T1" fmla="*/ 122 h 530"/>
                <a:gd name="T2" fmla="*/ 408 w 530"/>
                <a:gd name="T3" fmla="*/ 0 h 530"/>
                <a:gd name="T4" fmla="*/ 298 w 530"/>
                <a:gd name="T5" fmla="*/ 110 h 530"/>
                <a:gd name="T6" fmla="*/ 273 w 530"/>
                <a:gd name="T7" fmla="*/ 209 h 530"/>
                <a:gd name="T8" fmla="*/ 106 w 530"/>
                <a:gd name="T9" fmla="*/ 377 h 530"/>
                <a:gd name="T10" fmla="*/ 79 w 530"/>
                <a:gd name="T11" fmla="*/ 372 h 530"/>
                <a:gd name="T12" fmla="*/ 0 w 530"/>
                <a:gd name="T13" fmla="*/ 451 h 530"/>
                <a:gd name="T14" fmla="*/ 79 w 530"/>
                <a:gd name="T15" fmla="*/ 530 h 530"/>
                <a:gd name="T16" fmla="*/ 158 w 530"/>
                <a:gd name="T17" fmla="*/ 451 h 530"/>
                <a:gd name="T18" fmla="*/ 153 w 530"/>
                <a:gd name="T19" fmla="*/ 424 h 530"/>
                <a:gd name="T20" fmla="*/ 321 w 530"/>
                <a:gd name="T21" fmla="*/ 257 h 530"/>
                <a:gd name="T22" fmla="*/ 420 w 530"/>
                <a:gd name="T23" fmla="*/ 232 h 530"/>
                <a:gd name="T24" fmla="*/ 530 w 530"/>
                <a:gd name="T25" fmla="*/ 122 h 530"/>
                <a:gd name="T26" fmla="*/ 408 w 530"/>
                <a:gd name="T27" fmla="*/ 122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30" h="530">
                  <a:moveTo>
                    <a:pt x="408" y="122"/>
                  </a:moveTo>
                  <a:cubicBezTo>
                    <a:pt x="408" y="0"/>
                    <a:pt x="408" y="0"/>
                    <a:pt x="408" y="0"/>
                  </a:cubicBezTo>
                  <a:cubicBezTo>
                    <a:pt x="298" y="110"/>
                    <a:pt x="298" y="110"/>
                    <a:pt x="298" y="110"/>
                  </a:cubicBezTo>
                  <a:cubicBezTo>
                    <a:pt x="273" y="209"/>
                    <a:pt x="273" y="209"/>
                    <a:pt x="273" y="209"/>
                  </a:cubicBezTo>
                  <a:cubicBezTo>
                    <a:pt x="106" y="377"/>
                    <a:pt x="106" y="377"/>
                    <a:pt x="106" y="377"/>
                  </a:cubicBezTo>
                  <a:cubicBezTo>
                    <a:pt x="98" y="374"/>
                    <a:pt x="89" y="372"/>
                    <a:pt x="79" y="372"/>
                  </a:cubicBezTo>
                  <a:cubicBezTo>
                    <a:pt x="36" y="372"/>
                    <a:pt x="0" y="407"/>
                    <a:pt x="0" y="451"/>
                  </a:cubicBezTo>
                  <a:cubicBezTo>
                    <a:pt x="0" y="494"/>
                    <a:pt x="36" y="530"/>
                    <a:pt x="79" y="530"/>
                  </a:cubicBezTo>
                  <a:cubicBezTo>
                    <a:pt x="123" y="530"/>
                    <a:pt x="158" y="494"/>
                    <a:pt x="158" y="451"/>
                  </a:cubicBezTo>
                  <a:cubicBezTo>
                    <a:pt x="158" y="441"/>
                    <a:pt x="156" y="432"/>
                    <a:pt x="153" y="424"/>
                  </a:cubicBezTo>
                  <a:cubicBezTo>
                    <a:pt x="321" y="257"/>
                    <a:pt x="321" y="257"/>
                    <a:pt x="321" y="257"/>
                  </a:cubicBezTo>
                  <a:cubicBezTo>
                    <a:pt x="420" y="232"/>
                    <a:pt x="420" y="232"/>
                    <a:pt x="420" y="232"/>
                  </a:cubicBezTo>
                  <a:cubicBezTo>
                    <a:pt x="530" y="122"/>
                    <a:pt x="530" y="122"/>
                    <a:pt x="530" y="122"/>
                  </a:cubicBezTo>
                  <a:lnTo>
                    <a:pt x="408" y="12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mn-ea"/>
                <a:cs typeface="Arial" charset="0"/>
              </a:endParaRPr>
            </a:p>
          </p:txBody>
        </p:sp>
        <p:sp>
          <p:nvSpPr>
            <p:cNvPr id="64" name="Freeform 66">
              <a:extLst>
                <a:ext uri="{FF2B5EF4-FFF2-40B4-BE49-F238E27FC236}">
                  <a16:creationId xmlns:a16="http://schemas.microsoft.com/office/drawing/2014/main" id="{8CFEC76A-11AB-D752-747E-F332FE95B53F}"/>
                </a:ext>
              </a:extLst>
            </p:cNvPr>
            <p:cNvSpPr>
              <a:spLocks/>
            </p:cNvSpPr>
            <p:nvPr/>
          </p:nvSpPr>
          <p:spPr bwMode="auto">
            <a:xfrm>
              <a:off x="2261447" y="5249079"/>
              <a:ext cx="139406" cy="33650"/>
            </a:xfrm>
            <a:custGeom>
              <a:avLst/>
              <a:gdLst>
                <a:gd name="T0" fmla="*/ 174 w 174"/>
                <a:gd name="T1" fmla="*/ 0 h 42"/>
                <a:gd name="T2" fmla="*/ 0 w 174"/>
                <a:gd name="T3" fmla="*/ 42 h 42"/>
                <a:gd name="T4" fmla="*/ 174 w 174"/>
                <a:gd name="T5" fmla="*/ 0 h 42"/>
              </a:gdLst>
              <a:ahLst/>
              <a:cxnLst>
                <a:cxn ang="0">
                  <a:pos x="T0" y="T1"/>
                </a:cxn>
                <a:cxn ang="0">
                  <a:pos x="T2" y="T3"/>
                </a:cxn>
                <a:cxn ang="0">
                  <a:pos x="T4" y="T5"/>
                </a:cxn>
              </a:cxnLst>
              <a:rect l="0" t="0" r="r" b="b"/>
              <a:pathLst>
                <a:path w="174" h="42">
                  <a:moveTo>
                    <a:pt x="174" y="0"/>
                  </a:moveTo>
                  <a:lnTo>
                    <a:pt x="0" y="42"/>
                  </a:lnTo>
                  <a:lnTo>
                    <a:pt x="174"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mn-ea"/>
                <a:cs typeface="Arial" charset="0"/>
              </a:endParaRPr>
            </a:p>
          </p:txBody>
        </p:sp>
        <p:sp>
          <p:nvSpPr>
            <p:cNvPr id="65" name="Freeform 67">
              <a:extLst>
                <a:ext uri="{FF2B5EF4-FFF2-40B4-BE49-F238E27FC236}">
                  <a16:creationId xmlns:a16="http://schemas.microsoft.com/office/drawing/2014/main" id="{D1B979CC-E1BF-60F4-4E16-B24696E4F18D}"/>
                </a:ext>
              </a:extLst>
            </p:cNvPr>
            <p:cNvSpPr>
              <a:spLocks/>
            </p:cNvSpPr>
            <p:nvPr/>
          </p:nvSpPr>
          <p:spPr bwMode="auto">
            <a:xfrm>
              <a:off x="985962" y="4813234"/>
              <a:ext cx="1492606" cy="1494209"/>
            </a:xfrm>
            <a:custGeom>
              <a:avLst/>
              <a:gdLst>
                <a:gd name="T0" fmla="*/ 748 w 789"/>
                <a:gd name="T1" fmla="*/ 230 h 789"/>
                <a:gd name="T2" fmla="*/ 748 w 789"/>
                <a:gd name="T3" fmla="*/ 230 h 789"/>
                <a:gd name="T4" fmla="*/ 674 w 789"/>
                <a:gd name="T5" fmla="*/ 248 h 789"/>
                <a:gd name="T6" fmla="*/ 710 w 789"/>
                <a:gd name="T7" fmla="*/ 395 h 789"/>
                <a:gd name="T8" fmla="*/ 394 w 789"/>
                <a:gd name="T9" fmla="*/ 711 h 789"/>
                <a:gd name="T10" fmla="*/ 78 w 789"/>
                <a:gd name="T11" fmla="*/ 395 h 789"/>
                <a:gd name="T12" fmla="*/ 394 w 789"/>
                <a:gd name="T13" fmla="*/ 79 h 789"/>
                <a:gd name="T14" fmla="*/ 541 w 789"/>
                <a:gd name="T15" fmla="*/ 115 h 789"/>
                <a:gd name="T16" fmla="*/ 559 w 789"/>
                <a:gd name="T17" fmla="*/ 41 h 789"/>
                <a:gd name="T18" fmla="*/ 559 w 789"/>
                <a:gd name="T19" fmla="*/ 41 h 789"/>
                <a:gd name="T20" fmla="*/ 560 w 789"/>
                <a:gd name="T21" fmla="*/ 37 h 789"/>
                <a:gd name="T22" fmla="*/ 394 w 789"/>
                <a:gd name="T23" fmla="*/ 0 h 789"/>
                <a:gd name="T24" fmla="*/ 0 w 789"/>
                <a:gd name="T25" fmla="*/ 395 h 789"/>
                <a:gd name="T26" fmla="*/ 394 w 789"/>
                <a:gd name="T27" fmla="*/ 789 h 789"/>
                <a:gd name="T28" fmla="*/ 789 w 789"/>
                <a:gd name="T29" fmla="*/ 395 h 789"/>
                <a:gd name="T30" fmla="*/ 752 w 789"/>
                <a:gd name="T31" fmla="*/ 229 h 789"/>
                <a:gd name="T32" fmla="*/ 748 w 789"/>
                <a:gd name="T33" fmla="*/ 230 h 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89" h="789">
                  <a:moveTo>
                    <a:pt x="748" y="230"/>
                  </a:moveTo>
                  <a:cubicBezTo>
                    <a:pt x="748" y="230"/>
                    <a:pt x="748" y="230"/>
                    <a:pt x="748" y="230"/>
                  </a:cubicBezTo>
                  <a:cubicBezTo>
                    <a:pt x="674" y="248"/>
                    <a:pt x="674" y="248"/>
                    <a:pt x="674" y="248"/>
                  </a:cubicBezTo>
                  <a:cubicBezTo>
                    <a:pt x="697" y="292"/>
                    <a:pt x="710" y="342"/>
                    <a:pt x="710" y="395"/>
                  </a:cubicBezTo>
                  <a:cubicBezTo>
                    <a:pt x="710" y="569"/>
                    <a:pt x="568" y="711"/>
                    <a:pt x="394" y="711"/>
                  </a:cubicBezTo>
                  <a:cubicBezTo>
                    <a:pt x="220" y="711"/>
                    <a:pt x="78" y="569"/>
                    <a:pt x="78" y="395"/>
                  </a:cubicBezTo>
                  <a:cubicBezTo>
                    <a:pt x="78" y="220"/>
                    <a:pt x="220" y="79"/>
                    <a:pt x="394" y="79"/>
                  </a:cubicBezTo>
                  <a:cubicBezTo>
                    <a:pt x="447" y="79"/>
                    <a:pt x="497" y="92"/>
                    <a:pt x="541" y="115"/>
                  </a:cubicBezTo>
                  <a:cubicBezTo>
                    <a:pt x="559" y="41"/>
                    <a:pt x="559" y="41"/>
                    <a:pt x="559" y="41"/>
                  </a:cubicBezTo>
                  <a:cubicBezTo>
                    <a:pt x="559" y="41"/>
                    <a:pt x="559" y="41"/>
                    <a:pt x="559" y="41"/>
                  </a:cubicBezTo>
                  <a:cubicBezTo>
                    <a:pt x="560" y="37"/>
                    <a:pt x="560" y="37"/>
                    <a:pt x="560" y="37"/>
                  </a:cubicBezTo>
                  <a:cubicBezTo>
                    <a:pt x="510" y="13"/>
                    <a:pt x="453" y="0"/>
                    <a:pt x="394" y="0"/>
                  </a:cubicBezTo>
                  <a:cubicBezTo>
                    <a:pt x="176" y="0"/>
                    <a:pt x="0" y="177"/>
                    <a:pt x="0" y="395"/>
                  </a:cubicBezTo>
                  <a:cubicBezTo>
                    <a:pt x="0" y="613"/>
                    <a:pt x="176" y="789"/>
                    <a:pt x="394" y="789"/>
                  </a:cubicBezTo>
                  <a:cubicBezTo>
                    <a:pt x="612" y="789"/>
                    <a:pt x="789" y="613"/>
                    <a:pt x="789" y="395"/>
                  </a:cubicBezTo>
                  <a:cubicBezTo>
                    <a:pt x="789" y="336"/>
                    <a:pt x="776" y="279"/>
                    <a:pt x="752" y="229"/>
                  </a:cubicBezTo>
                  <a:lnTo>
                    <a:pt x="748" y="23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mn-ea"/>
                <a:cs typeface="Arial" charset="0"/>
              </a:endParaRPr>
            </a:p>
          </p:txBody>
        </p:sp>
        <p:sp>
          <p:nvSpPr>
            <p:cNvPr id="66" name="Freeform 68">
              <a:extLst>
                <a:ext uri="{FF2B5EF4-FFF2-40B4-BE49-F238E27FC236}">
                  <a16:creationId xmlns:a16="http://schemas.microsoft.com/office/drawing/2014/main" id="{97DFFD71-F452-FC46-F17E-50500C9B8271}"/>
                </a:ext>
              </a:extLst>
            </p:cNvPr>
            <p:cNvSpPr>
              <a:spLocks/>
            </p:cNvSpPr>
            <p:nvPr/>
          </p:nvSpPr>
          <p:spPr bwMode="auto">
            <a:xfrm>
              <a:off x="2009074" y="4890949"/>
              <a:ext cx="34451" cy="140207"/>
            </a:xfrm>
            <a:custGeom>
              <a:avLst/>
              <a:gdLst>
                <a:gd name="T0" fmla="*/ 0 w 43"/>
                <a:gd name="T1" fmla="*/ 175 h 175"/>
                <a:gd name="T2" fmla="*/ 43 w 43"/>
                <a:gd name="T3" fmla="*/ 0 h 175"/>
                <a:gd name="T4" fmla="*/ 43 w 43"/>
                <a:gd name="T5" fmla="*/ 0 h 175"/>
                <a:gd name="T6" fmla="*/ 0 w 43"/>
                <a:gd name="T7" fmla="*/ 175 h 175"/>
              </a:gdLst>
              <a:ahLst/>
              <a:cxnLst>
                <a:cxn ang="0">
                  <a:pos x="T0" y="T1"/>
                </a:cxn>
                <a:cxn ang="0">
                  <a:pos x="T2" y="T3"/>
                </a:cxn>
                <a:cxn ang="0">
                  <a:pos x="T4" y="T5"/>
                </a:cxn>
                <a:cxn ang="0">
                  <a:pos x="T6" y="T7"/>
                </a:cxn>
              </a:cxnLst>
              <a:rect l="0" t="0" r="r" b="b"/>
              <a:pathLst>
                <a:path w="43" h="175">
                  <a:moveTo>
                    <a:pt x="0" y="175"/>
                  </a:moveTo>
                  <a:lnTo>
                    <a:pt x="43" y="0"/>
                  </a:lnTo>
                  <a:lnTo>
                    <a:pt x="43" y="0"/>
                  </a:lnTo>
                  <a:lnTo>
                    <a:pt x="0" y="17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mn-ea"/>
                <a:cs typeface="Arial" charset="0"/>
              </a:endParaRPr>
            </a:p>
          </p:txBody>
        </p:sp>
      </p:grpSp>
      <p:sp>
        <p:nvSpPr>
          <p:cNvPr id="67" name="TextBox 66">
            <a:extLst>
              <a:ext uri="{FF2B5EF4-FFF2-40B4-BE49-F238E27FC236}">
                <a16:creationId xmlns:a16="http://schemas.microsoft.com/office/drawing/2014/main" id="{BE5C1DCB-183F-828B-A0DD-D37A8FE004F9}"/>
              </a:ext>
            </a:extLst>
          </p:cNvPr>
          <p:cNvSpPr txBox="1"/>
          <p:nvPr/>
        </p:nvSpPr>
        <p:spPr>
          <a:xfrm>
            <a:off x="6794078" y="4923591"/>
            <a:ext cx="1404257" cy="1477328"/>
          </a:xfrm>
          <a:prstGeom prst="rect">
            <a:avLst/>
          </a:prstGeom>
          <a:noFill/>
        </p:spPr>
        <p:txBody>
          <a:bodyPr wrap="square">
            <a:spAutoFit/>
          </a:bodyPr>
          <a:lstStyle>
            <a:defPPr>
              <a:defRPr lang="en-US"/>
            </a:defPPr>
            <a:lvl1pPr marR="0" lvl="0" indent="0" algn="ctr" fontAlgn="auto">
              <a:lnSpc>
                <a:spcPct val="100000"/>
              </a:lnSpc>
              <a:spcBef>
                <a:spcPts val="600"/>
              </a:spcBef>
              <a:spcAft>
                <a:spcPts val="0"/>
              </a:spcAft>
              <a:buClrTx/>
              <a:buSzTx/>
              <a:buFontTx/>
              <a:buNone/>
              <a:tabLst/>
              <a:defRPr kumimoji="0" sz="1000" b="0" i="0" u="none" strike="noStrike" cap="none" spc="0" normalizeH="0" baseline="0">
                <a:ln>
                  <a:noFill/>
                </a:ln>
                <a:solidFill>
                  <a:srgbClr val="002060"/>
                </a:solidFill>
                <a:effectLst/>
                <a:uLnTx/>
                <a:uFillTx/>
                <a:latin typeface="Poppins" pitchFamily="2" charset="77"/>
                <a:cs typeface="Poppins" pitchFamily="2" charset="77"/>
              </a:defRPr>
            </a:lvl1p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000" b="1" i="0" u="none" strike="noStrike" kern="1200" cap="none" spc="0" normalizeH="0" baseline="0" noProof="0">
                <a:ln>
                  <a:noFill/>
                </a:ln>
                <a:solidFill>
                  <a:srgbClr val="002060"/>
                </a:solidFill>
                <a:effectLst/>
                <a:uLnTx/>
                <a:uFillTx/>
                <a:latin typeface="Poppins" pitchFamily="2" charset="77"/>
                <a:ea typeface="+mn-ea"/>
                <a:cs typeface="Poppins" pitchFamily="2" charset="77"/>
              </a:rPr>
              <a:t>Increased Efficiency</a:t>
            </a:r>
            <a:r>
              <a:rPr kumimoji="0" lang="en-US" sz="1000" b="0" i="0" u="none" strike="noStrike" kern="1200" cap="none" spc="0" normalizeH="0" baseline="0" noProof="0">
                <a:ln>
                  <a:noFill/>
                </a:ln>
                <a:solidFill>
                  <a:srgbClr val="002060"/>
                </a:solidFill>
                <a:effectLst/>
                <a:uLnTx/>
                <a:uFillTx/>
                <a:latin typeface="Poppins" pitchFamily="2" charset="77"/>
                <a:ea typeface="+mn-ea"/>
                <a:cs typeface="Poppins" pitchFamily="2" charset="77"/>
              </a:rPr>
              <a:t>: The model streamlined the lead qualification, reducing the time partners spent on low-potential prospects.</a:t>
            </a:r>
          </a:p>
        </p:txBody>
      </p:sp>
      <p:sp>
        <p:nvSpPr>
          <p:cNvPr id="68" name="TextBox 67">
            <a:extLst>
              <a:ext uri="{FF2B5EF4-FFF2-40B4-BE49-F238E27FC236}">
                <a16:creationId xmlns:a16="http://schemas.microsoft.com/office/drawing/2014/main" id="{B046E12D-E0BD-02C9-68A0-A95B24D54C66}"/>
              </a:ext>
            </a:extLst>
          </p:cNvPr>
          <p:cNvSpPr txBox="1"/>
          <p:nvPr/>
        </p:nvSpPr>
        <p:spPr>
          <a:xfrm>
            <a:off x="9453871" y="4938056"/>
            <a:ext cx="1125623" cy="1400383"/>
          </a:xfrm>
          <a:prstGeom prst="rect">
            <a:avLst/>
          </a:prstGeom>
          <a:noFill/>
        </p:spPr>
        <p:txBody>
          <a:bodyPr wrap="square">
            <a:spAutoFit/>
          </a:bodyPr>
          <a:lstStyle>
            <a:defPPr>
              <a:defRPr lang="en-US"/>
            </a:defPPr>
            <a:lvl1pPr marR="0" lvl="0" indent="0" algn="ctr" fontAlgn="auto">
              <a:lnSpc>
                <a:spcPct val="100000"/>
              </a:lnSpc>
              <a:spcBef>
                <a:spcPts val="600"/>
              </a:spcBef>
              <a:spcAft>
                <a:spcPts val="0"/>
              </a:spcAft>
              <a:buClrTx/>
              <a:buSzTx/>
              <a:buFontTx/>
              <a:buNone/>
              <a:tabLst/>
              <a:defRPr kumimoji="0" sz="1000" b="1" i="0" u="none" strike="noStrike" cap="none" spc="0" normalizeH="0" baseline="0">
                <a:ln>
                  <a:noFill/>
                </a:ln>
                <a:solidFill>
                  <a:srgbClr val="002060"/>
                </a:solidFill>
                <a:effectLst/>
                <a:uLnTx/>
                <a:uFillTx/>
                <a:latin typeface="Poppins" pitchFamily="2" charset="77"/>
                <a:cs typeface="Poppins" pitchFamily="2" charset="77"/>
              </a:defRPr>
            </a:lvl1p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000" b="1" i="0" u="none" strike="noStrike" kern="1200" cap="none" spc="0" normalizeH="0" baseline="0" noProof="0">
                <a:ln>
                  <a:noFill/>
                </a:ln>
                <a:solidFill>
                  <a:srgbClr val="002060"/>
                </a:solidFill>
                <a:effectLst/>
                <a:uLnTx/>
                <a:uFillTx/>
                <a:latin typeface="Poppins" pitchFamily="2" charset="77"/>
                <a:ea typeface="+mn-ea"/>
                <a:cs typeface="Poppins" pitchFamily="2" charset="77"/>
              </a:rPr>
              <a:t>Realtime : </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2060"/>
                </a:solidFill>
                <a:effectLst/>
                <a:uLnTx/>
                <a:uFillTx/>
                <a:latin typeface="Poppins" pitchFamily="2" charset="77"/>
                <a:ea typeface="+mn-ea"/>
                <a:cs typeface="Poppins" pitchFamily="2" charset="77"/>
              </a:rPr>
              <a:t>The algorithms were integrated to client's ecosystem for live updates</a:t>
            </a:r>
          </a:p>
        </p:txBody>
      </p:sp>
      <p:pic>
        <p:nvPicPr>
          <p:cNvPr id="69" name="Graphic 68" descr="Laptop">
            <a:extLst>
              <a:ext uri="{FF2B5EF4-FFF2-40B4-BE49-F238E27FC236}">
                <a16:creationId xmlns:a16="http://schemas.microsoft.com/office/drawing/2014/main" id="{94C66613-C175-AC0C-9DAC-B9A02D2E8EE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717741" y="4366808"/>
            <a:ext cx="548640" cy="548640"/>
          </a:xfrm>
          <a:prstGeom prst="rect">
            <a:avLst/>
          </a:prstGeom>
        </p:spPr>
      </p:pic>
      <p:grpSp>
        <p:nvGrpSpPr>
          <p:cNvPr id="70" name="Group 134153">
            <a:extLst>
              <a:ext uri="{FF2B5EF4-FFF2-40B4-BE49-F238E27FC236}">
                <a16:creationId xmlns:a16="http://schemas.microsoft.com/office/drawing/2014/main" id="{FA2C3503-CC14-090E-43DB-1E272C9E11A1}"/>
              </a:ext>
            </a:extLst>
          </p:cNvPr>
          <p:cNvGrpSpPr>
            <a:grpSpLocks noChangeAspect="1"/>
          </p:cNvGrpSpPr>
          <p:nvPr/>
        </p:nvGrpSpPr>
        <p:grpSpPr>
          <a:xfrm>
            <a:off x="8626288" y="4413002"/>
            <a:ext cx="457200" cy="395808"/>
            <a:chOff x="998538" y="2127250"/>
            <a:chExt cx="2381249" cy="2255838"/>
          </a:xfrm>
          <a:solidFill>
            <a:srgbClr val="767171"/>
          </a:solidFill>
        </p:grpSpPr>
        <p:sp>
          <p:nvSpPr>
            <p:cNvPr id="71" name="Freeform 23">
              <a:extLst>
                <a:ext uri="{FF2B5EF4-FFF2-40B4-BE49-F238E27FC236}">
                  <a16:creationId xmlns:a16="http://schemas.microsoft.com/office/drawing/2014/main" id="{A41341B1-EE17-EEDA-9C78-AFF77AAB552B}"/>
                </a:ext>
              </a:extLst>
            </p:cNvPr>
            <p:cNvSpPr>
              <a:spLocks/>
            </p:cNvSpPr>
            <p:nvPr/>
          </p:nvSpPr>
          <p:spPr bwMode="auto">
            <a:xfrm>
              <a:off x="998538" y="3387725"/>
              <a:ext cx="2381249" cy="995363"/>
            </a:xfrm>
            <a:custGeom>
              <a:avLst/>
              <a:gdLst>
                <a:gd name="T0" fmla="*/ 337 w 359"/>
                <a:gd name="T1" fmla="*/ 61 h 150"/>
                <a:gd name="T2" fmla="*/ 208 w 359"/>
                <a:gd name="T3" fmla="*/ 139 h 150"/>
                <a:gd name="T4" fmla="*/ 160 w 359"/>
                <a:gd name="T5" fmla="*/ 141 h 150"/>
                <a:gd name="T6" fmla="*/ 101 w 359"/>
                <a:gd name="T7" fmla="*/ 120 h 150"/>
                <a:gd name="T8" fmla="*/ 62 w 359"/>
                <a:gd name="T9" fmla="*/ 120 h 150"/>
                <a:gd name="T10" fmla="*/ 42 w 359"/>
                <a:gd name="T11" fmla="*/ 132 h 150"/>
                <a:gd name="T12" fmla="*/ 0 w 359"/>
                <a:gd name="T13" fmla="*/ 38 h 150"/>
                <a:gd name="T14" fmla="*/ 56 w 359"/>
                <a:gd name="T15" fmla="*/ 13 h 150"/>
                <a:gd name="T16" fmla="*/ 119 w 359"/>
                <a:gd name="T17" fmla="*/ 18 h 150"/>
                <a:gd name="T18" fmla="*/ 154 w 359"/>
                <a:gd name="T19" fmla="*/ 42 h 150"/>
                <a:gd name="T20" fmla="*/ 204 w 359"/>
                <a:gd name="T21" fmla="*/ 57 h 150"/>
                <a:gd name="T22" fmla="*/ 237 w 359"/>
                <a:gd name="T23" fmla="*/ 72 h 150"/>
                <a:gd name="T24" fmla="*/ 211 w 359"/>
                <a:gd name="T25" fmla="*/ 87 h 150"/>
                <a:gd name="T26" fmla="*/ 163 w 359"/>
                <a:gd name="T27" fmla="*/ 87 h 150"/>
                <a:gd name="T28" fmla="*/ 111 w 359"/>
                <a:gd name="T29" fmla="*/ 75 h 150"/>
                <a:gd name="T30" fmla="*/ 163 w 359"/>
                <a:gd name="T31" fmla="*/ 102 h 150"/>
                <a:gd name="T32" fmla="*/ 212 w 359"/>
                <a:gd name="T33" fmla="*/ 102 h 150"/>
                <a:gd name="T34" fmla="*/ 252 w 359"/>
                <a:gd name="T35" fmla="*/ 72 h 150"/>
                <a:gd name="T36" fmla="*/ 191 w 359"/>
                <a:gd name="T37" fmla="*/ 42 h 150"/>
                <a:gd name="T38" fmla="*/ 183 w 359"/>
                <a:gd name="T39" fmla="*/ 42 h 150"/>
                <a:gd name="T40" fmla="*/ 187 w 359"/>
                <a:gd name="T41" fmla="*/ 39 h 150"/>
                <a:gd name="T42" fmla="*/ 211 w 359"/>
                <a:gd name="T43" fmla="*/ 25 h 150"/>
                <a:gd name="T44" fmla="*/ 261 w 359"/>
                <a:gd name="T45" fmla="*/ 24 h 150"/>
                <a:gd name="T46" fmla="*/ 289 w 359"/>
                <a:gd name="T47" fmla="*/ 13 h 150"/>
                <a:gd name="T48" fmla="*/ 306 w 359"/>
                <a:gd name="T49" fmla="*/ 31 h 150"/>
                <a:gd name="T50" fmla="*/ 351 w 359"/>
                <a:gd name="T51" fmla="*/ 29 h 150"/>
                <a:gd name="T52" fmla="*/ 337 w 359"/>
                <a:gd name="T53" fmla="*/ 61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59" h="150">
                  <a:moveTo>
                    <a:pt x="337" y="61"/>
                  </a:moveTo>
                  <a:cubicBezTo>
                    <a:pt x="326" y="69"/>
                    <a:pt x="223" y="130"/>
                    <a:pt x="208" y="139"/>
                  </a:cubicBezTo>
                  <a:cubicBezTo>
                    <a:pt x="191" y="149"/>
                    <a:pt x="186" y="150"/>
                    <a:pt x="160" y="141"/>
                  </a:cubicBezTo>
                  <a:cubicBezTo>
                    <a:pt x="143" y="136"/>
                    <a:pt x="119" y="128"/>
                    <a:pt x="101" y="120"/>
                  </a:cubicBezTo>
                  <a:cubicBezTo>
                    <a:pt x="85" y="112"/>
                    <a:pt x="74" y="112"/>
                    <a:pt x="62" y="120"/>
                  </a:cubicBezTo>
                  <a:cubicBezTo>
                    <a:pt x="42" y="132"/>
                    <a:pt x="42" y="132"/>
                    <a:pt x="42" y="132"/>
                  </a:cubicBezTo>
                  <a:cubicBezTo>
                    <a:pt x="0" y="38"/>
                    <a:pt x="0" y="38"/>
                    <a:pt x="0" y="38"/>
                  </a:cubicBezTo>
                  <a:cubicBezTo>
                    <a:pt x="0" y="38"/>
                    <a:pt x="35" y="21"/>
                    <a:pt x="56" y="13"/>
                  </a:cubicBezTo>
                  <a:cubicBezTo>
                    <a:pt x="90" y="0"/>
                    <a:pt x="100" y="6"/>
                    <a:pt x="119" y="18"/>
                  </a:cubicBezTo>
                  <a:cubicBezTo>
                    <a:pt x="127" y="23"/>
                    <a:pt x="154" y="42"/>
                    <a:pt x="154" y="42"/>
                  </a:cubicBezTo>
                  <a:cubicBezTo>
                    <a:pt x="154" y="42"/>
                    <a:pt x="170" y="57"/>
                    <a:pt x="204" y="57"/>
                  </a:cubicBezTo>
                  <a:cubicBezTo>
                    <a:pt x="224" y="57"/>
                    <a:pt x="237" y="60"/>
                    <a:pt x="237" y="72"/>
                  </a:cubicBezTo>
                  <a:cubicBezTo>
                    <a:pt x="237" y="86"/>
                    <a:pt x="212" y="87"/>
                    <a:pt x="211" y="87"/>
                  </a:cubicBezTo>
                  <a:cubicBezTo>
                    <a:pt x="163" y="87"/>
                    <a:pt x="163" y="87"/>
                    <a:pt x="163" y="87"/>
                  </a:cubicBezTo>
                  <a:cubicBezTo>
                    <a:pt x="141" y="87"/>
                    <a:pt x="111" y="75"/>
                    <a:pt x="111" y="75"/>
                  </a:cubicBezTo>
                  <a:cubicBezTo>
                    <a:pt x="111" y="75"/>
                    <a:pt x="136" y="102"/>
                    <a:pt x="163" y="102"/>
                  </a:cubicBezTo>
                  <a:cubicBezTo>
                    <a:pt x="212" y="102"/>
                    <a:pt x="212" y="102"/>
                    <a:pt x="212" y="102"/>
                  </a:cubicBezTo>
                  <a:cubicBezTo>
                    <a:pt x="226" y="102"/>
                    <a:pt x="252" y="95"/>
                    <a:pt x="252" y="72"/>
                  </a:cubicBezTo>
                  <a:cubicBezTo>
                    <a:pt x="252" y="42"/>
                    <a:pt x="225" y="42"/>
                    <a:pt x="191" y="42"/>
                  </a:cubicBezTo>
                  <a:cubicBezTo>
                    <a:pt x="188" y="42"/>
                    <a:pt x="186" y="42"/>
                    <a:pt x="183" y="42"/>
                  </a:cubicBezTo>
                  <a:cubicBezTo>
                    <a:pt x="185" y="41"/>
                    <a:pt x="186" y="40"/>
                    <a:pt x="187" y="39"/>
                  </a:cubicBezTo>
                  <a:cubicBezTo>
                    <a:pt x="194" y="36"/>
                    <a:pt x="202" y="31"/>
                    <a:pt x="211" y="25"/>
                  </a:cubicBezTo>
                  <a:cubicBezTo>
                    <a:pt x="236" y="10"/>
                    <a:pt x="248" y="8"/>
                    <a:pt x="261" y="24"/>
                  </a:cubicBezTo>
                  <a:cubicBezTo>
                    <a:pt x="269" y="15"/>
                    <a:pt x="280" y="13"/>
                    <a:pt x="289" y="13"/>
                  </a:cubicBezTo>
                  <a:cubicBezTo>
                    <a:pt x="299" y="13"/>
                    <a:pt x="308" y="20"/>
                    <a:pt x="306" y="31"/>
                  </a:cubicBezTo>
                  <a:cubicBezTo>
                    <a:pt x="332" y="15"/>
                    <a:pt x="345" y="21"/>
                    <a:pt x="351" y="29"/>
                  </a:cubicBezTo>
                  <a:cubicBezTo>
                    <a:pt x="359" y="39"/>
                    <a:pt x="354" y="50"/>
                    <a:pt x="337" y="6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mn-ea"/>
                <a:cs typeface="Arial" charset="0"/>
              </a:endParaRPr>
            </a:p>
          </p:txBody>
        </p:sp>
        <p:sp>
          <p:nvSpPr>
            <p:cNvPr id="72" name="Freeform 24">
              <a:extLst>
                <a:ext uri="{FF2B5EF4-FFF2-40B4-BE49-F238E27FC236}">
                  <a16:creationId xmlns:a16="http://schemas.microsoft.com/office/drawing/2014/main" id="{3033D23D-8D14-51DC-75B9-023641533C93}"/>
                </a:ext>
              </a:extLst>
            </p:cNvPr>
            <p:cNvSpPr>
              <a:spLocks noEditPoints="1"/>
            </p:cNvSpPr>
            <p:nvPr/>
          </p:nvSpPr>
          <p:spPr bwMode="auto">
            <a:xfrm>
              <a:off x="1270000" y="2127250"/>
              <a:ext cx="889000" cy="869950"/>
            </a:xfrm>
            <a:custGeom>
              <a:avLst/>
              <a:gdLst>
                <a:gd name="T0" fmla="*/ 95 w 134"/>
                <a:gd name="T1" fmla="*/ 110 h 131"/>
                <a:gd name="T2" fmla="*/ 107 w 134"/>
                <a:gd name="T3" fmla="*/ 101 h 131"/>
                <a:gd name="T4" fmla="*/ 119 w 134"/>
                <a:gd name="T5" fmla="*/ 108 h 131"/>
                <a:gd name="T6" fmla="*/ 130 w 134"/>
                <a:gd name="T7" fmla="*/ 89 h 131"/>
                <a:gd name="T8" fmla="*/ 118 w 134"/>
                <a:gd name="T9" fmla="*/ 82 h 131"/>
                <a:gd name="T10" fmla="*/ 120 w 134"/>
                <a:gd name="T11" fmla="*/ 67 h 131"/>
                <a:gd name="T12" fmla="*/ 134 w 134"/>
                <a:gd name="T13" fmla="*/ 65 h 131"/>
                <a:gd name="T14" fmla="*/ 130 w 134"/>
                <a:gd name="T15" fmla="*/ 43 h 131"/>
                <a:gd name="T16" fmla="*/ 116 w 134"/>
                <a:gd name="T17" fmla="*/ 46 h 131"/>
                <a:gd name="T18" fmla="*/ 109 w 134"/>
                <a:gd name="T19" fmla="*/ 33 h 131"/>
                <a:gd name="T20" fmla="*/ 118 w 134"/>
                <a:gd name="T21" fmla="*/ 22 h 131"/>
                <a:gd name="T22" fmla="*/ 101 w 134"/>
                <a:gd name="T23" fmla="*/ 8 h 131"/>
                <a:gd name="T24" fmla="*/ 92 w 134"/>
                <a:gd name="T25" fmla="*/ 19 h 131"/>
                <a:gd name="T26" fmla="*/ 78 w 134"/>
                <a:gd name="T27" fmla="*/ 13 h 131"/>
                <a:gd name="T28" fmla="*/ 78 w 134"/>
                <a:gd name="T29" fmla="*/ 0 h 131"/>
                <a:gd name="T30" fmla="*/ 56 w 134"/>
                <a:gd name="T31" fmla="*/ 0 h 131"/>
                <a:gd name="T32" fmla="*/ 56 w 134"/>
                <a:gd name="T33" fmla="*/ 13 h 131"/>
                <a:gd name="T34" fmla="*/ 42 w 134"/>
                <a:gd name="T35" fmla="*/ 19 h 131"/>
                <a:gd name="T36" fmla="*/ 33 w 134"/>
                <a:gd name="T37" fmla="*/ 8 h 131"/>
                <a:gd name="T38" fmla="*/ 16 w 134"/>
                <a:gd name="T39" fmla="*/ 22 h 131"/>
                <a:gd name="T40" fmla="*/ 25 w 134"/>
                <a:gd name="T41" fmla="*/ 33 h 131"/>
                <a:gd name="T42" fmla="*/ 18 w 134"/>
                <a:gd name="T43" fmla="*/ 46 h 131"/>
                <a:gd name="T44" fmla="*/ 4 w 134"/>
                <a:gd name="T45" fmla="*/ 43 h 131"/>
                <a:gd name="T46" fmla="*/ 0 w 134"/>
                <a:gd name="T47" fmla="*/ 65 h 131"/>
                <a:gd name="T48" fmla="*/ 14 w 134"/>
                <a:gd name="T49" fmla="*/ 67 h 131"/>
                <a:gd name="T50" fmla="*/ 17 w 134"/>
                <a:gd name="T51" fmla="*/ 82 h 131"/>
                <a:gd name="T52" fmla="*/ 5 w 134"/>
                <a:gd name="T53" fmla="*/ 89 h 131"/>
                <a:gd name="T54" fmla="*/ 16 w 134"/>
                <a:gd name="T55" fmla="*/ 108 h 131"/>
                <a:gd name="T56" fmla="*/ 28 w 134"/>
                <a:gd name="T57" fmla="*/ 101 h 131"/>
                <a:gd name="T58" fmla="*/ 39 w 134"/>
                <a:gd name="T59" fmla="*/ 110 h 131"/>
                <a:gd name="T60" fmla="*/ 34 w 134"/>
                <a:gd name="T61" fmla="*/ 123 h 131"/>
                <a:gd name="T62" fmla="*/ 55 w 134"/>
                <a:gd name="T63" fmla="*/ 131 h 131"/>
                <a:gd name="T64" fmla="*/ 60 w 134"/>
                <a:gd name="T65" fmla="*/ 118 h 131"/>
                <a:gd name="T66" fmla="*/ 67 w 134"/>
                <a:gd name="T67" fmla="*/ 118 h 131"/>
                <a:gd name="T68" fmla="*/ 75 w 134"/>
                <a:gd name="T69" fmla="*/ 118 h 131"/>
                <a:gd name="T70" fmla="*/ 79 w 134"/>
                <a:gd name="T71" fmla="*/ 131 h 131"/>
                <a:gd name="T72" fmla="*/ 100 w 134"/>
                <a:gd name="T73" fmla="*/ 123 h 131"/>
                <a:gd name="T74" fmla="*/ 95 w 134"/>
                <a:gd name="T75" fmla="*/ 110 h 131"/>
                <a:gd name="T76" fmla="*/ 67 w 134"/>
                <a:gd name="T77" fmla="*/ 93 h 131"/>
                <a:gd name="T78" fmla="*/ 39 w 134"/>
                <a:gd name="T79" fmla="*/ 65 h 131"/>
                <a:gd name="T80" fmla="*/ 67 w 134"/>
                <a:gd name="T81" fmla="*/ 37 h 131"/>
                <a:gd name="T82" fmla="*/ 95 w 134"/>
                <a:gd name="T83" fmla="*/ 65 h 131"/>
                <a:gd name="T84" fmla="*/ 67 w 134"/>
                <a:gd name="T85" fmla="*/ 93 h 131"/>
                <a:gd name="T86" fmla="*/ 67 w 134"/>
                <a:gd name="T87" fmla="*/ 93 h 131"/>
                <a:gd name="T88" fmla="*/ 67 w 134"/>
                <a:gd name="T89" fmla="*/ 9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34" h="131">
                  <a:moveTo>
                    <a:pt x="95" y="110"/>
                  </a:moveTo>
                  <a:cubicBezTo>
                    <a:pt x="99" y="108"/>
                    <a:pt x="103" y="104"/>
                    <a:pt x="107" y="101"/>
                  </a:cubicBezTo>
                  <a:cubicBezTo>
                    <a:pt x="119" y="108"/>
                    <a:pt x="119" y="108"/>
                    <a:pt x="119" y="108"/>
                  </a:cubicBezTo>
                  <a:cubicBezTo>
                    <a:pt x="130" y="89"/>
                    <a:pt x="130" y="89"/>
                    <a:pt x="130" y="89"/>
                  </a:cubicBezTo>
                  <a:cubicBezTo>
                    <a:pt x="118" y="82"/>
                    <a:pt x="118" y="82"/>
                    <a:pt x="118" y="82"/>
                  </a:cubicBezTo>
                  <a:cubicBezTo>
                    <a:pt x="119" y="77"/>
                    <a:pt x="120" y="72"/>
                    <a:pt x="120" y="67"/>
                  </a:cubicBezTo>
                  <a:cubicBezTo>
                    <a:pt x="134" y="65"/>
                    <a:pt x="134" y="65"/>
                    <a:pt x="134" y="65"/>
                  </a:cubicBezTo>
                  <a:cubicBezTo>
                    <a:pt x="130" y="43"/>
                    <a:pt x="130" y="43"/>
                    <a:pt x="130" y="43"/>
                  </a:cubicBezTo>
                  <a:cubicBezTo>
                    <a:pt x="116" y="46"/>
                    <a:pt x="116" y="46"/>
                    <a:pt x="116" y="46"/>
                  </a:cubicBezTo>
                  <a:cubicBezTo>
                    <a:pt x="114" y="41"/>
                    <a:pt x="112" y="37"/>
                    <a:pt x="109" y="33"/>
                  </a:cubicBezTo>
                  <a:cubicBezTo>
                    <a:pt x="118" y="22"/>
                    <a:pt x="118" y="22"/>
                    <a:pt x="118" y="22"/>
                  </a:cubicBezTo>
                  <a:cubicBezTo>
                    <a:pt x="101" y="8"/>
                    <a:pt x="101" y="8"/>
                    <a:pt x="101" y="8"/>
                  </a:cubicBezTo>
                  <a:cubicBezTo>
                    <a:pt x="92" y="19"/>
                    <a:pt x="92" y="19"/>
                    <a:pt x="92" y="19"/>
                  </a:cubicBezTo>
                  <a:cubicBezTo>
                    <a:pt x="88" y="16"/>
                    <a:pt x="83" y="15"/>
                    <a:pt x="78" y="13"/>
                  </a:cubicBezTo>
                  <a:cubicBezTo>
                    <a:pt x="78" y="0"/>
                    <a:pt x="78" y="0"/>
                    <a:pt x="78" y="0"/>
                  </a:cubicBezTo>
                  <a:cubicBezTo>
                    <a:pt x="56" y="0"/>
                    <a:pt x="56" y="0"/>
                    <a:pt x="56" y="0"/>
                  </a:cubicBezTo>
                  <a:cubicBezTo>
                    <a:pt x="56" y="13"/>
                    <a:pt x="56" y="13"/>
                    <a:pt x="56" y="13"/>
                  </a:cubicBezTo>
                  <a:cubicBezTo>
                    <a:pt x="51" y="15"/>
                    <a:pt x="46" y="16"/>
                    <a:pt x="42" y="19"/>
                  </a:cubicBezTo>
                  <a:cubicBezTo>
                    <a:pt x="33" y="8"/>
                    <a:pt x="33" y="8"/>
                    <a:pt x="33" y="8"/>
                  </a:cubicBezTo>
                  <a:cubicBezTo>
                    <a:pt x="16" y="22"/>
                    <a:pt x="16" y="22"/>
                    <a:pt x="16" y="22"/>
                  </a:cubicBezTo>
                  <a:cubicBezTo>
                    <a:pt x="25" y="33"/>
                    <a:pt x="25" y="33"/>
                    <a:pt x="25" y="33"/>
                  </a:cubicBezTo>
                  <a:cubicBezTo>
                    <a:pt x="22" y="37"/>
                    <a:pt x="20" y="41"/>
                    <a:pt x="18" y="46"/>
                  </a:cubicBezTo>
                  <a:cubicBezTo>
                    <a:pt x="4" y="43"/>
                    <a:pt x="4" y="43"/>
                    <a:pt x="4" y="43"/>
                  </a:cubicBezTo>
                  <a:cubicBezTo>
                    <a:pt x="0" y="65"/>
                    <a:pt x="0" y="65"/>
                    <a:pt x="0" y="65"/>
                  </a:cubicBezTo>
                  <a:cubicBezTo>
                    <a:pt x="14" y="67"/>
                    <a:pt x="14" y="67"/>
                    <a:pt x="14" y="67"/>
                  </a:cubicBezTo>
                  <a:cubicBezTo>
                    <a:pt x="14" y="72"/>
                    <a:pt x="15" y="77"/>
                    <a:pt x="17" y="82"/>
                  </a:cubicBezTo>
                  <a:cubicBezTo>
                    <a:pt x="5" y="89"/>
                    <a:pt x="5" y="89"/>
                    <a:pt x="5" y="89"/>
                  </a:cubicBezTo>
                  <a:cubicBezTo>
                    <a:pt x="16" y="108"/>
                    <a:pt x="16" y="108"/>
                    <a:pt x="16" y="108"/>
                  </a:cubicBezTo>
                  <a:cubicBezTo>
                    <a:pt x="28" y="101"/>
                    <a:pt x="28" y="101"/>
                    <a:pt x="28" y="101"/>
                  </a:cubicBezTo>
                  <a:cubicBezTo>
                    <a:pt x="31" y="104"/>
                    <a:pt x="35" y="108"/>
                    <a:pt x="39" y="110"/>
                  </a:cubicBezTo>
                  <a:cubicBezTo>
                    <a:pt x="34" y="123"/>
                    <a:pt x="34" y="123"/>
                    <a:pt x="34" y="123"/>
                  </a:cubicBezTo>
                  <a:cubicBezTo>
                    <a:pt x="55" y="131"/>
                    <a:pt x="55" y="131"/>
                    <a:pt x="55" y="131"/>
                  </a:cubicBezTo>
                  <a:cubicBezTo>
                    <a:pt x="60" y="118"/>
                    <a:pt x="60" y="118"/>
                    <a:pt x="60" y="118"/>
                  </a:cubicBezTo>
                  <a:cubicBezTo>
                    <a:pt x="62" y="118"/>
                    <a:pt x="65" y="118"/>
                    <a:pt x="67" y="118"/>
                  </a:cubicBezTo>
                  <a:cubicBezTo>
                    <a:pt x="70" y="118"/>
                    <a:pt x="72" y="118"/>
                    <a:pt x="75" y="118"/>
                  </a:cubicBezTo>
                  <a:cubicBezTo>
                    <a:pt x="79" y="131"/>
                    <a:pt x="79" y="131"/>
                    <a:pt x="79" y="131"/>
                  </a:cubicBezTo>
                  <a:cubicBezTo>
                    <a:pt x="100" y="123"/>
                    <a:pt x="100" y="123"/>
                    <a:pt x="100" y="123"/>
                  </a:cubicBezTo>
                  <a:lnTo>
                    <a:pt x="95" y="110"/>
                  </a:lnTo>
                  <a:close/>
                  <a:moveTo>
                    <a:pt x="67" y="93"/>
                  </a:moveTo>
                  <a:cubicBezTo>
                    <a:pt x="52" y="93"/>
                    <a:pt x="39" y="81"/>
                    <a:pt x="39" y="65"/>
                  </a:cubicBezTo>
                  <a:cubicBezTo>
                    <a:pt x="39" y="50"/>
                    <a:pt x="52" y="37"/>
                    <a:pt x="67" y="37"/>
                  </a:cubicBezTo>
                  <a:cubicBezTo>
                    <a:pt x="83" y="37"/>
                    <a:pt x="95" y="50"/>
                    <a:pt x="95" y="65"/>
                  </a:cubicBezTo>
                  <a:cubicBezTo>
                    <a:pt x="95" y="81"/>
                    <a:pt x="83" y="93"/>
                    <a:pt x="67" y="93"/>
                  </a:cubicBezTo>
                  <a:close/>
                  <a:moveTo>
                    <a:pt x="67" y="93"/>
                  </a:moveTo>
                  <a:cubicBezTo>
                    <a:pt x="67" y="93"/>
                    <a:pt x="67" y="93"/>
                    <a:pt x="67" y="93"/>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mn-ea"/>
                <a:cs typeface="Arial" charset="0"/>
              </a:endParaRPr>
            </a:p>
          </p:txBody>
        </p:sp>
        <p:sp>
          <p:nvSpPr>
            <p:cNvPr id="73" name="Freeform 25">
              <a:extLst>
                <a:ext uri="{FF2B5EF4-FFF2-40B4-BE49-F238E27FC236}">
                  <a16:creationId xmlns:a16="http://schemas.microsoft.com/office/drawing/2014/main" id="{E43AEA14-0DEE-FA02-939F-6983C2556E4B}"/>
                </a:ext>
              </a:extLst>
            </p:cNvPr>
            <p:cNvSpPr>
              <a:spLocks noEditPoints="1"/>
            </p:cNvSpPr>
            <p:nvPr/>
          </p:nvSpPr>
          <p:spPr bwMode="auto">
            <a:xfrm>
              <a:off x="1933575" y="2797175"/>
              <a:ext cx="623887" cy="630238"/>
            </a:xfrm>
            <a:custGeom>
              <a:avLst/>
              <a:gdLst>
                <a:gd name="T0" fmla="*/ 89 w 94"/>
                <a:gd name="T1" fmla="*/ 26 h 95"/>
                <a:gd name="T2" fmla="*/ 80 w 94"/>
                <a:gd name="T3" fmla="*/ 29 h 95"/>
                <a:gd name="T4" fmla="*/ 73 w 94"/>
                <a:gd name="T5" fmla="*/ 20 h 95"/>
                <a:gd name="T6" fmla="*/ 78 w 94"/>
                <a:gd name="T7" fmla="*/ 12 h 95"/>
                <a:gd name="T8" fmla="*/ 65 w 94"/>
                <a:gd name="T9" fmla="*/ 4 h 95"/>
                <a:gd name="T10" fmla="*/ 60 w 94"/>
                <a:gd name="T11" fmla="*/ 12 h 95"/>
                <a:gd name="T12" fmla="*/ 49 w 94"/>
                <a:gd name="T13" fmla="*/ 10 h 95"/>
                <a:gd name="T14" fmla="*/ 48 w 94"/>
                <a:gd name="T15" fmla="*/ 0 h 95"/>
                <a:gd name="T16" fmla="*/ 33 w 94"/>
                <a:gd name="T17" fmla="*/ 2 h 95"/>
                <a:gd name="T18" fmla="*/ 34 w 94"/>
                <a:gd name="T19" fmla="*/ 12 h 95"/>
                <a:gd name="T20" fmla="*/ 25 w 94"/>
                <a:gd name="T21" fmla="*/ 17 h 95"/>
                <a:gd name="T22" fmla="*/ 17 w 94"/>
                <a:gd name="T23" fmla="*/ 10 h 95"/>
                <a:gd name="T24" fmla="*/ 7 w 94"/>
                <a:gd name="T25" fmla="*/ 22 h 95"/>
                <a:gd name="T26" fmla="*/ 14 w 94"/>
                <a:gd name="T27" fmla="*/ 29 h 95"/>
                <a:gd name="T28" fmla="*/ 10 w 94"/>
                <a:gd name="T29" fmla="*/ 39 h 95"/>
                <a:gd name="T30" fmla="*/ 0 w 94"/>
                <a:gd name="T31" fmla="*/ 38 h 95"/>
                <a:gd name="T32" fmla="*/ 0 w 94"/>
                <a:gd name="T33" fmla="*/ 54 h 95"/>
                <a:gd name="T34" fmla="*/ 9 w 94"/>
                <a:gd name="T35" fmla="*/ 54 h 95"/>
                <a:gd name="T36" fmla="*/ 13 w 94"/>
                <a:gd name="T37" fmla="*/ 64 h 95"/>
                <a:gd name="T38" fmla="*/ 5 w 94"/>
                <a:gd name="T39" fmla="*/ 71 h 95"/>
                <a:gd name="T40" fmla="*/ 15 w 94"/>
                <a:gd name="T41" fmla="*/ 83 h 95"/>
                <a:gd name="T42" fmla="*/ 22 w 94"/>
                <a:gd name="T43" fmla="*/ 77 h 95"/>
                <a:gd name="T44" fmla="*/ 31 w 94"/>
                <a:gd name="T45" fmla="*/ 82 h 95"/>
                <a:gd name="T46" fmla="*/ 29 w 94"/>
                <a:gd name="T47" fmla="*/ 92 h 95"/>
                <a:gd name="T48" fmla="*/ 45 w 94"/>
                <a:gd name="T49" fmla="*/ 95 h 95"/>
                <a:gd name="T50" fmla="*/ 47 w 94"/>
                <a:gd name="T51" fmla="*/ 86 h 95"/>
                <a:gd name="T52" fmla="*/ 52 w 94"/>
                <a:gd name="T53" fmla="*/ 85 h 95"/>
                <a:gd name="T54" fmla="*/ 57 w 94"/>
                <a:gd name="T55" fmla="*/ 84 h 95"/>
                <a:gd name="T56" fmla="*/ 62 w 94"/>
                <a:gd name="T57" fmla="*/ 93 h 95"/>
                <a:gd name="T58" fmla="*/ 76 w 94"/>
                <a:gd name="T59" fmla="*/ 86 h 95"/>
                <a:gd name="T60" fmla="*/ 71 w 94"/>
                <a:gd name="T61" fmla="*/ 77 h 95"/>
                <a:gd name="T62" fmla="*/ 78 w 94"/>
                <a:gd name="T63" fmla="*/ 69 h 95"/>
                <a:gd name="T64" fmla="*/ 88 w 94"/>
                <a:gd name="T65" fmla="*/ 73 h 95"/>
                <a:gd name="T66" fmla="*/ 93 w 94"/>
                <a:gd name="T67" fmla="*/ 58 h 95"/>
                <a:gd name="T68" fmla="*/ 84 w 94"/>
                <a:gd name="T69" fmla="*/ 54 h 95"/>
                <a:gd name="T70" fmla="*/ 85 w 94"/>
                <a:gd name="T71" fmla="*/ 44 h 95"/>
                <a:gd name="T72" fmla="*/ 94 w 94"/>
                <a:gd name="T73" fmla="*/ 41 h 95"/>
                <a:gd name="T74" fmla="*/ 89 w 94"/>
                <a:gd name="T75" fmla="*/ 26 h 95"/>
                <a:gd name="T76" fmla="*/ 50 w 94"/>
                <a:gd name="T77" fmla="*/ 68 h 95"/>
                <a:gd name="T78" fmla="*/ 27 w 94"/>
                <a:gd name="T79" fmla="*/ 51 h 95"/>
                <a:gd name="T80" fmla="*/ 44 w 94"/>
                <a:gd name="T81" fmla="*/ 28 h 95"/>
                <a:gd name="T82" fmla="*/ 67 w 94"/>
                <a:gd name="T83" fmla="*/ 45 h 95"/>
                <a:gd name="T84" fmla="*/ 50 w 94"/>
                <a:gd name="T85" fmla="*/ 68 h 95"/>
                <a:gd name="T86" fmla="*/ 50 w 94"/>
                <a:gd name="T87" fmla="*/ 68 h 95"/>
                <a:gd name="T88" fmla="*/ 50 w 94"/>
                <a:gd name="T89" fmla="*/ 68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94" h="95">
                  <a:moveTo>
                    <a:pt x="89" y="26"/>
                  </a:moveTo>
                  <a:cubicBezTo>
                    <a:pt x="80" y="29"/>
                    <a:pt x="80" y="29"/>
                    <a:pt x="80" y="29"/>
                  </a:cubicBezTo>
                  <a:cubicBezTo>
                    <a:pt x="78" y="26"/>
                    <a:pt x="76" y="23"/>
                    <a:pt x="73" y="20"/>
                  </a:cubicBezTo>
                  <a:cubicBezTo>
                    <a:pt x="78" y="12"/>
                    <a:pt x="78" y="12"/>
                    <a:pt x="78" y="12"/>
                  </a:cubicBezTo>
                  <a:cubicBezTo>
                    <a:pt x="65" y="4"/>
                    <a:pt x="65" y="4"/>
                    <a:pt x="65" y="4"/>
                  </a:cubicBezTo>
                  <a:cubicBezTo>
                    <a:pt x="60" y="12"/>
                    <a:pt x="60" y="12"/>
                    <a:pt x="60" y="12"/>
                  </a:cubicBezTo>
                  <a:cubicBezTo>
                    <a:pt x="57" y="11"/>
                    <a:pt x="53" y="10"/>
                    <a:pt x="49" y="10"/>
                  </a:cubicBezTo>
                  <a:cubicBezTo>
                    <a:pt x="48" y="0"/>
                    <a:pt x="48" y="0"/>
                    <a:pt x="48" y="0"/>
                  </a:cubicBezTo>
                  <a:cubicBezTo>
                    <a:pt x="33" y="2"/>
                    <a:pt x="33" y="2"/>
                    <a:pt x="33" y="2"/>
                  </a:cubicBezTo>
                  <a:cubicBezTo>
                    <a:pt x="34" y="12"/>
                    <a:pt x="34" y="12"/>
                    <a:pt x="34" y="12"/>
                  </a:cubicBezTo>
                  <a:cubicBezTo>
                    <a:pt x="31" y="13"/>
                    <a:pt x="27" y="15"/>
                    <a:pt x="25" y="17"/>
                  </a:cubicBezTo>
                  <a:cubicBezTo>
                    <a:pt x="17" y="10"/>
                    <a:pt x="17" y="10"/>
                    <a:pt x="17" y="10"/>
                  </a:cubicBezTo>
                  <a:cubicBezTo>
                    <a:pt x="7" y="22"/>
                    <a:pt x="7" y="22"/>
                    <a:pt x="7" y="22"/>
                  </a:cubicBezTo>
                  <a:cubicBezTo>
                    <a:pt x="14" y="29"/>
                    <a:pt x="14" y="29"/>
                    <a:pt x="14" y="29"/>
                  </a:cubicBezTo>
                  <a:cubicBezTo>
                    <a:pt x="12" y="32"/>
                    <a:pt x="11" y="35"/>
                    <a:pt x="10" y="39"/>
                  </a:cubicBezTo>
                  <a:cubicBezTo>
                    <a:pt x="0" y="38"/>
                    <a:pt x="0" y="38"/>
                    <a:pt x="0" y="38"/>
                  </a:cubicBezTo>
                  <a:cubicBezTo>
                    <a:pt x="0" y="54"/>
                    <a:pt x="0" y="54"/>
                    <a:pt x="0" y="54"/>
                  </a:cubicBezTo>
                  <a:cubicBezTo>
                    <a:pt x="9" y="54"/>
                    <a:pt x="9" y="54"/>
                    <a:pt x="9" y="54"/>
                  </a:cubicBezTo>
                  <a:cubicBezTo>
                    <a:pt x="10" y="58"/>
                    <a:pt x="11" y="61"/>
                    <a:pt x="13" y="64"/>
                  </a:cubicBezTo>
                  <a:cubicBezTo>
                    <a:pt x="5" y="71"/>
                    <a:pt x="5" y="71"/>
                    <a:pt x="5" y="71"/>
                  </a:cubicBezTo>
                  <a:cubicBezTo>
                    <a:pt x="15" y="83"/>
                    <a:pt x="15" y="83"/>
                    <a:pt x="15" y="83"/>
                  </a:cubicBezTo>
                  <a:cubicBezTo>
                    <a:pt x="22" y="77"/>
                    <a:pt x="22" y="77"/>
                    <a:pt x="22" y="77"/>
                  </a:cubicBezTo>
                  <a:cubicBezTo>
                    <a:pt x="25" y="79"/>
                    <a:pt x="28" y="81"/>
                    <a:pt x="31" y="82"/>
                  </a:cubicBezTo>
                  <a:cubicBezTo>
                    <a:pt x="29" y="92"/>
                    <a:pt x="29" y="92"/>
                    <a:pt x="29" y="92"/>
                  </a:cubicBezTo>
                  <a:cubicBezTo>
                    <a:pt x="45" y="95"/>
                    <a:pt x="45" y="95"/>
                    <a:pt x="45" y="95"/>
                  </a:cubicBezTo>
                  <a:cubicBezTo>
                    <a:pt x="47" y="86"/>
                    <a:pt x="47" y="86"/>
                    <a:pt x="47" y="86"/>
                  </a:cubicBezTo>
                  <a:cubicBezTo>
                    <a:pt x="48" y="86"/>
                    <a:pt x="50" y="86"/>
                    <a:pt x="52" y="85"/>
                  </a:cubicBezTo>
                  <a:cubicBezTo>
                    <a:pt x="54" y="85"/>
                    <a:pt x="56" y="85"/>
                    <a:pt x="57" y="84"/>
                  </a:cubicBezTo>
                  <a:cubicBezTo>
                    <a:pt x="62" y="93"/>
                    <a:pt x="62" y="93"/>
                    <a:pt x="62" y="93"/>
                  </a:cubicBezTo>
                  <a:cubicBezTo>
                    <a:pt x="76" y="86"/>
                    <a:pt x="76" y="86"/>
                    <a:pt x="76" y="86"/>
                  </a:cubicBezTo>
                  <a:cubicBezTo>
                    <a:pt x="71" y="77"/>
                    <a:pt x="71" y="77"/>
                    <a:pt x="71" y="77"/>
                  </a:cubicBezTo>
                  <a:cubicBezTo>
                    <a:pt x="74" y="75"/>
                    <a:pt x="76" y="72"/>
                    <a:pt x="78" y="69"/>
                  </a:cubicBezTo>
                  <a:cubicBezTo>
                    <a:pt x="88" y="73"/>
                    <a:pt x="88" y="73"/>
                    <a:pt x="88" y="73"/>
                  </a:cubicBezTo>
                  <a:cubicBezTo>
                    <a:pt x="93" y="58"/>
                    <a:pt x="93" y="58"/>
                    <a:pt x="93" y="58"/>
                  </a:cubicBezTo>
                  <a:cubicBezTo>
                    <a:pt x="84" y="54"/>
                    <a:pt x="84" y="54"/>
                    <a:pt x="84" y="54"/>
                  </a:cubicBezTo>
                  <a:cubicBezTo>
                    <a:pt x="85" y="51"/>
                    <a:pt x="85" y="47"/>
                    <a:pt x="85" y="44"/>
                  </a:cubicBezTo>
                  <a:cubicBezTo>
                    <a:pt x="94" y="41"/>
                    <a:pt x="94" y="41"/>
                    <a:pt x="94" y="41"/>
                  </a:cubicBezTo>
                  <a:lnTo>
                    <a:pt x="89" y="26"/>
                  </a:lnTo>
                  <a:close/>
                  <a:moveTo>
                    <a:pt x="50" y="68"/>
                  </a:moveTo>
                  <a:cubicBezTo>
                    <a:pt x="39" y="69"/>
                    <a:pt x="29" y="61"/>
                    <a:pt x="27" y="51"/>
                  </a:cubicBezTo>
                  <a:cubicBezTo>
                    <a:pt x="25" y="40"/>
                    <a:pt x="33" y="29"/>
                    <a:pt x="44" y="28"/>
                  </a:cubicBezTo>
                  <a:cubicBezTo>
                    <a:pt x="55" y="26"/>
                    <a:pt x="65" y="34"/>
                    <a:pt x="67" y="45"/>
                  </a:cubicBezTo>
                  <a:cubicBezTo>
                    <a:pt x="68" y="56"/>
                    <a:pt x="61" y="66"/>
                    <a:pt x="50" y="68"/>
                  </a:cubicBezTo>
                  <a:close/>
                  <a:moveTo>
                    <a:pt x="50" y="68"/>
                  </a:moveTo>
                  <a:cubicBezTo>
                    <a:pt x="50" y="68"/>
                    <a:pt x="50" y="68"/>
                    <a:pt x="50" y="68"/>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mn-ea"/>
                <a:cs typeface="Arial" charset="0"/>
              </a:endParaRPr>
            </a:p>
          </p:txBody>
        </p:sp>
        <p:sp>
          <p:nvSpPr>
            <p:cNvPr id="74" name="Freeform 26">
              <a:extLst>
                <a:ext uri="{FF2B5EF4-FFF2-40B4-BE49-F238E27FC236}">
                  <a16:creationId xmlns:a16="http://schemas.microsoft.com/office/drawing/2014/main" id="{E1A87C81-D047-AF75-D2FE-F19F35874313}"/>
                </a:ext>
              </a:extLst>
            </p:cNvPr>
            <p:cNvSpPr>
              <a:spLocks noEditPoints="1"/>
            </p:cNvSpPr>
            <p:nvPr/>
          </p:nvSpPr>
          <p:spPr bwMode="auto">
            <a:xfrm>
              <a:off x="2171700" y="2312988"/>
              <a:ext cx="498475" cy="496888"/>
            </a:xfrm>
            <a:custGeom>
              <a:avLst/>
              <a:gdLst>
                <a:gd name="T0" fmla="*/ 74 w 75"/>
                <a:gd name="T1" fmla="*/ 45 h 75"/>
                <a:gd name="T2" fmla="*/ 75 w 75"/>
                <a:gd name="T3" fmla="*/ 32 h 75"/>
                <a:gd name="T4" fmla="*/ 67 w 75"/>
                <a:gd name="T5" fmla="*/ 32 h 75"/>
                <a:gd name="T6" fmla="*/ 64 w 75"/>
                <a:gd name="T7" fmla="*/ 24 h 75"/>
                <a:gd name="T8" fmla="*/ 70 w 75"/>
                <a:gd name="T9" fmla="*/ 19 h 75"/>
                <a:gd name="T10" fmla="*/ 63 w 75"/>
                <a:gd name="T11" fmla="*/ 9 h 75"/>
                <a:gd name="T12" fmla="*/ 57 w 75"/>
                <a:gd name="T13" fmla="*/ 14 h 75"/>
                <a:gd name="T14" fmla="*/ 49 w 75"/>
                <a:gd name="T15" fmla="*/ 10 h 75"/>
                <a:gd name="T16" fmla="*/ 51 w 75"/>
                <a:gd name="T17" fmla="*/ 2 h 75"/>
                <a:gd name="T18" fmla="*/ 39 w 75"/>
                <a:gd name="T19" fmla="*/ 0 h 75"/>
                <a:gd name="T20" fmla="*/ 37 w 75"/>
                <a:gd name="T21" fmla="*/ 7 h 75"/>
                <a:gd name="T22" fmla="*/ 29 w 75"/>
                <a:gd name="T23" fmla="*/ 8 h 75"/>
                <a:gd name="T24" fmla="*/ 25 w 75"/>
                <a:gd name="T25" fmla="*/ 2 h 75"/>
                <a:gd name="T26" fmla="*/ 14 w 75"/>
                <a:gd name="T27" fmla="*/ 7 h 75"/>
                <a:gd name="T28" fmla="*/ 18 w 75"/>
                <a:gd name="T29" fmla="*/ 14 h 75"/>
                <a:gd name="T30" fmla="*/ 12 w 75"/>
                <a:gd name="T31" fmla="*/ 21 h 75"/>
                <a:gd name="T32" fmla="*/ 5 w 75"/>
                <a:gd name="T33" fmla="*/ 18 h 75"/>
                <a:gd name="T34" fmla="*/ 1 w 75"/>
                <a:gd name="T35" fmla="*/ 29 h 75"/>
                <a:gd name="T36" fmla="*/ 8 w 75"/>
                <a:gd name="T37" fmla="*/ 32 h 75"/>
                <a:gd name="T38" fmla="*/ 8 w 75"/>
                <a:gd name="T39" fmla="*/ 41 h 75"/>
                <a:gd name="T40" fmla="*/ 0 w 75"/>
                <a:gd name="T41" fmla="*/ 43 h 75"/>
                <a:gd name="T42" fmla="*/ 4 w 75"/>
                <a:gd name="T43" fmla="*/ 55 h 75"/>
                <a:gd name="T44" fmla="*/ 11 w 75"/>
                <a:gd name="T45" fmla="*/ 52 h 75"/>
                <a:gd name="T46" fmla="*/ 17 w 75"/>
                <a:gd name="T47" fmla="*/ 59 h 75"/>
                <a:gd name="T48" fmla="*/ 13 w 75"/>
                <a:gd name="T49" fmla="*/ 66 h 75"/>
                <a:gd name="T50" fmla="*/ 23 w 75"/>
                <a:gd name="T51" fmla="*/ 72 h 75"/>
                <a:gd name="T52" fmla="*/ 27 w 75"/>
                <a:gd name="T53" fmla="*/ 65 h 75"/>
                <a:gd name="T54" fmla="*/ 35 w 75"/>
                <a:gd name="T55" fmla="*/ 67 h 75"/>
                <a:gd name="T56" fmla="*/ 37 w 75"/>
                <a:gd name="T57" fmla="*/ 75 h 75"/>
                <a:gd name="T58" fmla="*/ 49 w 75"/>
                <a:gd name="T59" fmla="*/ 73 h 75"/>
                <a:gd name="T60" fmla="*/ 48 w 75"/>
                <a:gd name="T61" fmla="*/ 65 h 75"/>
                <a:gd name="T62" fmla="*/ 52 w 75"/>
                <a:gd name="T63" fmla="*/ 64 h 75"/>
                <a:gd name="T64" fmla="*/ 55 w 75"/>
                <a:gd name="T65" fmla="*/ 61 h 75"/>
                <a:gd name="T66" fmla="*/ 61 w 75"/>
                <a:gd name="T67" fmla="*/ 67 h 75"/>
                <a:gd name="T68" fmla="*/ 69 w 75"/>
                <a:gd name="T69" fmla="*/ 57 h 75"/>
                <a:gd name="T70" fmla="*/ 63 w 75"/>
                <a:gd name="T71" fmla="*/ 52 h 75"/>
                <a:gd name="T72" fmla="*/ 67 w 75"/>
                <a:gd name="T73" fmla="*/ 44 h 75"/>
                <a:gd name="T74" fmla="*/ 74 w 75"/>
                <a:gd name="T75" fmla="*/ 45 h 75"/>
                <a:gd name="T76" fmla="*/ 45 w 75"/>
                <a:gd name="T77" fmla="*/ 51 h 75"/>
                <a:gd name="T78" fmla="*/ 23 w 75"/>
                <a:gd name="T79" fmla="*/ 45 h 75"/>
                <a:gd name="T80" fmla="*/ 30 w 75"/>
                <a:gd name="T81" fmla="*/ 23 h 75"/>
                <a:gd name="T82" fmla="*/ 51 w 75"/>
                <a:gd name="T83" fmla="*/ 30 h 75"/>
                <a:gd name="T84" fmla="*/ 45 w 75"/>
                <a:gd name="T85" fmla="*/ 51 h 75"/>
                <a:gd name="T86" fmla="*/ 45 w 75"/>
                <a:gd name="T87" fmla="*/ 51 h 75"/>
                <a:gd name="T88" fmla="*/ 45 w 75"/>
                <a:gd name="T89" fmla="*/ 5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75" h="75">
                  <a:moveTo>
                    <a:pt x="74" y="45"/>
                  </a:moveTo>
                  <a:cubicBezTo>
                    <a:pt x="75" y="32"/>
                    <a:pt x="75" y="32"/>
                    <a:pt x="75" y="32"/>
                  </a:cubicBezTo>
                  <a:cubicBezTo>
                    <a:pt x="67" y="32"/>
                    <a:pt x="67" y="32"/>
                    <a:pt x="67" y="32"/>
                  </a:cubicBezTo>
                  <a:cubicBezTo>
                    <a:pt x="66" y="29"/>
                    <a:pt x="66" y="27"/>
                    <a:pt x="64" y="24"/>
                  </a:cubicBezTo>
                  <a:cubicBezTo>
                    <a:pt x="70" y="19"/>
                    <a:pt x="70" y="19"/>
                    <a:pt x="70" y="19"/>
                  </a:cubicBezTo>
                  <a:cubicBezTo>
                    <a:pt x="63" y="9"/>
                    <a:pt x="63" y="9"/>
                    <a:pt x="63" y="9"/>
                  </a:cubicBezTo>
                  <a:cubicBezTo>
                    <a:pt x="57" y="14"/>
                    <a:pt x="57" y="14"/>
                    <a:pt x="57" y="14"/>
                  </a:cubicBezTo>
                  <a:cubicBezTo>
                    <a:pt x="54" y="12"/>
                    <a:pt x="52" y="11"/>
                    <a:pt x="49" y="10"/>
                  </a:cubicBezTo>
                  <a:cubicBezTo>
                    <a:pt x="51" y="2"/>
                    <a:pt x="51" y="2"/>
                    <a:pt x="51" y="2"/>
                  </a:cubicBezTo>
                  <a:cubicBezTo>
                    <a:pt x="39" y="0"/>
                    <a:pt x="39" y="0"/>
                    <a:pt x="39" y="0"/>
                  </a:cubicBezTo>
                  <a:cubicBezTo>
                    <a:pt x="37" y="7"/>
                    <a:pt x="37" y="7"/>
                    <a:pt x="37" y="7"/>
                  </a:cubicBezTo>
                  <a:cubicBezTo>
                    <a:pt x="34" y="7"/>
                    <a:pt x="32" y="8"/>
                    <a:pt x="29" y="8"/>
                  </a:cubicBezTo>
                  <a:cubicBezTo>
                    <a:pt x="25" y="2"/>
                    <a:pt x="25" y="2"/>
                    <a:pt x="25" y="2"/>
                  </a:cubicBezTo>
                  <a:cubicBezTo>
                    <a:pt x="14" y="7"/>
                    <a:pt x="14" y="7"/>
                    <a:pt x="14" y="7"/>
                  </a:cubicBezTo>
                  <a:cubicBezTo>
                    <a:pt x="18" y="14"/>
                    <a:pt x="18" y="14"/>
                    <a:pt x="18" y="14"/>
                  </a:cubicBezTo>
                  <a:cubicBezTo>
                    <a:pt x="16" y="16"/>
                    <a:pt x="14" y="18"/>
                    <a:pt x="12" y="21"/>
                  </a:cubicBezTo>
                  <a:cubicBezTo>
                    <a:pt x="5" y="18"/>
                    <a:pt x="5" y="18"/>
                    <a:pt x="5" y="18"/>
                  </a:cubicBezTo>
                  <a:cubicBezTo>
                    <a:pt x="1" y="29"/>
                    <a:pt x="1" y="29"/>
                    <a:pt x="1" y="29"/>
                  </a:cubicBezTo>
                  <a:cubicBezTo>
                    <a:pt x="8" y="32"/>
                    <a:pt x="8" y="32"/>
                    <a:pt x="8" y="32"/>
                  </a:cubicBezTo>
                  <a:cubicBezTo>
                    <a:pt x="7" y="35"/>
                    <a:pt x="7" y="38"/>
                    <a:pt x="8" y="41"/>
                  </a:cubicBezTo>
                  <a:cubicBezTo>
                    <a:pt x="0" y="43"/>
                    <a:pt x="0" y="43"/>
                    <a:pt x="0" y="43"/>
                  </a:cubicBezTo>
                  <a:cubicBezTo>
                    <a:pt x="4" y="55"/>
                    <a:pt x="4" y="55"/>
                    <a:pt x="4" y="55"/>
                  </a:cubicBezTo>
                  <a:cubicBezTo>
                    <a:pt x="11" y="52"/>
                    <a:pt x="11" y="52"/>
                    <a:pt x="11" y="52"/>
                  </a:cubicBezTo>
                  <a:cubicBezTo>
                    <a:pt x="13" y="55"/>
                    <a:pt x="15" y="57"/>
                    <a:pt x="17" y="59"/>
                  </a:cubicBezTo>
                  <a:cubicBezTo>
                    <a:pt x="13" y="66"/>
                    <a:pt x="13" y="66"/>
                    <a:pt x="13" y="66"/>
                  </a:cubicBezTo>
                  <a:cubicBezTo>
                    <a:pt x="23" y="72"/>
                    <a:pt x="23" y="72"/>
                    <a:pt x="23" y="72"/>
                  </a:cubicBezTo>
                  <a:cubicBezTo>
                    <a:pt x="27" y="65"/>
                    <a:pt x="27" y="65"/>
                    <a:pt x="27" y="65"/>
                  </a:cubicBezTo>
                  <a:cubicBezTo>
                    <a:pt x="30" y="66"/>
                    <a:pt x="33" y="67"/>
                    <a:pt x="35" y="67"/>
                  </a:cubicBezTo>
                  <a:cubicBezTo>
                    <a:pt x="37" y="75"/>
                    <a:pt x="37" y="75"/>
                    <a:pt x="37" y="75"/>
                  </a:cubicBezTo>
                  <a:cubicBezTo>
                    <a:pt x="49" y="73"/>
                    <a:pt x="49" y="73"/>
                    <a:pt x="49" y="73"/>
                  </a:cubicBezTo>
                  <a:cubicBezTo>
                    <a:pt x="48" y="65"/>
                    <a:pt x="48" y="65"/>
                    <a:pt x="48" y="65"/>
                  </a:cubicBezTo>
                  <a:cubicBezTo>
                    <a:pt x="49" y="65"/>
                    <a:pt x="50" y="64"/>
                    <a:pt x="52" y="64"/>
                  </a:cubicBezTo>
                  <a:cubicBezTo>
                    <a:pt x="53" y="63"/>
                    <a:pt x="54" y="62"/>
                    <a:pt x="55" y="61"/>
                  </a:cubicBezTo>
                  <a:cubicBezTo>
                    <a:pt x="61" y="67"/>
                    <a:pt x="61" y="67"/>
                    <a:pt x="61" y="67"/>
                  </a:cubicBezTo>
                  <a:cubicBezTo>
                    <a:pt x="69" y="57"/>
                    <a:pt x="69" y="57"/>
                    <a:pt x="69" y="57"/>
                  </a:cubicBezTo>
                  <a:cubicBezTo>
                    <a:pt x="63" y="52"/>
                    <a:pt x="63" y="52"/>
                    <a:pt x="63" y="52"/>
                  </a:cubicBezTo>
                  <a:cubicBezTo>
                    <a:pt x="65" y="50"/>
                    <a:pt x="66" y="47"/>
                    <a:pt x="67" y="44"/>
                  </a:cubicBezTo>
                  <a:lnTo>
                    <a:pt x="74" y="45"/>
                  </a:lnTo>
                  <a:close/>
                  <a:moveTo>
                    <a:pt x="45" y="51"/>
                  </a:moveTo>
                  <a:cubicBezTo>
                    <a:pt x="37" y="55"/>
                    <a:pt x="28" y="52"/>
                    <a:pt x="23" y="45"/>
                  </a:cubicBezTo>
                  <a:cubicBezTo>
                    <a:pt x="19" y="37"/>
                    <a:pt x="22" y="27"/>
                    <a:pt x="30" y="23"/>
                  </a:cubicBezTo>
                  <a:cubicBezTo>
                    <a:pt x="38" y="19"/>
                    <a:pt x="47" y="22"/>
                    <a:pt x="51" y="30"/>
                  </a:cubicBezTo>
                  <a:cubicBezTo>
                    <a:pt x="55" y="37"/>
                    <a:pt x="53" y="47"/>
                    <a:pt x="45" y="51"/>
                  </a:cubicBezTo>
                  <a:close/>
                  <a:moveTo>
                    <a:pt x="45" y="51"/>
                  </a:moveTo>
                  <a:cubicBezTo>
                    <a:pt x="45" y="51"/>
                    <a:pt x="45" y="51"/>
                    <a:pt x="45" y="51"/>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mn-ea"/>
                <a:cs typeface="Arial" charset="0"/>
              </a:endParaRPr>
            </a:p>
          </p:txBody>
        </p:sp>
      </p:grpSp>
      <p:sp>
        <p:nvSpPr>
          <p:cNvPr id="75" name="TextBox 74">
            <a:extLst>
              <a:ext uri="{FF2B5EF4-FFF2-40B4-BE49-F238E27FC236}">
                <a16:creationId xmlns:a16="http://schemas.microsoft.com/office/drawing/2014/main" id="{3A1623CC-C1B3-5C74-35F2-D0A0AD85CA9A}"/>
              </a:ext>
            </a:extLst>
          </p:cNvPr>
          <p:cNvSpPr txBox="1"/>
          <p:nvPr/>
        </p:nvSpPr>
        <p:spPr>
          <a:xfrm>
            <a:off x="8117594" y="4903993"/>
            <a:ext cx="1475111" cy="1477328"/>
          </a:xfrm>
          <a:prstGeom prst="rect">
            <a:avLst/>
          </a:prstGeom>
          <a:noFill/>
        </p:spPr>
        <p:txBody>
          <a:bodyPr wrap="square">
            <a:spAutoFit/>
          </a:bodyPr>
          <a:lstStyle>
            <a:defPPr>
              <a:defRPr lang="en-US"/>
            </a:defPPr>
            <a:lvl1pPr marR="0" lvl="0" indent="0" algn="ctr" fontAlgn="auto">
              <a:lnSpc>
                <a:spcPct val="100000"/>
              </a:lnSpc>
              <a:spcBef>
                <a:spcPts val="600"/>
              </a:spcBef>
              <a:spcAft>
                <a:spcPts val="0"/>
              </a:spcAft>
              <a:buClrTx/>
              <a:buSzTx/>
              <a:buFontTx/>
              <a:buNone/>
              <a:tabLst/>
              <a:defRPr kumimoji="0" sz="1000" b="1" i="0" u="none" strike="noStrike" cap="none" spc="0" normalizeH="0" baseline="0">
                <a:ln>
                  <a:noFill/>
                </a:ln>
                <a:solidFill>
                  <a:srgbClr val="002060"/>
                </a:solidFill>
                <a:effectLst/>
                <a:uLnTx/>
                <a:uFillTx/>
                <a:latin typeface="Poppins" pitchFamily="2" charset="77"/>
                <a:cs typeface="Poppins" pitchFamily="2" charset="77"/>
              </a:defRPr>
            </a:lvl1p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000" b="1" i="0" u="none" strike="noStrike" kern="1200" cap="none" spc="0" normalizeH="0" baseline="0" noProof="0">
                <a:ln>
                  <a:noFill/>
                </a:ln>
                <a:solidFill>
                  <a:srgbClr val="002060"/>
                </a:solidFill>
                <a:effectLst/>
                <a:uLnTx/>
                <a:uFillTx/>
                <a:latin typeface="Poppins" pitchFamily="2" charset="77"/>
                <a:ea typeface="+mn-ea"/>
                <a:cs typeface="Poppins" pitchFamily="2" charset="77"/>
              </a:rPr>
              <a:t>Improved Partner Experience</a:t>
            </a:r>
            <a:r>
              <a:rPr kumimoji="0" lang="en-US" sz="1000" b="0" i="0" u="none" strike="noStrike" kern="1200" cap="none" spc="0" normalizeH="0" baseline="0" noProof="0">
                <a:ln>
                  <a:noFill/>
                </a:ln>
                <a:solidFill>
                  <a:srgbClr val="002060"/>
                </a:solidFill>
                <a:effectLst/>
                <a:uLnTx/>
                <a:uFillTx/>
                <a:latin typeface="Poppins" pitchFamily="2" charset="77"/>
                <a:ea typeface="+mn-ea"/>
                <a:cs typeface="Poppins" pitchFamily="2" charset="77"/>
              </a:rPr>
              <a:t>: With deeper insights into customer behaviors and preferences, enabling more personalized Partner sales approaches.</a:t>
            </a:r>
          </a:p>
        </p:txBody>
      </p:sp>
      <p:sp>
        <p:nvSpPr>
          <p:cNvPr id="76" name="TextBox 75">
            <a:extLst>
              <a:ext uri="{FF2B5EF4-FFF2-40B4-BE49-F238E27FC236}">
                <a16:creationId xmlns:a16="http://schemas.microsoft.com/office/drawing/2014/main" id="{0046FBCA-25FF-B955-257D-111130A0BA49}"/>
              </a:ext>
            </a:extLst>
          </p:cNvPr>
          <p:cNvSpPr txBox="1"/>
          <p:nvPr/>
        </p:nvSpPr>
        <p:spPr>
          <a:xfrm>
            <a:off x="402517" y="3331898"/>
            <a:ext cx="1794146" cy="215444"/>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400" b="1" i="0" u="none" strike="noStrike" kern="1200" cap="none" spc="0" normalizeH="0" baseline="0" noProof="0">
                <a:ln>
                  <a:noFill/>
                </a:ln>
                <a:solidFill>
                  <a:prstClr val="white"/>
                </a:solidFill>
                <a:effectLst/>
                <a:uLnTx/>
                <a:uFillTx/>
                <a:latin typeface="Poppins" pitchFamily="2" charset="77"/>
                <a:ea typeface="+mn-ea"/>
                <a:cs typeface="Poppins" pitchFamily="2" charset="77"/>
              </a:rPr>
              <a:t>TECHNOLOGY</a:t>
            </a:r>
          </a:p>
        </p:txBody>
      </p:sp>
      <p:sp>
        <p:nvSpPr>
          <p:cNvPr id="77" name="TextBox 76">
            <a:extLst>
              <a:ext uri="{FF2B5EF4-FFF2-40B4-BE49-F238E27FC236}">
                <a16:creationId xmlns:a16="http://schemas.microsoft.com/office/drawing/2014/main" id="{9AFE2428-7760-63C3-84A5-1FB17457EBFD}"/>
              </a:ext>
            </a:extLst>
          </p:cNvPr>
          <p:cNvSpPr txBox="1"/>
          <p:nvPr/>
        </p:nvSpPr>
        <p:spPr>
          <a:xfrm>
            <a:off x="413921" y="4476561"/>
            <a:ext cx="2036835" cy="430887"/>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400" b="1" i="0" u="none" strike="noStrike" kern="1200" cap="none" spc="0" normalizeH="0" baseline="0" noProof="0">
                <a:ln>
                  <a:noFill/>
                </a:ln>
                <a:solidFill>
                  <a:prstClr val="white"/>
                </a:solidFill>
                <a:effectLst/>
                <a:uLnTx/>
                <a:uFillTx/>
                <a:latin typeface="Poppins" pitchFamily="2" charset="77"/>
                <a:ea typeface="+mn-ea"/>
                <a:cs typeface="Poppins" pitchFamily="2" charset="77"/>
              </a:rPr>
              <a:t>CUSTOMER ENGAGEMENT</a:t>
            </a:r>
          </a:p>
        </p:txBody>
      </p:sp>
      <p:sp>
        <p:nvSpPr>
          <p:cNvPr id="79" name="TextBox 78">
            <a:extLst>
              <a:ext uri="{FF2B5EF4-FFF2-40B4-BE49-F238E27FC236}">
                <a16:creationId xmlns:a16="http://schemas.microsoft.com/office/drawing/2014/main" id="{E4B22D9B-B83A-AB27-2883-E7E778126293}"/>
              </a:ext>
            </a:extLst>
          </p:cNvPr>
          <p:cNvSpPr txBox="1"/>
          <p:nvPr/>
        </p:nvSpPr>
        <p:spPr>
          <a:xfrm>
            <a:off x="748914" y="2967400"/>
            <a:ext cx="1147160" cy="184666"/>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200" b="1" i="0" u="none" strike="noStrike" kern="1200" cap="none" spc="0" normalizeH="0" baseline="0" noProof="0">
                <a:ln>
                  <a:noFill/>
                </a:ln>
                <a:solidFill>
                  <a:prstClr val="white"/>
                </a:solidFill>
                <a:effectLst/>
                <a:uLnTx/>
                <a:uFillTx/>
                <a:latin typeface="Poppins" pitchFamily="2" charset="77"/>
                <a:ea typeface="+mn-ea"/>
                <a:cs typeface="Poppins" pitchFamily="2" charset="77"/>
              </a:rPr>
              <a:t>Industry</a:t>
            </a:r>
          </a:p>
        </p:txBody>
      </p:sp>
      <p:cxnSp>
        <p:nvCxnSpPr>
          <p:cNvPr id="81" name="Straight Connector 80">
            <a:extLst>
              <a:ext uri="{FF2B5EF4-FFF2-40B4-BE49-F238E27FC236}">
                <a16:creationId xmlns:a16="http://schemas.microsoft.com/office/drawing/2014/main" id="{5B4BBF85-FD93-CA69-B32C-293FD7FC93C5}"/>
              </a:ext>
            </a:extLst>
          </p:cNvPr>
          <p:cNvCxnSpPr>
            <a:cxnSpLocks/>
          </p:cNvCxnSpPr>
          <p:nvPr/>
        </p:nvCxnSpPr>
        <p:spPr>
          <a:xfrm flipV="1">
            <a:off x="379523" y="3233245"/>
            <a:ext cx="2066377" cy="0"/>
          </a:xfrm>
          <a:prstGeom prst="line">
            <a:avLst/>
          </a:prstGeom>
          <a:solidFill>
            <a:schemeClr val="accent2"/>
          </a:solidFill>
          <a:ln>
            <a:solidFill>
              <a:schemeClr val="bg1"/>
            </a:solidFill>
          </a:ln>
        </p:spPr>
        <p:style>
          <a:lnRef idx="1">
            <a:schemeClr val="accent2"/>
          </a:lnRef>
          <a:fillRef idx="0">
            <a:schemeClr val="accent2"/>
          </a:fillRef>
          <a:effectRef idx="0">
            <a:schemeClr val="accent2"/>
          </a:effectRef>
          <a:fontRef idx="minor">
            <a:schemeClr val="tx1"/>
          </a:fontRef>
        </p:style>
      </p:cxnSp>
      <p:pic>
        <p:nvPicPr>
          <p:cNvPr id="82" name="Graphic 81" descr="Building">
            <a:extLst>
              <a:ext uri="{FF2B5EF4-FFF2-40B4-BE49-F238E27FC236}">
                <a16:creationId xmlns:a16="http://schemas.microsoft.com/office/drawing/2014/main" id="{DBBA4BC7-775C-F390-7BE4-CA19FEDDE88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6576" y="2886253"/>
            <a:ext cx="272544" cy="272544"/>
          </a:xfrm>
          <a:prstGeom prst="rect">
            <a:avLst/>
          </a:prstGeom>
        </p:spPr>
      </p:pic>
      <p:sp>
        <p:nvSpPr>
          <p:cNvPr id="83" name="TextBox 82">
            <a:extLst>
              <a:ext uri="{FF2B5EF4-FFF2-40B4-BE49-F238E27FC236}">
                <a16:creationId xmlns:a16="http://schemas.microsoft.com/office/drawing/2014/main" id="{3A2DB66A-B22F-58B6-E10A-0D730CE855E3}"/>
              </a:ext>
            </a:extLst>
          </p:cNvPr>
          <p:cNvSpPr txBox="1"/>
          <p:nvPr/>
        </p:nvSpPr>
        <p:spPr>
          <a:xfrm>
            <a:off x="748914" y="4150731"/>
            <a:ext cx="1231910" cy="184666"/>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200" b="1" i="0" u="none" strike="noStrike" kern="1200" cap="none" spc="0" normalizeH="0" baseline="0" noProof="0">
                <a:ln>
                  <a:noFill/>
                </a:ln>
                <a:solidFill>
                  <a:prstClr val="white"/>
                </a:solidFill>
                <a:effectLst/>
                <a:uLnTx/>
                <a:uFillTx/>
                <a:latin typeface="Poppins" pitchFamily="2" charset="77"/>
                <a:ea typeface="+mn-ea"/>
                <a:cs typeface="Poppins" pitchFamily="2" charset="77"/>
              </a:rPr>
              <a:t>Function</a:t>
            </a:r>
          </a:p>
        </p:txBody>
      </p:sp>
      <p:cxnSp>
        <p:nvCxnSpPr>
          <p:cNvPr id="85" name="Straight Connector 84">
            <a:extLst>
              <a:ext uri="{FF2B5EF4-FFF2-40B4-BE49-F238E27FC236}">
                <a16:creationId xmlns:a16="http://schemas.microsoft.com/office/drawing/2014/main" id="{3AC6D4DE-D87E-7C96-1234-4CF4152F670B}"/>
              </a:ext>
            </a:extLst>
          </p:cNvPr>
          <p:cNvCxnSpPr>
            <a:cxnSpLocks/>
          </p:cNvCxnSpPr>
          <p:nvPr/>
        </p:nvCxnSpPr>
        <p:spPr>
          <a:xfrm flipV="1">
            <a:off x="391513" y="4416861"/>
            <a:ext cx="2066377" cy="0"/>
          </a:xfrm>
          <a:prstGeom prst="line">
            <a:avLst/>
          </a:prstGeom>
          <a:ln>
            <a:solidFill>
              <a:schemeClr val="bg1"/>
            </a:solidFill>
          </a:ln>
        </p:spPr>
        <p:style>
          <a:lnRef idx="1">
            <a:schemeClr val="accent2"/>
          </a:lnRef>
          <a:fillRef idx="0">
            <a:schemeClr val="accent2"/>
          </a:fillRef>
          <a:effectRef idx="0">
            <a:schemeClr val="accent2"/>
          </a:effectRef>
          <a:fontRef idx="minor">
            <a:schemeClr val="tx1"/>
          </a:fontRef>
        </p:style>
      </p:cxnSp>
      <p:grpSp>
        <p:nvGrpSpPr>
          <p:cNvPr id="86" name="Group 439">
            <a:extLst>
              <a:ext uri="{FF2B5EF4-FFF2-40B4-BE49-F238E27FC236}">
                <a16:creationId xmlns:a16="http://schemas.microsoft.com/office/drawing/2014/main" id="{A919DC08-A1CE-A4E7-9DA6-E83BD9890136}"/>
              </a:ext>
            </a:extLst>
          </p:cNvPr>
          <p:cNvGrpSpPr/>
          <p:nvPr/>
        </p:nvGrpSpPr>
        <p:grpSpPr>
          <a:xfrm>
            <a:off x="375903" y="4100284"/>
            <a:ext cx="293890" cy="232056"/>
            <a:chOff x="-2644775" y="2681288"/>
            <a:chExt cx="2366962" cy="1931987"/>
          </a:xfrm>
          <a:solidFill>
            <a:schemeClr val="bg1"/>
          </a:solidFill>
        </p:grpSpPr>
        <p:sp>
          <p:nvSpPr>
            <p:cNvPr id="87" name="Freeform 7">
              <a:extLst>
                <a:ext uri="{FF2B5EF4-FFF2-40B4-BE49-F238E27FC236}">
                  <a16:creationId xmlns:a16="http://schemas.microsoft.com/office/drawing/2014/main" id="{BDEB0D46-741F-0252-28A3-A5B58427B432}"/>
                </a:ext>
              </a:extLst>
            </p:cNvPr>
            <p:cNvSpPr>
              <a:spLocks noEditPoints="1"/>
            </p:cNvSpPr>
            <p:nvPr/>
          </p:nvSpPr>
          <p:spPr bwMode="auto">
            <a:xfrm>
              <a:off x="-1703388" y="3184525"/>
              <a:ext cx="1425575" cy="1428750"/>
            </a:xfrm>
            <a:custGeom>
              <a:avLst/>
              <a:gdLst>
                <a:gd name="T0" fmla="*/ 328 w 380"/>
                <a:gd name="T1" fmla="*/ 254 h 381"/>
                <a:gd name="T2" fmla="*/ 253 w 380"/>
                <a:gd name="T3" fmla="*/ 53 h 381"/>
                <a:gd name="T4" fmla="*/ 52 w 380"/>
                <a:gd name="T5" fmla="*/ 128 h 381"/>
                <a:gd name="T6" fmla="*/ 127 w 380"/>
                <a:gd name="T7" fmla="*/ 329 h 381"/>
                <a:gd name="T8" fmla="*/ 328 w 380"/>
                <a:gd name="T9" fmla="*/ 254 h 381"/>
                <a:gd name="T10" fmla="*/ 2 w 380"/>
                <a:gd name="T11" fmla="*/ 240 h 381"/>
                <a:gd name="T12" fmla="*/ 7 w 380"/>
                <a:gd name="T13" fmla="*/ 228 h 381"/>
                <a:gd name="T14" fmla="*/ 28 w 380"/>
                <a:gd name="T15" fmla="*/ 220 h 381"/>
                <a:gd name="T16" fmla="*/ 30 w 380"/>
                <a:gd name="T17" fmla="*/ 150 h 381"/>
                <a:gd name="T18" fmla="*/ 10 w 380"/>
                <a:gd name="T19" fmla="*/ 140 h 381"/>
                <a:gd name="T20" fmla="*/ 6 w 380"/>
                <a:gd name="T21" fmla="*/ 128 h 381"/>
                <a:gd name="T22" fmla="*/ 22 w 380"/>
                <a:gd name="T23" fmla="*/ 92 h 381"/>
                <a:gd name="T24" fmla="*/ 34 w 380"/>
                <a:gd name="T25" fmla="*/ 88 h 381"/>
                <a:gd name="T26" fmla="*/ 55 w 380"/>
                <a:gd name="T27" fmla="*/ 97 h 381"/>
                <a:gd name="T28" fmla="*/ 106 w 380"/>
                <a:gd name="T29" fmla="*/ 49 h 381"/>
                <a:gd name="T30" fmla="*/ 98 w 380"/>
                <a:gd name="T31" fmla="*/ 28 h 381"/>
                <a:gd name="T32" fmla="*/ 104 w 380"/>
                <a:gd name="T33" fmla="*/ 16 h 381"/>
                <a:gd name="T34" fmla="*/ 141 w 380"/>
                <a:gd name="T35" fmla="*/ 2 h 381"/>
                <a:gd name="T36" fmla="*/ 153 w 380"/>
                <a:gd name="T37" fmla="*/ 7 h 381"/>
                <a:gd name="T38" fmla="*/ 161 w 380"/>
                <a:gd name="T39" fmla="*/ 29 h 381"/>
                <a:gd name="T40" fmla="*/ 231 w 380"/>
                <a:gd name="T41" fmla="*/ 31 h 381"/>
                <a:gd name="T42" fmla="*/ 241 w 380"/>
                <a:gd name="T43" fmla="*/ 11 h 381"/>
                <a:gd name="T44" fmla="*/ 253 w 380"/>
                <a:gd name="T45" fmla="*/ 6 h 381"/>
                <a:gd name="T46" fmla="*/ 289 w 380"/>
                <a:gd name="T47" fmla="*/ 23 h 381"/>
                <a:gd name="T48" fmla="*/ 293 w 380"/>
                <a:gd name="T49" fmla="*/ 35 h 381"/>
                <a:gd name="T50" fmla="*/ 284 w 380"/>
                <a:gd name="T51" fmla="*/ 55 h 381"/>
                <a:gd name="T52" fmla="*/ 332 w 380"/>
                <a:gd name="T53" fmla="*/ 107 h 381"/>
                <a:gd name="T54" fmla="*/ 353 w 380"/>
                <a:gd name="T55" fmla="*/ 99 h 381"/>
                <a:gd name="T56" fmla="*/ 365 w 380"/>
                <a:gd name="T57" fmla="*/ 104 h 381"/>
                <a:gd name="T58" fmla="*/ 379 w 380"/>
                <a:gd name="T59" fmla="*/ 142 h 381"/>
                <a:gd name="T60" fmla="*/ 374 w 380"/>
                <a:gd name="T61" fmla="*/ 153 h 381"/>
                <a:gd name="T62" fmla="*/ 352 w 380"/>
                <a:gd name="T63" fmla="*/ 161 h 381"/>
                <a:gd name="T64" fmla="*/ 350 w 380"/>
                <a:gd name="T65" fmla="*/ 232 h 381"/>
                <a:gd name="T66" fmla="*/ 370 w 380"/>
                <a:gd name="T67" fmla="*/ 241 h 381"/>
                <a:gd name="T68" fmla="*/ 375 w 380"/>
                <a:gd name="T69" fmla="*/ 253 h 381"/>
                <a:gd name="T70" fmla="*/ 358 w 380"/>
                <a:gd name="T71" fmla="*/ 290 h 381"/>
                <a:gd name="T72" fmla="*/ 346 w 380"/>
                <a:gd name="T73" fmla="*/ 294 h 381"/>
                <a:gd name="T74" fmla="*/ 326 w 380"/>
                <a:gd name="T75" fmla="*/ 285 h 381"/>
                <a:gd name="T76" fmla="*/ 274 w 380"/>
                <a:gd name="T77" fmla="*/ 333 h 381"/>
                <a:gd name="T78" fmla="*/ 282 w 380"/>
                <a:gd name="T79" fmla="*/ 354 h 381"/>
                <a:gd name="T80" fmla="*/ 277 w 380"/>
                <a:gd name="T81" fmla="*/ 365 h 381"/>
                <a:gd name="T82" fmla="*/ 239 w 380"/>
                <a:gd name="T83" fmla="*/ 379 h 381"/>
                <a:gd name="T84" fmla="*/ 228 w 380"/>
                <a:gd name="T85" fmla="*/ 374 h 381"/>
                <a:gd name="T86" fmla="*/ 220 w 380"/>
                <a:gd name="T87" fmla="*/ 353 h 381"/>
                <a:gd name="T88" fmla="*/ 149 w 380"/>
                <a:gd name="T89" fmla="*/ 350 h 381"/>
                <a:gd name="T90" fmla="*/ 139 w 380"/>
                <a:gd name="T91" fmla="*/ 371 h 381"/>
                <a:gd name="T92" fmla="*/ 128 w 380"/>
                <a:gd name="T93" fmla="*/ 375 h 381"/>
                <a:gd name="T94" fmla="*/ 91 w 380"/>
                <a:gd name="T95" fmla="*/ 359 h 381"/>
                <a:gd name="T96" fmla="*/ 87 w 380"/>
                <a:gd name="T97" fmla="*/ 347 h 381"/>
                <a:gd name="T98" fmla="*/ 96 w 380"/>
                <a:gd name="T99" fmla="*/ 326 h 381"/>
                <a:gd name="T100" fmla="*/ 48 w 380"/>
                <a:gd name="T101" fmla="*/ 275 h 381"/>
                <a:gd name="T102" fmla="*/ 27 w 380"/>
                <a:gd name="T103" fmla="*/ 282 h 381"/>
                <a:gd name="T104" fmla="*/ 15 w 380"/>
                <a:gd name="T105" fmla="*/ 277 h 381"/>
                <a:gd name="T106" fmla="*/ 2 w 380"/>
                <a:gd name="T107" fmla="*/ 240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0" h="381">
                  <a:moveTo>
                    <a:pt x="328" y="254"/>
                  </a:moveTo>
                  <a:cubicBezTo>
                    <a:pt x="363" y="178"/>
                    <a:pt x="329" y="88"/>
                    <a:pt x="253" y="53"/>
                  </a:cubicBezTo>
                  <a:cubicBezTo>
                    <a:pt x="177" y="18"/>
                    <a:pt x="87" y="52"/>
                    <a:pt x="52" y="128"/>
                  </a:cubicBezTo>
                  <a:cubicBezTo>
                    <a:pt x="17" y="204"/>
                    <a:pt x="51" y="294"/>
                    <a:pt x="127" y="329"/>
                  </a:cubicBezTo>
                  <a:cubicBezTo>
                    <a:pt x="203" y="363"/>
                    <a:pt x="293" y="330"/>
                    <a:pt x="328" y="254"/>
                  </a:cubicBezTo>
                  <a:close/>
                  <a:moveTo>
                    <a:pt x="2" y="240"/>
                  </a:moveTo>
                  <a:cubicBezTo>
                    <a:pt x="0" y="235"/>
                    <a:pt x="2" y="230"/>
                    <a:pt x="7" y="228"/>
                  </a:cubicBezTo>
                  <a:cubicBezTo>
                    <a:pt x="28" y="220"/>
                    <a:pt x="28" y="220"/>
                    <a:pt x="28" y="220"/>
                  </a:cubicBezTo>
                  <a:cubicBezTo>
                    <a:pt x="24" y="197"/>
                    <a:pt x="24" y="173"/>
                    <a:pt x="30" y="150"/>
                  </a:cubicBezTo>
                  <a:cubicBezTo>
                    <a:pt x="10" y="140"/>
                    <a:pt x="10" y="140"/>
                    <a:pt x="10" y="140"/>
                  </a:cubicBezTo>
                  <a:cubicBezTo>
                    <a:pt x="5" y="138"/>
                    <a:pt x="3" y="133"/>
                    <a:pt x="6" y="128"/>
                  </a:cubicBezTo>
                  <a:cubicBezTo>
                    <a:pt x="22" y="92"/>
                    <a:pt x="22" y="92"/>
                    <a:pt x="22" y="92"/>
                  </a:cubicBezTo>
                  <a:cubicBezTo>
                    <a:pt x="24" y="87"/>
                    <a:pt x="29" y="86"/>
                    <a:pt x="34" y="88"/>
                  </a:cubicBezTo>
                  <a:cubicBezTo>
                    <a:pt x="55" y="97"/>
                    <a:pt x="55" y="97"/>
                    <a:pt x="55" y="97"/>
                  </a:cubicBezTo>
                  <a:cubicBezTo>
                    <a:pt x="68" y="77"/>
                    <a:pt x="86" y="61"/>
                    <a:pt x="106" y="49"/>
                  </a:cubicBezTo>
                  <a:cubicBezTo>
                    <a:pt x="98" y="28"/>
                    <a:pt x="98" y="28"/>
                    <a:pt x="98" y="28"/>
                  </a:cubicBezTo>
                  <a:cubicBezTo>
                    <a:pt x="97" y="23"/>
                    <a:pt x="99" y="18"/>
                    <a:pt x="104" y="16"/>
                  </a:cubicBezTo>
                  <a:cubicBezTo>
                    <a:pt x="141" y="2"/>
                    <a:pt x="141" y="2"/>
                    <a:pt x="141" y="2"/>
                  </a:cubicBezTo>
                  <a:cubicBezTo>
                    <a:pt x="146" y="0"/>
                    <a:pt x="151" y="3"/>
                    <a:pt x="153" y="7"/>
                  </a:cubicBezTo>
                  <a:cubicBezTo>
                    <a:pt x="161" y="29"/>
                    <a:pt x="161" y="29"/>
                    <a:pt x="161" y="29"/>
                  </a:cubicBezTo>
                  <a:cubicBezTo>
                    <a:pt x="184" y="24"/>
                    <a:pt x="208" y="25"/>
                    <a:pt x="231" y="31"/>
                  </a:cubicBezTo>
                  <a:cubicBezTo>
                    <a:pt x="241" y="11"/>
                    <a:pt x="241" y="11"/>
                    <a:pt x="241" y="11"/>
                  </a:cubicBezTo>
                  <a:cubicBezTo>
                    <a:pt x="243" y="6"/>
                    <a:pt x="248" y="4"/>
                    <a:pt x="253" y="6"/>
                  </a:cubicBezTo>
                  <a:cubicBezTo>
                    <a:pt x="289" y="23"/>
                    <a:pt x="289" y="23"/>
                    <a:pt x="289" y="23"/>
                  </a:cubicBezTo>
                  <a:cubicBezTo>
                    <a:pt x="293" y="25"/>
                    <a:pt x="295" y="30"/>
                    <a:pt x="293" y="35"/>
                  </a:cubicBezTo>
                  <a:cubicBezTo>
                    <a:pt x="284" y="55"/>
                    <a:pt x="284" y="55"/>
                    <a:pt x="284" y="55"/>
                  </a:cubicBezTo>
                  <a:cubicBezTo>
                    <a:pt x="304" y="69"/>
                    <a:pt x="320" y="87"/>
                    <a:pt x="332" y="107"/>
                  </a:cubicBezTo>
                  <a:cubicBezTo>
                    <a:pt x="353" y="99"/>
                    <a:pt x="353" y="99"/>
                    <a:pt x="353" y="99"/>
                  </a:cubicBezTo>
                  <a:cubicBezTo>
                    <a:pt x="358" y="97"/>
                    <a:pt x="363" y="100"/>
                    <a:pt x="365" y="104"/>
                  </a:cubicBezTo>
                  <a:cubicBezTo>
                    <a:pt x="379" y="142"/>
                    <a:pt x="379" y="142"/>
                    <a:pt x="379" y="142"/>
                  </a:cubicBezTo>
                  <a:cubicBezTo>
                    <a:pt x="380" y="146"/>
                    <a:pt x="378" y="152"/>
                    <a:pt x="374" y="153"/>
                  </a:cubicBezTo>
                  <a:cubicBezTo>
                    <a:pt x="352" y="161"/>
                    <a:pt x="352" y="161"/>
                    <a:pt x="352" y="161"/>
                  </a:cubicBezTo>
                  <a:cubicBezTo>
                    <a:pt x="357" y="184"/>
                    <a:pt x="356" y="208"/>
                    <a:pt x="350" y="232"/>
                  </a:cubicBezTo>
                  <a:cubicBezTo>
                    <a:pt x="370" y="241"/>
                    <a:pt x="370" y="241"/>
                    <a:pt x="370" y="241"/>
                  </a:cubicBezTo>
                  <a:cubicBezTo>
                    <a:pt x="375" y="243"/>
                    <a:pt x="377" y="249"/>
                    <a:pt x="375" y="253"/>
                  </a:cubicBezTo>
                  <a:cubicBezTo>
                    <a:pt x="358" y="290"/>
                    <a:pt x="358" y="290"/>
                    <a:pt x="358" y="290"/>
                  </a:cubicBezTo>
                  <a:cubicBezTo>
                    <a:pt x="356" y="294"/>
                    <a:pt x="351" y="296"/>
                    <a:pt x="346" y="294"/>
                  </a:cubicBezTo>
                  <a:cubicBezTo>
                    <a:pt x="326" y="285"/>
                    <a:pt x="326" y="285"/>
                    <a:pt x="326" y="285"/>
                  </a:cubicBezTo>
                  <a:cubicBezTo>
                    <a:pt x="312" y="305"/>
                    <a:pt x="294" y="321"/>
                    <a:pt x="274" y="333"/>
                  </a:cubicBezTo>
                  <a:cubicBezTo>
                    <a:pt x="282" y="354"/>
                    <a:pt x="282" y="354"/>
                    <a:pt x="282" y="354"/>
                  </a:cubicBezTo>
                  <a:cubicBezTo>
                    <a:pt x="283" y="359"/>
                    <a:pt x="281" y="364"/>
                    <a:pt x="277" y="365"/>
                  </a:cubicBezTo>
                  <a:cubicBezTo>
                    <a:pt x="239" y="379"/>
                    <a:pt x="239" y="379"/>
                    <a:pt x="239" y="379"/>
                  </a:cubicBezTo>
                  <a:cubicBezTo>
                    <a:pt x="234" y="381"/>
                    <a:pt x="229" y="379"/>
                    <a:pt x="228" y="374"/>
                  </a:cubicBezTo>
                  <a:cubicBezTo>
                    <a:pt x="220" y="353"/>
                    <a:pt x="220" y="353"/>
                    <a:pt x="220" y="353"/>
                  </a:cubicBezTo>
                  <a:cubicBezTo>
                    <a:pt x="197" y="357"/>
                    <a:pt x="172" y="357"/>
                    <a:pt x="149" y="350"/>
                  </a:cubicBezTo>
                  <a:cubicBezTo>
                    <a:pt x="139" y="371"/>
                    <a:pt x="139" y="371"/>
                    <a:pt x="139" y="371"/>
                  </a:cubicBezTo>
                  <a:cubicBezTo>
                    <a:pt x="137" y="375"/>
                    <a:pt x="132" y="377"/>
                    <a:pt x="128" y="375"/>
                  </a:cubicBezTo>
                  <a:cubicBezTo>
                    <a:pt x="91" y="359"/>
                    <a:pt x="91" y="359"/>
                    <a:pt x="91" y="359"/>
                  </a:cubicBezTo>
                  <a:cubicBezTo>
                    <a:pt x="87" y="357"/>
                    <a:pt x="85" y="351"/>
                    <a:pt x="87" y="347"/>
                  </a:cubicBezTo>
                  <a:cubicBezTo>
                    <a:pt x="96" y="326"/>
                    <a:pt x="96" y="326"/>
                    <a:pt x="96" y="326"/>
                  </a:cubicBezTo>
                  <a:cubicBezTo>
                    <a:pt x="76" y="313"/>
                    <a:pt x="60" y="295"/>
                    <a:pt x="48" y="275"/>
                  </a:cubicBezTo>
                  <a:cubicBezTo>
                    <a:pt x="27" y="282"/>
                    <a:pt x="27" y="282"/>
                    <a:pt x="27" y="282"/>
                  </a:cubicBezTo>
                  <a:cubicBezTo>
                    <a:pt x="22" y="284"/>
                    <a:pt x="17" y="282"/>
                    <a:pt x="15" y="277"/>
                  </a:cubicBezTo>
                  <a:cubicBezTo>
                    <a:pt x="2" y="240"/>
                    <a:pt x="2" y="240"/>
                    <a:pt x="2" y="240"/>
                  </a:cubicBezTo>
                  <a:close/>
                </a:path>
              </a:pathLst>
            </a:custGeom>
            <a:grpFill/>
            <a:ln w="9525">
              <a:noFill/>
              <a:round/>
              <a:headEnd/>
              <a:tailEnd/>
            </a:ln>
          </p:spPr>
          <p:txBody>
            <a:bodyPr vert="horz" wrap="square" lIns="62345" tIns="31173" rIns="62345" bIns="31173"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368" b="0" i="0" u="none" strike="noStrike" kern="1200" cap="none" spc="0" normalizeH="0" baseline="0" noProof="0">
                <a:ln>
                  <a:noFill/>
                </a:ln>
                <a:solidFill>
                  <a:prstClr val="white"/>
                </a:solidFill>
                <a:effectLst/>
                <a:uLnTx/>
                <a:uFillTx/>
                <a:latin typeface="Poppins" pitchFamily="2" charset="77"/>
                <a:ea typeface="+mn-ea"/>
                <a:cs typeface="Poppins" pitchFamily="2" charset="77"/>
              </a:endParaRPr>
            </a:p>
          </p:txBody>
        </p:sp>
        <p:sp>
          <p:nvSpPr>
            <p:cNvPr id="88" name="Freeform 8">
              <a:extLst>
                <a:ext uri="{FF2B5EF4-FFF2-40B4-BE49-F238E27FC236}">
                  <a16:creationId xmlns:a16="http://schemas.microsoft.com/office/drawing/2014/main" id="{F4DD0DA2-60F0-51FC-9337-B9DCFE1CFDB4}"/>
                </a:ext>
              </a:extLst>
            </p:cNvPr>
            <p:cNvSpPr>
              <a:spLocks/>
            </p:cNvSpPr>
            <p:nvPr/>
          </p:nvSpPr>
          <p:spPr bwMode="auto">
            <a:xfrm>
              <a:off x="-1139825" y="3468688"/>
              <a:ext cx="300038" cy="352425"/>
            </a:xfrm>
            <a:custGeom>
              <a:avLst/>
              <a:gdLst>
                <a:gd name="T0" fmla="*/ 76 w 80"/>
                <a:gd name="T1" fmla="*/ 39 h 94"/>
                <a:gd name="T2" fmla="*/ 79 w 80"/>
                <a:gd name="T3" fmla="*/ 50 h 94"/>
                <a:gd name="T4" fmla="*/ 74 w 80"/>
                <a:gd name="T5" fmla="*/ 60 h 94"/>
                <a:gd name="T6" fmla="*/ 40 w 80"/>
                <a:gd name="T7" fmla="*/ 94 h 94"/>
                <a:gd name="T8" fmla="*/ 6 w 80"/>
                <a:gd name="T9" fmla="*/ 60 h 94"/>
                <a:gd name="T10" fmla="*/ 1 w 80"/>
                <a:gd name="T11" fmla="*/ 50 h 94"/>
                <a:gd name="T12" fmla="*/ 5 w 80"/>
                <a:gd name="T13" fmla="*/ 39 h 94"/>
                <a:gd name="T14" fmla="*/ 40 w 80"/>
                <a:gd name="T15" fmla="*/ 0 h 94"/>
                <a:gd name="T16" fmla="*/ 76 w 80"/>
                <a:gd name="T17"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94">
                  <a:moveTo>
                    <a:pt x="76" y="39"/>
                  </a:moveTo>
                  <a:cubicBezTo>
                    <a:pt x="79" y="40"/>
                    <a:pt x="80" y="42"/>
                    <a:pt x="79" y="50"/>
                  </a:cubicBezTo>
                  <a:cubicBezTo>
                    <a:pt x="78" y="57"/>
                    <a:pt x="76" y="59"/>
                    <a:pt x="74" y="60"/>
                  </a:cubicBezTo>
                  <a:cubicBezTo>
                    <a:pt x="68" y="80"/>
                    <a:pt x="50" y="94"/>
                    <a:pt x="40" y="94"/>
                  </a:cubicBezTo>
                  <a:cubicBezTo>
                    <a:pt x="30" y="94"/>
                    <a:pt x="12" y="80"/>
                    <a:pt x="6" y="60"/>
                  </a:cubicBezTo>
                  <a:cubicBezTo>
                    <a:pt x="4" y="60"/>
                    <a:pt x="2" y="57"/>
                    <a:pt x="1" y="50"/>
                  </a:cubicBezTo>
                  <a:cubicBezTo>
                    <a:pt x="0" y="42"/>
                    <a:pt x="2" y="40"/>
                    <a:pt x="5" y="39"/>
                  </a:cubicBezTo>
                  <a:cubicBezTo>
                    <a:pt x="6" y="17"/>
                    <a:pt x="15" y="0"/>
                    <a:pt x="40" y="0"/>
                  </a:cubicBezTo>
                  <a:cubicBezTo>
                    <a:pt x="65" y="0"/>
                    <a:pt x="74" y="17"/>
                    <a:pt x="76" y="39"/>
                  </a:cubicBezTo>
                  <a:close/>
                </a:path>
              </a:pathLst>
            </a:custGeom>
            <a:grpFill/>
            <a:ln w="9525">
              <a:noFill/>
              <a:round/>
              <a:headEnd/>
              <a:tailEnd/>
            </a:ln>
          </p:spPr>
          <p:txBody>
            <a:bodyPr vert="horz" wrap="square" lIns="62345" tIns="31173" rIns="62345" bIns="31173"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368" b="0" i="0" u="none" strike="noStrike" kern="1200" cap="none" spc="0" normalizeH="0" baseline="0" noProof="0">
                <a:ln>
                  <a:noFill/>
                </a:ln>
                <a:solidFill>
                  <a:prstClr val="white"/>
                </a:solidFill>
                <a:effectLst/>
                <a:uLnTx/>
                <a:uFillTx/>
                <a:latin typeface="Poppins" pitchFamily="2" charset="77"/>
                <a:ea typeface="+mn-ea"/>
                <a:cs typeface="Poppins" pitchFamily="2" charset="77"/>
              </a:endParaRPr>
            </a:p>
          </p:txBody>
        </p:sp>
        <p:sp>
          <p:nvSpPr>
            <p:cNvPr id="89" name="Freeform 9">
              <a:extLst>
                <a:ext uri="{FF2B5EF4-FFF2-40B4-BE49-F238E27FC236}">
                  <a16:creationId xmlns:a16="http://schemas.microsoft.com/office/drawing/2014/main" id="{AC57082F-363C-CE47-33D7-A9E172CDCFB1}"/>
                </a:ext>
              </a:extLst>
            </p:cNvPr>
            <p:cNvSpPr>
              <a:spLocks/>
            </p:cNvSpPr>
            <p:nvPr/>
          </p:nvSpPr>
          <p:spPr bwMode="auto">
            <a:xfrm>
              <a:off x="-1027113" y="3870325"/>
              <a:ext cx="74613" cy="187325"/>
            </a:xfrm>
            <a:custGeom>
              <a:avLst/>
              <a:gdLst>
                <a:gd name="T0" fmla="*/ 33 w 47"/>
                <a:gd name="T1" fmla="*/ 0 h 118"/>
                <a:gd name="T2" fmla="*/ 47 w 47"/>
                <a:gd name="T3" fmla="*/ 45 h 118"/>
                <a:gd name="T4" fmla="*/ 23 w 47"/>
                <a:gd name="T5" fmla="*/ 118 h 118"/>
                <a:gd name="T6" fmla="*/ 0 w 47"/>
                <a:gd name="T7" fmla="*/ 45 h 118"/>
                <a:gd name="T8" fmla="*/ 14 w 47"/>
                <a:gd name="T9" fmla="*/ 0 h 118"/>
                <a:gd name="T10" fmla="*/ 23 w 47"/>
                <a:gd name="T11" fmla="*/ 0 h 118"/>
                <a:gd name="T12" fmla="*/ 33 w 47"/>
                <a:gd name="T13" fmla="*/ 0 h 118"/>
                <a:gd name="T14" fmla="*/ 33 w 47"/>
                <a:gd name="T15" fmla="*/ 0 h 1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118">
                  <a:moveTo>
                    <a:pt x="33" y="0"/>
                  </a:moveTo>
                  <a:lnTo>
                    <a:pt x="47" y="45"/>
                  </a:lnTo>
                  <a:lnTo>
                    <a:pt x="23" y="118"/>
                  </a:lnTo>
                  <a:lnTo>
                    <a:pt x="0" y="45"/>
                  </a:lnTo>
                  <a:lnTo>
                    <a:pt x="14" y="0"/>
                  </a:lnTo>
                  <a:lnTo>
                    <a:pt x="23" y="0"/>
                  </a:lnTo>
                  <a:lnTo>
                    <a:pt x="33" y="0"/>
                  </a:lnTo>
                  <a:lnTo>
                    <a:pt x="33" y="0"/>
                  </a:lnTo>
                  <a:close/>
                </a:path>
              </a:pathLst>
            </a:custGeom>
            <a:grpFill/>
            <a:ln w="9525">
              <a:noFill/>
              <a:round/>
              <a:headEnd/>
              <a:tailEnd/>
            </a:ln>
          </p:spPr>
          <p:txBody>
            <a:bodyPr vert="horz" wrap="square" lIns="62345" tIns="31173" rIns="62345" bIns="31173"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368" b="0" i="0" u="none" strike="noStrike" kern="1200" cap="none" spc="0" normalizeH="0" baseline="0" noProof="0">
                <a:ln>
                  <a:noFill/>
                </a:ln>
                <a:solidFill>
                  <a:prstClr val="white"/>
                </a:solidFill>
                <a:effectLst/>
                <a:uLnTx/>
                <a:uFillTx/>
                <a:latin typeface="Poppins" pitchFamily="2" charset="77"/>
                <a:ea typeface="+mn-ea"/>
                <a:cs typeface="Poppins" pitchFamily="2" charset="77"/>
              </a:endParaRPr>
            </a:p>
          </p:txBody>
        </p:sp>
        <p:sp>
          <p:nvSpPr>
            <p:cNvPr id="90" name="Freeform 10">
              <a:extLst>
                <a:ext uri="{FF2B5EF4-FFF2-40B4-BE49-F238E27FC236}">
                  <a16:creationId xmlns:a16="http://schemas.microsoft.com/office/drawing/2014/main" id="{0807218C-211B-F42D-E845-421C3E6430BE}"/>
                </a:ext>
              </a:extLst>
            </p:cNvPr>
            <p:cNvSpPr>
              <a:spLocks/>
            </p:cNvSpPr>
            <p:nvPr/>
          </p:nvSpPr>
          <p:spPr bwMode="auto">
            <a:xfrm>
              <a:off x="-1327150" y="3798888"/>
              <a:ext cx="674688" cy="528638"/>
            </a:xfrm>
            <a:custGeom>
              <a:avLst/>
              <a:gdLst>
                <a:gd name="T0" fmla="*/ 0 w 180"/>
                <a:gd name="T1" fmla="*/ 51 h 141"/>
                <a:gd name="T2" fmla="*/ 56 w 180"/>
                <a:gd name="T3" fmla="*/ 0 h 141"/>
                <a:gd name="T4" fmla="*/ 90 w 180"/>
                <a:gd name="T5" fmla="*/ 102 h 141"/>
                <a:gd name="T6" fmla="*/ 124 w 180"/>
                <a:gd name="T7" fmla="*/ 0 h 141"/>
                <a:gd name="T8" fmla="*/ 180 w 180"/>
                <a:gd name="T9" fmla="*/ 51 h 141"/>
                <a:gd name="T10" fmla="*/ 180 w 180"/>
                <a:gd name="T11" fmla="*/ 82 h 141"/>
                <a:gd name="T12" fmla="*/ 92 w 180"/>
                <a:gd name="T13" fmla="*/ 141 h 141"/>
                <a:gd name="T14" fmla="*/ 88 w 180"/>
                <a:gd name="T15" fmla="*/ 141 h 141"/>
                <a:gd name="T16" fmla="*/ 0 w 180"/>
                <a:gd name="T17" fmla="*/ 82 h 141"/>
                <a:gd name="T18" fmla="*/ 0 w 180"/>
                <a:gd name="T19" fmla="*/ 51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0" h="141">
                  <a:moveTo>
                    <a:pt x="0" y="51"/>
                  </a:moveTo>
                  <a:cubicBezTo>
                    <a:pt x="0" y="19"/>
                    <a:pt x="31" y="6"/>
                    <a:pt x="56" y="0"/>
                  </a:cubicBezTo>
                  <a:cubicBezTo>
                    <a:pt x="90" y="102"/>
                    <a:pt x="90" y="102"/>
                    <a:pt x="90" y="102"/>
                  </a:cubicBezTo>
                  <a:cubicBezTo>
                    <a:pt x="124" y="0"/>
                    <a:pt x="124" y="0"/>
                    <a:pt x="124" y="0"/>
                  </a:cubicBezTo>
                  <a:cubicBezTo>
                    <a:pt x="150" y="6"/>
                    <a:pt x="180" y="19"/>
                    <a:pt x="180" y="51"/>
                  </a:cubicBezTo>
                  <a:cubicBezTo>
                    <a:pt x="180" y="82"/>
                    <a:pt x="180" y="82"/>
                    <a:pt x="180" y="82"/>
                  </a:cubicBezTo>
                  <a:cubicBezTo>
                    <a:pt x="180" y="82"/>
                    <a:pt x="170" y="141"/>
                    <a:pt x="92" y="141"/>
                  </a:cubicBezTo>
                  <a:cubicBezTo>
                    <a:pt x="88" y="141"/>
                    <a:pt x="88" y="141"/>
                    <a:pt x="88" y="141"/>
                  </a:cubicBezTo>
                  <a:cubicBezTo>
                    <a:pt x="10" y="141"/>
                    <a:pt x="0" y="82"/>
                    <a:pt x="0" y="82"/>
                  </a:cubicBezTo>
                  <a:cubicBezTo>
                    <a:pt x="0" y="51"/>
                    <a:pt x="0" y="51"/>
                    <a:pt x="0" y="51"/>
                  </a:cubicBezTo>
                  <a:close/>
                </a:path>
              </a:pathLst>
            </a:custGeom>
            <a:grpFill/>
            <a:ln w="9525">
              <a:noFill/>
              <a:round/>
              <a:headEnd/>
              <a:tailEnd/>
            </a:ln>
          </p:spPr>
          <p:txBody>
            <a:bodyPr vert="horz" wrap="square" lIns="62345" tIns="31173" rIns="62345" bIns="31173"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368" b="0" i="0" u="none" strike="noStrike" kern="1200" cap="none" spc="0" normalizeH="0" baseline="0" noProof="0">
                <a:ln>
                  <a:noFill/>
                </a:ln>
                <a:solidFill>
                  <a:prstClr val="white"/>
                </a:solidFill>
                <a:effectLst/>
                <a:uLnTx/>
                <a:uFillTx/>
                <a:latin typeface="Poppins" pitchFamily="2" charset="77"/>
                <a:ea typeface="+mn-ea"/>
                <a:cs typeface="Poppins" pitchFamily="2" charset="77"/>
              </a:endParaRPr>
            </a:p>
          </p:txBody>
        </p:sp>
        <p:sp>
          <p:nvSpPr>
            <p:cNvPr id="91" name="Freeform 11">
              <a:extLst>
                <a:ext uri="{FF2B5EF4-FFF2-40B4-BE49-F238E27FC236}">
                  <a16:creationId xmlns:a16="http://schemas.microsoft.com/office/drawing/2014/main" id="{DCFE87EA-EA3A-7AA6-709F-47C1044AD564}"/>
                </a:ext>
              </a:extLst>
            </p:cNvPr>
            <p:cNvSpPr>
              <a:spLocks/>
            </p:cNvSpPr>
            <p:nvPr/>
          </p:nvSpPr>
          <p:spPr bwMode="auto">
            <a:xfrm>
              <a:off x="-2146300" y="3295650"/>
              <a:ext cx="473075" cy="371475"/>
            </a:xfrm>
            <a:custGeom>
              <a:avLst/>
              <a:gdLst>
                <a:gd name="T0" fmla="*/ 126 w 126"/>
                <a:gd name="T1" fmla="*/ 36 h 99"/>
                <a:gd name="T2" fmla="*/ 126 w 126"/>
                <a:gd name="T3" fmla="*/ 58 h 99"/>
                <a:gd name="T4" fmla="*/ 64 w 126"/>
                <a:gd name="T5" fmla="*/ 99 h 99"/>
                <a:gd name="T6" fmla="*/ 61 w 126"/>
                <a:gd name="T7" fmla="*/ 99 h 99"/>
                <a:gd name="T8" fmla="*/ 0 w 126"/>
                <a:gd name="T9" fmla="*/ 58 h 99"/>
                <a:gd name="T10" fmla="*/ 0 w 126"/>
                <a:gd name="T11" fmla="*/ 36 h 99"/>
                <a:gd name="T12" fmla="*/ 39 w 126"/>
                <a:gd name="T13" fmla="*/ 0 h 99"/>
                <a:gd name="T14" fmla="*/ 63 w 126"/>
                <a:gd name="T15" fmla="*/ 72 h 99"/>
                <a:gd name="T16" fmla="*/ 87 w 126"/>
                <a:gd name="T17" fmla="*/ 0 h 99"/>
                <a:gd name="T18" fmla="*/ 126 w 126"/>
                <a:gd name="T19" fmla="*/ 36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6" h="99">
                  <a:moveTo>
                    <a:pt x="126" y="36"/>
                  </a:moveTo>
                  <a:cubicBezTo>
                    <a:pt x="126" y="58"/>
                    <a:pt x="126" y="58"/>
                    <a:pt x="126" y="58"/>
                  </a:cubicBezTo>
                  <a:cubicBezTo>
                    <a:pt x="126" y="58"/>
                    <a:pt x="119" y="99"/>
                    <a:pt x="64" y="99"/>
                  </a:cubicBezTo>
                  <a:cubicBezTo>
                    <a:pt x="61" y="99"/>
                    <a:pt x="61" y="99"/>
                    <a:pt x="61" y="99"/>
                  </a:cubicBezTo>
                  <a:cubicBezTo>
                    <a:pt x="7" y="99"/>
                    <a:pt x="0" y="58"/>
                    <a:pt x="0" y="58"/>
                  </a:cubicBezTo>
                  <a:cubicBezTo>
                    <a:pt x="0" y="36"/>
                    <a:pt x="0" y="36"/>
                    <a:pt x="0" y="36"/>
                  </a:cubicBezTo>
                  <a:cubicBezTo>
                    <a:pt x="0" y="14"/>
                    <a:pt x="21" y="4"/>
                    <a:pt x="39" y="0"/>
                  </a:cubicBezTo>
                  <a:cubicBezTo>
                    <a:pt x="63" y="72"/>
                    <a:pt x="63" y="72"/>
                    <a:pt x="63" y="72"/>
                  </a:cubicBezTo>
                  <a:cubicBezTo>
                    <a:pt x="87" y="0"/>
                    <a:pt x="87" y="0"/>
                    <a:pt x="87" y="0"/>
                  </a:cubicBezTo>
                  <a:cubicBezTo>
                    <a:pt x="104" y="4"/>
                    <a:pt x="126" y="14"/>
                    <a:pt x="126" y="36"/>
                  </a:cubicBezTo>
                  <a:close/>
                </a:path>
              </a:pathLst>
            </a:custGeom>
            <a:grpFill/>
            <a:ln w="9525">
              <a:noFill/>
              <a:round/>
              <a:headEnd/>
              <a:tailEnd/>
            </a:ln>
          </p:spPr>
          <p:txBody>
            <a:bodyPr vert="horz" wrap="square" lIns="62345" tIns="31173" rIns="62345" bIns="31173"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368" b="0" i="0" u="none" strike="noStrike" kern="1200" cap="none" spc="0" normalizeH="0" baseline="0" noProof="0">
                <a:ln>
                  <a:noFill/>
                </a:ln>
                <a:solidFill>
                  <a:prstClr val="white"/>
                </a:solidFill>
                <a:effectLst/>
                <a:uLnTx/>
                <a:uFillTx/>
                <a:latin typeface="Poppins" pitchFamily="2" charset="77"/>
                <a:ea typeface="+mn-ea"/>
                <a:cs typeface="Poppins" pitchFamily="2" charset="77"/>
              </a:endParaRPr>
            </a:p>
          </p:txBody>
        </p:sp>
        <p:sp>
          <p:nvSpPr>
            <p:cNvPr id="92" name="Freeform 12">
              <a:extLst>
                <a:ext uri="{FF2B5EF4-FFF2-40B4-BE49-F238E27FC236}">
                  <a16:creationId xmlns:a16="http://schemas.microsoft.com/office/drawing/2014/main" id="{C682B633-671A-2348-5FA7-EA94876F2EBD}"/>
                </a:ext>
              </a:extLst>
            </p:cNvPr>
            <p:cNvSpPr>
              <a:spLocks/>
            </p:cNvSpPr>
            <p:nvPr/>
          </p:nvSpPr>
          <p:spPr bwMode="auto">
            <a:xfrm>
              <a:off x="-1939925" y="3349625"/>
              <a:ext cx="57150" cy="127000"/>
            </a:xfrm>
            <a:custGeom>
              <a:avLst/>
              <a:gdLst>
                <a:gd name="T0" fmla="*/ 26 w 36"/>
                <a:gd name="T1" fmla="*/ 0 h 80"/>
                <a:gd name="T2" fmla="*/ 36 w 36"/>
                <a:gd name="T3" fmla="*/ 30 h 80"/>
                <a:gd name="T4" fmla="*/ 19 w 36"/>
                <a:gd name="T5" fmla="*/ 80 h 80"/>
                <a:gd name="T6" fmla="*/ 0 w 36"/>
                <a:gd name="T7" fmla="*/ 30 h 80"/>
                <a:gd name="T8" fmla="*/ 12 w 36"/>
                <a:gd name="T9" fmla="*/ 0 h 80"/>
                <a:gd name="T10" fmla="*/ 19 w 36"/>
                <a:gd name="T11" fmla="*/ 0 h 80"/>
                <a:gd name="T12" fmla="*/ 26 w 36"/>
                <a:gd name="T13" fmla="*/ 0 h 80"/>
                <a:gd name="T14" fmla="*/ 26 w 36"/>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80">
                  <a:moveTo>
                    <a:pt x="26" y="0"/>
                  </a:moveTo>
                  <a:lnTo>
                    <a:pt x="36" y="30"/>
                  </a:lnTo>
                  <a:lnTo>
                    <a:pt x="19" y="80"/>
                  </a:lnTo>
                  <a:lnTo>
                    <a:pt x="0" y="30"/>
                  </a:lnTo>
                  <a:lnTo>
                    <a:pt x="12" y="0"/>
                  </a:lnTo>
                  <a:lnTo>
                    <a:pt x="19" y="0"/>
                  </a:lnTo>
                  <a:lnTo>
                    <a:pt x="26" y="0"/>
                  </a:lnTo>
                  <a:lnTo>
                    <a:pt x="26" y="0"/>
                  </a:lnTo>
                  <a:close/>
                </a:path>
              </a:pathLst>
            </a:custGeom>
            <a:grpFill/>
            <a:ln w="9525">
              <a:noFill/>
              <a:round/>
              <a:headEnd/>
              <a:tailEnd/>
            </a:ln>
          </p:spPr>
          <p:txBody>
            <a:bodyPr vert="horz" wrap="square" lIns="62345" tIns="31173" rIns="62345" bIns="31173"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368" b="0" i="0" u="none" strike="noStrike" kern="1200" cap="none" spc="0" normalizeH="0" baseline="0" noProof="0">
                <a:ln>
                  <a:noFill/>
                </a:ln>
                <a:solidFill>
                  <a:prstClr val="white"/>
                </a:solidFill>
                <a:effectLst/>
                <a:uLnTx/>
                <a:uFillTx/>
                <a:latin typeface="Poppins" pitchFamily="2" charset="77"/>
                <a:ea typeface="+mn-ea"/>
                <a:cs typeface="Poppins" pitchFamily="2" charset="77"/>
              </a:endParaRPr>
            </a:p>
          </p:txBody>
        </p:sp>
        <p:sp>
          <p:nvSpPr>
            <p:cNvPr id="93" name="Freeform 13">
              <a:extLst>
                <a:ext uri="{FF2B5EF4-FFF2-40B4-BE49-F238E27FC236}">
                  <a16:creationId xmlns:a16="http://schemas.microsoft.com/office/drawing/2014/main" id="{7B97FCF1-2159-8354-817E-F8C398D75BF5}"/>
                </a:ext>
              </a:extLst>
            </p:cNvPr>
            <p:cNvSpPr>
              <a:spLocks/>
            </p:cNvSpPr>
            <p:nvPr/>
          </p:nvSpPr>
          <p:spPr bwMode="auto">
            <a:xfrm>
              <a:off x="-2017713" y="3067050"/>
              <a:ext cx="214313" cy="244475"/>
            </a:xfrm>
            <a:custGeom>
              <a:avLst/>
              <a:gdLst>
                <a:gd name="T0" fmla="*/ 53 w 57"/>
                <a:gd name="T1" fmla="*/ 27 h 65"/>
                <a:gd name="T2" fmla="*/ 56 w 57"/>
                <a:gd name="T3" fmla="*/ 35 h 65"/>
                <a:gd name="T4" fmla="*/ 52 w 57"/>
                <a:gd name="T5" fmla="*/ 42 h 65"/>
                <a:gd name="T6" fmla="*/ 29 w 57"/>
                <a:gd name="T7" fmla="*/ 65 h 65"/>
                <a:gd name="T8" fmla="*/ 5 w 57"/>
                <a:gd name="T9" fmla="*/ 42 h 65"/>
                <a:gd name="T10" fmla="*/ 1 w 57"/>
                <a:gd name="T11" fmla="*/ 35 h 65"/>
                <a:gd name="T12" fmla="*/ 4 w 57"/>
                <a:gd name="T13" fmla="*/ 27 h 65"/>
                <a:gd name="T14" fmla="*/ 29 w 57"/>
                <a:gd name="T15" fmla="*/ 0 h 65"/>
                <a:gd name="T16" fmla="*/ 53 w 57"/>
                <a:gd name="T17" fmla="*/ 27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65">
                  <a:moveTo>
                    <a:pt x="53" y="27"/>
                  </a:moveTo>
                  <a:cubicBezTo>
                    <a:pt x="55" y="28"/>
                    <a:pt x="57" y="29"/>
                    <a:pt x="56" y="35"/>
                  </a:cubicBezTo>
                  <a:cubicBezTo>
                    <a:pt x="55" y="40"/>
                    <a:pt x="54" y="41"/>
                    <a:pt x="52" y="42"/>
                  </a:cubicBezTo>
                  <a:cubicBezTo>
                    <a:pt x="48" y="55"/>
                    <a:pt x="36" y="65"/>
                    <a:pt x="29" y="65"/>
                  </a:cubicBezTo>
                  <a:cubicBezTo>
                    <a:pt x="22" y="65"/>
                    <a:pt x="9" y="55"/>
                    <a:pt x="5" y="42"/>
                  </a:cubicBezTo>
                  <a:cubicBezTo>
                    <a:pt x="4" y="42"/>
                    <a:pt x="2" y="40"/>
                    <a:pt x="1" y="35"/>
                  </a:cubicBezTo>
                  <a:cubicBezTo>
                    <a:pt x="0" y="29"/>
                    <a:pt x="2" y="28"/>
                    <a:pt x="4" y="27"/>
                  </a:cubicBezTo>
                  <a:cubicBezTo>
                    <a:pt x="5" y="12"/>
                    <a:pt x="11" y="0"/>
                    <a:pt x="29" y="0"/>
                  </a:cubicBezTo>
                  <a:cubicBezTo>
                    <a:pt x="46" y="0"/>
                    <a:pt x="52" y="12"/>
                    <a:pt x="53" y="27"/>
                  </a:cubicBezTo>
                  <a:close/>
                </a:path>
              </a:pathLst>
            </a:custGeom>
            <a:grpFill/>
            <a:ln w="9525">
              <a:noFill/>
              <a:round/>
              <a:headEnd/>
              <a:tailEnd/>
            </a:ln>
          </p:spPr>
          <p:txBody>
            <a:bodyPr vert="horz" wrap="square" lIns="62345" tIns="31173" rIns="62345" bIns="31173"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368" b="0" i="0" u="none" strike="noStrike" kern="1200" cap="none" spc="0" normalizeH="0" baseline="0" noProof="0">
                <a:ln>
                  <a:noFill/>
                </a:ln>
                <a:solidFill>
                  <a:prstClr val="white"/>
                </a:solidFill>
                <a:effectLst/>
                <a:uLnTx/>
                <a:uFillTx/>
                <a:latin typeface="Poppins" pitchFamily="2" charset="77"/>
                <a:ea typeface="+mn-ea"/>
                <a:cs typeface="Poppins" pitchFamily="2" charset="77"/>
              </a:endParaRPr>
            </a:p>
          </p:txBody>
        </p:sp>
        <p:sp>
          <p:nvSpPr>
            <p:cNvPr id="94" name="Freeform 14">
              <a:extLst>
                <a:ext uri="{FF2B5EF4-FFF2-40B4-BE49-F238E27FC236}">
                  <a16:creationId xmlns:a16="http://schemas.microsoft.com/office/drawing/2014/main" id="{447CFFCA-B1FF-D983-3D7B-0CF0980CE71B}"/>
                </a:ext>
              </a:extLst>
            </p:cNvPr>
            <p:cNvSpPr>
              <a:spLocks/>
            </p:cNvSpPr>
            <p:nvPr/>
          </p:nvSpPr>
          <p:spPr bwMode="auto">
            <a:xfrm>
              <a:off x="-2644775" y="2681288"/>
              <a:ext cx="1309688" cy="1450975"/>
            </a:xfrm>
            <a:custGeom>
              <a:avLst/>
              <a:gdLst>
                <a:gd name="T0" fmla="*/ 223 w 349"/>
                <a:gd name="T1" fmla="*/ 356 h 387"/>
                <a:gd name="T2" fmla="*/ 223 w 349"/>
                <a:gd name="T3" fmla="*/ 378 h 387"/>
                <a:gd name="T4" fmla="*/ 214 w 349"/>
                <a:gd name="T5" fmla="*/ 387 h 387"/>
                <a:gd name="T6" fmla="*/ 174 w 349"/>
                <a:gd name="T7" fmla="*/ 387 h 387"/>
                <a:gd name="T8" fmla="*/ 165 w 349"/>
                <a:gd name="T9" fmla="*/ 378 h 387"/>
                <a:gd name="T10" fmla="*/ 165 w 349"/>
                <a:gd name="T11" fmla="*/ 356 h 387"/>
                <a:gd name="T12" fmla="*/ 100 w 349"/>
                <a:gd name="T13" fmla="*/ 329 h 387"/>
                <a:gd name="T14" fmla="*/ 84 w 349"/>
                <a:gd name="T15" fmla="*/ 345 h 387"/>
                <a:gd name="T16" fmla="*/ 71 w 349"/>
                <a:gd name="T17" fmla="*/ 345 h 387"/>
                <a:gd name="T18" fmla="*/ 43 w 349"/>
                <a:gd name="T19" fmla="*/ 316 h 387"/>
                <a:gd name="T20" fmla="*/ 43 w 349"/>
                <a:gd name="T21" fmla="*/ 304 h 387"/>
                <a:gd name="T22" fmla="*/ 59 w 349"/>
                <a:gd name="T23" fmla="*/ 288 h 387"/>
                <a:gd name="T24" fmla="*/ 32 w 349"/>
                <a:gd name="T25" fmla="*/ 222 h 387"/>
                <a:gd name="T26" fmla="*/ 9 w 349"/>
                <a:gd name="T27" fmla="*/ 222 h 387"/>
                <a:gd name="T28" fmla="*/ 0 w 349"/>
                <a:gd name="T29" fmla="*/ 213 h 387"/>
                <a:gd name="T30" fmla="*/ 0 w 349"/>
                <a:gd name="T31" fmla="*/ 173 h 387"/>
                <a:gd name="T32" fmla="*/ 9 w 349"/>
                <a:gd name="T33" fmla="*/ 165 h 387"/>
                <a:gd name="T34" fmla="*/ 32 w 349"/>
                <a:gd name="T35" fmla="*/ 165 h 387"/>
                <a:gd name="T36" fmla="*/ 59 w 349"/>
                <a:gd name="T37" fmla="*/ 99 h 387"/>
                <a:gd name="T38" fmla="*/ 43 w 349"/>
                <a:gd name="T39" fmla="*/ 83 h 387"/>
                <a:gd name="T40" fmla="*/ 43 w 349"/>
                <a:gd name="T41" fmla="*/ 71 h 387"/>
                <a:gd name="T42" fmla="*/ 71 w 349"/>
                <a:gd name="T43" fmla="*/ 42 h 387"/>
                <a:gd name="T44" fmla="*/ 84 w 349"/>
                <a:gd name="T45" fmla="*/ 42 h 387"/>
                <a:gd name="T46" fmla="*/ 100 w 349"/>
                <a:gd name="T47" fmla="*/ 58 h 387"/>
                <a:gd name="T48" fmla="*/ 165 w 349"/>
                <a:gd name="T49" fmla="*/ 31 h 387"/>
                <a:gd name="T50" fmla="*/ 165 w 349"/>
                <a:gd name="T51" fmla="*/ 8 h 387"/>
                <a:gd name="T52" fmla="*/ 174 w 349"/>
                <a:gd name="T53" fmla="*/ 0 h 387"/>
                <a:gd name="T54" fmla="*/ 214 w 349"/>
                <a:gd name="T55" fmla="*/ 0 h 387"/>
                <a:gd name="T56" fmla="*/ 223 w 349"/>
                <a:gd name="T57" fmla="*/ 8 h 387"/>
                <a:gd name="T58" fmla="*/ 223 w 349"/>
                <a:gd name="T59" fmla="*/ 31 h 387"/>
                <a:gd name="T60" fmla="*/ 288 w 349"/>
                <a:gd name="T61" fmla="*/ 58 h 387"/>
                <a:gd name="T62" fmla="*/ 304 w 349"/>
                <a:gd name="T63" fmla="*/ 42 h 387"/>
                <a:gd name="T64" fmla="*/ 317 w 349"/>
                <a:gd name="T65" fmla="*/ 42 h 387"/>
                <a:gd name="T66" fmla="*/ 345 w 349"/>
                <a:gd name="T67" fmla="*/ 71 h 387"/>
                <a:gd name="T68" fmla="*/ 345 w 349"/>
                <a:gd name="T69" fmla="*/ 83 h 387"/>
                <a:gd name="T70" fmla="*/ 329 w 349"/>
                <a:gd name="T71" fmla="*/ 99 h 387"/>
                <a:gd name="T72" fmla="*/ 348 w 349"/>
                <a:gd name="T73" fmla="*/ 135 h 387"/>
                <a:gd name="T74" fmla="*/ 320 w 349"/>
                <a:gd name="T75" fmla="*/ 155 h 387"/>
                <a:gd name="T76" fmla="*/ 194 w 349"/>
                <a:gd name="T77" fmla="*/ 62 h 387"/>
                <a:gd name="T78" fmla="*/ 62 w 349"/>
                <a:gd name="T79" fmla="*/ 193 h 387"/>
                <a:gd name="T80" fmla="*/ 194 w 349"/>
                <a:gd name="T81" fmla="*/ 325 h 387"/>
                <a:gd name="T82" fmla="*/ 241 w 349"/>
                <a:gd name="T83" fmla="*/ 316 h 387"/>
                <a:gd name="T84" fmla="*/ 241 w 349"/>
                <a:gd name="T85" fmla="*/ 325 h 387"/>
                <a:gd name="T86" fmla="*/ 242 w 349"/>
                <a:gd name="T87" fmla="*/ 351 h 387"/>
                <a:gd name="T88" fmla="*/ 223 w 349"/>
                <a:gd name="T89" fmla="*/ 356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49" h="387">
                  <a:moveTo>
                    <a:pt x="223" y="356"/>
                  </a:moveTo>
                  <a:cubicBezTo>
                    <a:pt x="223" y="378"/>
                    <a:pt x="223" y="378"/>
                    <a:pt x="223" y="378"/>
                  </a:cubicBezTo>
                  <a:cubicBezTo>
                    <a:pt x="223" y="383"/>
                    <a:pt x="219" y="387"/>
                    <a:pt x="214" y="387"/>
                  </a:cubicBezTo>
                  <a:cubicBezTo>
                    <a:pt x="174" y="387"/>
                    <a:pt x="174" y="387"/>
                    <a:pt x="174" y="387"/>
                  </a:cubicBezTo>
                  <a:cubicBezTo>
                    <a:pt x="169" y="387"/>
                    <a:pt x="165" y="383"/>
                    <a:pt x="165" y="378"/>
                  </a:cubicBezTo>
                  <a:cubicBezTo>
                    <a:pt x="165" y="356"/>
                    <a:pt x="165" y="356"/>
                    <a:pt x="165" y="356"/>
                  </a:cubicBezTo>
                  <a:cubicBezTo>
                    <a:pt x="141" y="352"/>
                    <a:pt x="119" y="342"/>
                    <a:pt x="100" y="329"/>
                  </a:cubicBezTo>
                  <a:cubicBezTo>
                    <a:pt x="84" y="345"/>
                    <a:pt x="84" y="345"/>
                    <a:pt x="84" y="345"/>
                  </a:cubicBezTo>
                  <a:cubicBezTo>
                    <a:pt x="80" y="348"/>
                    <a:pt x="74" y="348"/>
                    <a:pt x="71" y="345"/>
                  </a:cubicBezTo>
                  <a:cubicBezTo>
                    <a:pt x="43" y="316"/>
                    <a:pt x="43" y="316"/>
                    <a:pt x="43" y="316"/>
                  </a:cubicBezTo>
                  <a:cubicBezTo>
                    <a:pt x="39" y="313"/>
                    <a:pt x="39" y="307"/>
                    <a:pt x="43" y="304"/>
                  </a:cubicBezTo>
                  <a:cubicBezTo>
                    <a:pt x="59" y="288"/>
                    <a:pt x="59" y="288"/>
                    <a:pt x="59" y="288"/>
                  </a:cubicBezTo>
                  <a:cubicBezTo>
                    <a:pt x="45" y="269"/>
                    <a:pt x="36" y="246"/>
                    <a:pt x="32" y="222"/>
                  </a:cubicBezTo>
                  <a:cubicBezTo>
                    <a:pt x="9" y="222"/>
                    <a:pt x="9" y="222"/>
                    <a:pt x="9" y="222"/>
                  </a:cubicBezTo>
                  <a:cubicBezTo>
                    <a:pt x="4" y="222"/>
                    <a:pt x="0" y="218"/>
                    <a:pt x="0" y="213"/>
                  </a:cubicBezTo>
                  <a:cubicBezTo>
                    <a:pt x="0" y="173"/>
                    <a:pt x="0" y="173"/>
                    <a:pt x="0" y="173"/>
                  </a:cubicBezTo>
                  <a:cubicBezTo>
                    <a:pt x="0" y="168"/>
                    <a:pt x="4" y="165"/>
                    <a:pt x="9" y="165"/>
                  </a:cubicBezTo>
                  <a:cubicBezTo>
                    <a:pt x="32" y="165"/>
                    <a:pt x="32" y="165"/>
                    <a:pt x="32" y="165"/>
                  </a:cubicBezTo>
                  <a:cubicBezTo>
                    <a:pt x="36" y="141"/>
                    <a:pt x="45" y="118"/>
                    <a:pt x="59" y="99"/>
                  </a:cubicBezTo>
                  <a:cubicBezTo>
                    <a:pt x="43" y="83"/>
                    <a:pt x="43" y="83"/>
                    <a:pt x="43" y="83"/>
                  </a:cubicBezTo>
                  <a:cubicBezTo>
                    <a:pt x="39" y="80"/>
                    <a:pt x="39" y="74"/>
                    <a:pt x="43" y="71"/>
                  </a:cubicBezTo>
                  <a:cubicBezTo>
                    <a:pt x="71" y="42"/>
                    <a:pt x="71" y="42"/>
                    <a:pt x="71" y="42"/>
                  </a:cubicBezTo>
                  <a:cubicBezTo>
                    <a:pt x="74" y="39"/>
                    <a:pt x="80" y="39"/>
                    <a:pt x="84" y="42"/>
                  </a:cubicBezTo>
                  <a:cubicBezTo>
                    <a:pt x="100" y="58"/>
                    <a:pt x="100" y="58"/>
                    <a:pt x="100" y="58"/>
                  </a:cubicBezTo>
                  <a:cubicBezTo>
                    <a:pt x="119" y="45"/>
                    <a:pt x="141" y="35"/>
                    <a:pt x="165" y="31"/>
                  </a:cubicBezTo>
                  <a:cubicBezTo>
                    <a:pt x="165" y="8"/>
                    <a:pt x="165" y="8"/>
                    <a:pt x="165" y="8"/>
                  </a:cubicBezTo>
                  <a:cubicBezTo>
                    <a:pt x="165" y="4"/>
                    <a:pt x="169" y="0"/>
                    <a:pt x="174" y="0"/>
                  </a:cubicBezTo>
                  <a:cubicBezTo>
                    <a:pt x="214" y="0"/>
                    <a:pt x="214" y="0"/>
                    <a:pt x="214" y="0"/>
                  </a:cubicBezTo>
                  <a:cubicBezTo>
                    <a:pt x="219" y="0"/>
                    <a:pt x="223" y="4"/>
                    <a:pt x="223" y="8"/>
                  </a:cubicBezTo>
                  <a:cubicBezTo>
                    <a:pt x="223" y="31"/>
                    <a:pt x="223" y="31"/>
                    <a:pt x="223" y="31"/>
                  </a:cubicBezTo>
                  <a:cubicBezTo>
                    <a:pt x="247" y="35"/>
                    <a:pt x="269" y="45"/>
                    <a:pt x="288" y="58"/>
                  </a:cubicBezTo>
                  <a:cubicBezTo>
                    <a:pt x="304" y="42"/>
                    <a:pt x="304" y="42"/>
                    <a:pt x="304" y="42"/>
                  </a:cubicBezTo>
                  <a:cubicBezTo>
                    <a:pt x="308" y="39"/>
                    <a:pt x="313" y="39"/>
                    <a:pt x="317" y="42"/>
                  </a:cubicBezTo>
                  <a:cubicBezTo>
                    <a:pt x="345" y="71"/>
                    <a:pt x="345" y="71"/>
                    <a:pt x="345" y="71"/>
                  </a:cubicBezTo>
                  <a:cubicBezTo>
                    <a:pt x="349" y="74"/>
                    <a:pt x="349" y="80"/>
                    <a:pt x="345" y="83"/>
                  </a:cubicBezTo>
                  <a:cubicBezTo>
                    <a:pt x="329" y="99"/>
                    <a:pt x="329" y="99"/>
                    <a:pt x="329" y="99"/>
                  </a:cubicBezTo>
                  <a:cubicBezTo>
                    <a:pt x="337" y="110"/>
                    <a:pt x="343" y="122"/>
                    <a:pt x="348" y="135"/>
                  </a:cubicBezTo>
                  <a:cubicBezTo>
                    <a:pt x="338" y="141"/>
                    <a:pt x="329" y="148"/>
                    <a:pt x="320" y="155"/>
                  </a:cubicBezTo>
                  <a:cubicBezTo>
                    <a:pt x="303" y="101"/>
                    <a:pt x="253" y="62"/>
                    <a:pt x="194" y="62"/>
                  </a:cubicBezTo>
                  <a:cubicBezTo>
                    <a:pt x="121" y="62"/>
                    <a:pt x="62" y="121"/>
                    <a:pt x="62" y="193"/>
                  </a:cubicBezTo>
                  <a:cubicBezTo>
                    <a:pt x="62" y="266"/>
                    <a:pt x="121" y="325"/>
                    <a:pt x="194" y="325"/>
                  </a:cubicBezTo>
                  <a:cubicBezTo>
                    <a:pt x="210" y="325"/>
                    <a:pt x="226" y="322"/>
                    <a:pt x="241" y="316"/>
                  </a:cubicBezTo>
                  <a:cubicBezTo>
                    <a:pt x="241" y="319"/>
                    <a:pt x="241" y="322"/>
                    <a:pt x="241" y="325"/>
                  </a:cubicBezTo>
                  <a:cubicBezTo>
                    <a:pt x="241" y="334"/>
                    <a:pt x="241" y="342"/>
                    <a:pt x="242" y="351"/>
                  </a:cubicBezTo>
                  <a:cubicBezTo>
                    <a:pt x="236" y="353"/>
                    <a:pt x="229" y="355"/>
                    <a:pt x="223" y="356"/>
                  </a:cubicBezTo>
                  <a:close/>
                </a:path>
              </a:pathLst>
            </a:custGeom>
            <a:grpFill/>
            <a:ln w="9525">
              <a:noFill/>
              <a:round/>
              <a:headEnd/>
              <a:tailEnd/>
            </a:ln>
          </p:spPr>
          <p:txBody>
            <a:bodyPr vert="horz" wrap="square" lIns="62345" tIns="31173" rIns="62345" bIns="31173"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368" b="0" i="0" u="none" strike="noStrike" kern="1200" cap="none" spc="0" normalizeH="0" baseline="0" noProof="0">
                <a:ln>
                  <a:noFill/>
                </a:ln>
                <a:solidFill>
                  <a:prstClr val="white"/>
                </a:solidFill>
                <a:effectLst/>
                <a:uLnTx/>
                <a:uFillTx/>
                <a:latin typeface="Poppins" pitchFamily="2" charset="77"/>
                <a:ea typeface="+mn-ea"/>
                <a:cs typeface="Poppins" pitchFamily="2" charset="77"/>
              </a:endParaRPr>
            </a:p>
          </p:txBody>
        </p:sp>
      </p:grpSp>
      <p:pic>
        <p:nvPicPr>
          <p:cNvPr id="111" name="Picture 2">
            <a:extLst>
              <a:ext uri="{FF2B5EF4-FFF2-40B4-BE49-F238E27FC236}">
                <a16:creationId xmlns:a16="http://schemas.microsoft.com/office/drawing/2014/main" id="{00B2E8F0-ADA9-0DE0-C27E-226492DD6DC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735419" y="4584684"/>
            <a:ext cx="466222" cy="510928"/>
          </a:xfrm>
          <a:prstGeom prst="rect">
            <a:avLst/>
          </a:prstGeom>
          <a:noFill/>
          <a:extLst>
            <a:ext uri="{909E8E84-426E-40DD-AFC4-6F175D3DCCD1}">
              <a14:hiddenFill xmlns:a14="http://schemas.microsoft.com/office/drawing/2010/main">
                <a:solidFill>
                  <a:srgbClr val="FFFFFF"/>
                </a:solidFill>
              </a14:hiddenFill>
            </a:ext>
          </a:extLst>
        </p:spPr>
      </p:pic>
      <p:pic>
        <p:nvPicPr>
          <p:cNvPr id="112" name="Picture 4" descr="Snowflake - Free weather icons">
            <a:extLst>
              <a:ext uri="{FF2B5EF4-FFF2-40B4-BE49-F238E27FC236}">
                <a16:creationId xmlns:a16="http://schemas.microsoft.com/office/drawing/2014/main" id="{5EE1A20D-7E36-54DB-DCDF-1DF19935BDE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341752" y="4535151"/>
            <a:ext cx="601405" cy="601405"/>
          </a:xfrm>
          <a:prstGeom prst="rect">
            <a:avLst/>
          </a:prstGeom>
          <a:noFill/>
          <a:extLst>
            <a:ext uri="{909E8E84-426E-40DD-AFC4-6F175D3DCCD1}">
              <a14:hiddenFill xmlns:a14="http://schemas.microsoft.com/office/drawing/2010/main">
                <a:solidFill>
                  <a:srgbClr val="FFFFFF"/>
                </a:solidFill>
              </a14:hiddenFill>
            </a:ext>
          </a:extLst>
        </p:spPr>
      </p:pic>
      <p:sp>
        <p:nvSpPr>
          <p:cNvPr id="113" name="TextBox 112">
            <a:extLst>
              <a:ext uri="{FF2B5EF4-FFF2-40B4-BE49-F238E27FC236}">
                <a16:creationId xmlns:a16="http://schemas.microsoft.com/office/drawing/2014/main" id="{1544824C-4511-3FF4-8109-0672C1E52D31}"/>
              </a:ext>
            </a:extLst>
          </p:cNvPr>
          <p:cNvSpPr txBox="1"/>
          <p:nvPr/>
        </p:nvSpPr>
        <p:spPr>
          <a:xfrm>
            <a:off x="10653004" y="5049630"/>
            <a:ext cx="667170"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2060"/>
                </a:solidFill>
                <a:effectLst/>
                <a:uLnTx/>
                <a:uFillTx/>
                <a:latin typeface="Poppins" pitchFamily="2" charset="77"/>
                <a:ea typeface="+mn-ea"/>
                <a:cs typeface="Poppins" pitchFamily="2" charset="77"/>
              </a:rPr>
              <a:t>Python</a:t>
            </a:r>
          </a:p>
        </p:txBody>
      </p:sp>
      <p:sp>
        <p:nvSpPr>
          <p:cNvPr id="114" name="TextBox 113">
            <a:extLst>
              <a:ext uri="{FF2B5EF4-FFF2-40B4-BE49-F238E27FC236}">
                <a16:creationId xmlns:a16="http://schemas.microsoft.com/office/drawing/2014/main" id="{9A169141-F11B-7B01-2C56-E195D4B29A20}"/>
              </a:ext>
            </a:extLst>
          </p:cNvPr>
          <p:cNvSpPr txBox="1"/>
          <p:nvPr/>
        </p:nvSpPr>
        <p:spPr>
          <a:xfrm>
            <a:off x="11273655" y="5058901"/>
            <a:ext cx="899605"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2060"/>
                </a:solidFill>
                <a:effectLst/>
                <a:uLnTx/>
                <a:uFillTx/>
                <a:latin typeface="Poppins" pitchFamily="2" charset="77"/>
                <a:ea typeface="+mn-ea"/>
                <a:cs typeface="Poppins" pitchFamily="2" charset="77"/>
              </a:rPr>
              <a:t>Snowflake</a:t>
            </a:r>
          </a:p>
        </p:txBody>
      </p:sp>
      <p:sp>
        <p:nvSpPr>
          <p:cNvPr id="115" name="TextBox 114">
            <a:extLst>
              <a:ext uri="{FF2B5EF4-FFF2-40B4-BE49-F238E27FC236}">
                <a16:creationId xmlns:a16="http://schemas.microsoft.com/office/drawing/2014/main" id="{B9DA967D-9D93-64B0-4E6A-6DE785DB233E}"/>
              </a:ext>
            </a:extLst>
          </p:cNvPr>
          <p:cNvSpPr txBox="1"/>
          <p:nvPr/>
        </p:nvSpPr>
        <p:spPr>
          <a:xfrm>
            <a:off x="394855" y="5689849"/>
            <a:ext cx="2036835" cy="646331"/>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400" b="1" i="0" u="none" strike="noStrike" kern="1200" cap="none" spc="0" normalizeH="0" baseline="0" noProof="0">
                <a:ln>
                  <a:noFill/>
                </a:ln>
                <a:solidFill>
                  <a:prstClr val="white"/>
                </a:solidFill>
                <a:effectLst/>
                <a:uLnTx/>
                <a:uFillTx/>
                <a:latin typeface="Poppins" pitchFamily="2" charset="77"/>
                <a:ea typeface="+mn-ea"/>
                <a:cs typeface="Poppins" pitchFamily="2" charset="77"/>
              </a:rPr>
              <a:t>REDUCTION IN LEAD QUALIFICATION TIME BY ~15%  </a:t>
            </a:r>
          </a:p>
        </p:txBody>
      </p:sp>
      <p:cxnSp>
        <p:nvCxnSpPr>
          <p:cNvPr id="118" name="Straight Connector 117">
            <a:extLst>
              <a:ext uri="{FF2B5EF4-FFF2-40B4-BE49-F238E27FC236}">
                <a16:creationId xmlns:a16="http://schemas.microsoft.com/office/drawing/2014/main" id="{1519F2EF-F3F0-1A01-17F9-5884D5744322}"/>
              </a:ext>
            </a:extLst>
          </p:cNvPr>
          <p:cNvCxnSpPr>
            <a:cxnSpLocks/>
          </p:cNvCxnSpPr>
          <p:nvPr/>
        </p:nvCxnSpPr>
        <p:spPr>
          <a:xfrm flipV="1">
            <a:off x="411714" y="5219440"/>
            <a:ext cx="2066377" cy="0"/>
          </a:xfrm>
          <a:prstGeom prst="line">
            <a:avLst/>
          </a:prstGeom>
          <a:ln>
            <a:solidFill>
              <a:srgbClr val="002E87"/>
            </a:solidFill>
          </a:ln>
        </p:spPr>
        <p:style>
          <a:lnRef idx="1">
            <a:schemeClr val="accent2"/>
          </a:lnRef>
          <a:fillRef idx="0">
            <a:schemeClr val="accent2"/>
          </a:fillRef>
          <a:effectRef idx="0">
            <a:schemeClr val="accent2"/>
          </a:effectRef>
          <a:fontRef idx="minor">
            <a:schemeClr val="tx1"/>
          </a:fontRef>
        </p:style>
      </p:cxnSp>
      <p:sp>
        <p:nvSpPr>
          <p:cNvPr id="129" name="TextBox 128">
            <a:extLst>
              <a:ext uri="{FF2B5EF4-FFF2-40B4-BE49-F238E27FC236}">
                <a16:creationId xmlns:a16="http://schemas.microsoft.com/office/drawing/2014/main" id="{C3B7CDB1-0F9F-037B-65BC-A2EC3BBC4375}"/>
              </a:ext>
            </a:extLst>
          </p:cNvPr>
          <p:cNvSpPr txBox="1"/>
          <p:nvPr/>
        </p:nvSpPr>
        <p:spPr>
          <a:xfrm>
            <a:off x="748914" y="5334062"/>
            <a:ext cx="1231910" cy="184666"/>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200" b="1" i="0" u="none" strike="noStrike" kern="1200" cap="none" spc="0" normalizeH="0" baseline="0" noProof="0">
                <a:ln>
                  <a:noFill/>
                </a:ln>
                <a:solidFill>
                  <a:prstClr val="white"/>
                </a:solidFill>
                <a:effectLst/>
                <a:uLnTx/>
                <a:uFillTx/>
                <a:latin typeface="Poppins" pitchFamily="2" charset="77"/>
                <a:ea typeface="+mn-ea"/>
                <a:cs typeface="Poppins" pitchFamily="2" charset="77"/>
              </a:rPr>
              <a:t>Impact</a:t>
            </a:r>
          </a:p>
        </p:txBody>
      </p:sp>
      <p:cxnSp>
        <p:nvCxnSpPr>
          <p:cNvPr id="130" name="Straight Connector 129">
            <a:extLst>
              <a:ext uri="{FF2B5EF4-FFF2-40B4-BE49-F238E27FC236}">
                <a16:creationId xmlns:a16="http://schemas.microsoft.com/office/drawing/2014/main" id="{CFABBA21-4B56-341A-3755-B8CA2EE7B38C}"/>
              </a:ext>
            </a:extLst>
          </p:cNvPr>
          <p:cNvCxnSpPr>
            <a:cxnSpLocks/>
          </p:cNvCxnSpPr>
          <p:nvPr/>
        </p:nvCxnSpPr>
        <p:spPr>
          <a:xfrm flipV="1">
            <a:off x="391513" y="5600477"/>
            <a:ext cx="2066377" cy="0"/>
          </a:xfrm>
          <a:prstGeom prst="line">
            <a:avLst/>
          </a:prstGeom>
          <a:ln>
            <a:solidFill>
              <a:schemeClr val="bg1"/>
            </a:solidFill>
          </a:ln>
        </p:spPr>
        <p:style>
          <a:lnRef idx="1">
            <a:schemeClr val="accent2"/>
          </a:lnRef>
          <a:fillRef idx="0">
            <a:schemeClr val="accent2"/>
          </a:fillRef>
          <a:effectRef idx="0">
            <a:schemeClr val="accent2"/>
          </a:effectRef>
          <a:fontRef idx="minor">
            <a:schemeClr val="tx1"/>
          </a:fontRef>
        </p:style>
      </p:cxnSp>
      <p:grpSp>
        <p:nvGrpSpPr>
          <p:cNvPr id="145" name="Group 144">
            <a:extLst>
              <a:ext uri="{FF2B5EF4-FFF2-40B4-BE49-F238E27FC236}">
                <a16:creationId xmlns:a16="http://schemas.microsoft.com/office/drawing/2014/main" id="{D55EE883-91C3-3919-60CE-74082537C121}"/>
              </a:ext>
            </a:extLst>
          </p:cNvPr>
          <p:cNvGrpSpPr>
            <a:grpSpLocks noChangeAspect="1"/>
          </p:cNvGrpSpPr>
          <p:nvPr/>
        </p:nvGrpSpPr>
        <p:grpSpPr>
          <a:xfrm>
            <a:off x="385688" y="5232694"/>
            <a:ext cx="274320" cy="276377"/>
            <a:chOff x="-1128713" y="3032125"/>
            <a:chExt cx="635000" cy="639763"/>
          </a:xfrm>
          <a:solidFill>
            <a:schemeClr val="bg1"/>
          </a:solidFill>
        </p:grpSpPr>
        <p:sp>
          <p:nvSpPr>
            <p:cNvPr id="146" name="Freeform 117">
              <a:extLst>
                <a:ext uri="{FF2B5EF4-FFF2-40B4-BE49-F238E27FC236}">
                  <a16:creationId xmlns:a16="http://schemas.microsoft.com/office/drawing/2014/main" id="{37317E28-8E6C-5191-ADAC-E0E56F37F3C5}"/>
                </a:ext>
              </a:extLst>
            </p:cNvPr>
            <p:cNvSpPr>
              <a:spLocks/>
            </p:cNvSpPr>
            <p:nvPr/>
          </p:nvSpPr>
          <p:spPr bwMode="auto">
            <a:xfrm>
              <a:off x="-581026" y="3175000"/>
              <a:ext cx="66675" cy="493713"/>
            </a:xfrm>
            <a:custGeom>
              <a:avLst/>
              <a:gdLst>
                <a:gd name="T0" fmla="*/ 0 w 225"/>
                <a:gd name="T1" fmla="*/ 0 h 1689"/>
                <a:gd name="T2" fmla="*/ 225 w 225"/>
                <a:gd name="T3" fmla="*/ 0 h 1689"/>
                <a:gd name="T4" fmla="*/ 225 w 225"/>
                <a:gd name="T5" fmla="*/ 23 h 1689"/>
                <a:gd name="T6" fmla="*/ 225 w 225"/>
                <a:gd name="T7" fmla="*/ 1662 h 1689"/>
                <a:gd name="T8" fmla="*/ 200 w 225"/>
                <a:gd name="T9" fmla="*/ 1688 h 1689"/>
                <a:gd name="T10" fmla="*/ 23 w 225"/>
                <a:gd name="T11" fmla="*/ 1688 h 1689"/>
                <a:gd name="T12" fmla="*/ 0 w 225"/>
                <a:gd name="T13" fmla="*/ 1688 h 1689"/>
                <a:gd name="T14" fmla="*/ 0 w 225"/>
                <a:gd name="T15" fmla="*/ 0 h 16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5" h="1689">
                  <a:moveTo>
                    <a:pt x="0" y="0"/>
                  </a:moveTo>
                  <a:cubicBezTo>
                    <a:pt x="74" y="0"/>
                    <a:pt x="148" y="0"/>
                    <a:pt x="225" y="0"/>
                  </a:cubicBezTo>
                  <a:cubicBezTo>
                    <a:pt x="225" y="9"/>
                    <a:pt x="225" y="16"/>
                    <a:pt x="225" y="23"/>
                  </a:cubicBezTo>
                  <a:cubicBezTo>
                    <a:pt x="225" y="570"/>
                    <a:pt x="225" y="1116"/>
                    <a:pt x="225" y="1662"/>
                  </a:cubicBezTo>
                  <a:cubicBezTo>
                    <a:pt x="225" y="1682"/>
                    <a:pt x="222" y="1689"/>
                    <a:pt x="200" y="1688"/>
                  </a:cubicBezTo>
                  <a:cubicBezTo>
                    <a:pt x="141" y="1687"/>
                    <a:pt x="82" y="1688"/>
                    <a:pt x="23" y="1688"/>
                  </a:cubicBezTo>
                  <a:cubicBezTo>
                    <a:pt x="15" y="1688"/>
                    <a:pt x="8" y="1688"/>
                    <a:pt x="0" y="1688"/>
                  </a:cubicBezTo>
                  <a:cubicBezTo>
                    <a:pt x="0" y="1124"/>
                    <a:pt x="0" y="56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oppins" pitchFamily="2" charset="77"/>
                <a:ea typeface="+mn-ea"/>
                <a:cs typeface="Poppins" pitchFamily="2" charset="77"/>
              </a:endParaRPr>
            </a:p>
          </p:txBody>
        </p:sp>
        <p:sp>
          <p:nvSpPr>
            <p:cNvPr id="147" name="Freeform 118">
              <a:extLst>
                <a:ext uri="{FF2B5EF4-FFF2-40B4-BE49-F238E27FC236}">
                  <a16:creationId xmlns:a16="http://schemas.microsoft.com/office/drawing/2014/main" id="{C93FEA73-8D9F-DC99-EE28-173A34DF24A6}"/>
                </a:ext>
              </a:extLst>
            </p:cNvPr>
            <p:cNvSpPr>
              <a:spLocks/>
            </p:cNvSpPr>
            <p:nvPr/>
          </p:nvSpPr>
          <p:spPr bwMode="auto">
            <a:xfrm>
              <a:off x="-668338" y="3295650"/>
              <a:ext cx="65088" cy="373063"/>
            </a:xfrm>
            <a:custGeom>
              <a:avLst/>
              <a:gdLst>
                <a:gd name="T0" fmla="*/ 0 w 225"/>
                <a:gd name="T1" fmla="*/ 0 h 1276"/>
                <a:gd name="T2" fmla="*/ 225 w 225"/>
                <a:gd name="T3" fmla="*/ 0 h 1276"/>
                <a:gd name="T4" fmla="*/ 225 w 225"/>
                <a:gd name="T5" fmla="*/ 22 h 1276"/>
                <a:gd name="T6" fmla="*/ 225 w 225"/>
                <a:gd name="T7" fmla="*/ 1251 h 1276"/>
                <a:gd name="T8" fmla="*/ 201 w 225"/>
                <a:gd name="T9" fmla="*/ 1275 h 1276"/>
                <a:gd name="T10" fmla="*/ 21 w 225"/>
                <a:gd name="T11" fmla="*/ 1275 h 1276"/>
                <a:gd name="T12" fmla="*/ 0 w 225"/>
                <a:gd name="T13" fmla="*/ 1275 h 1276"/>
                <a:gd name="T14" fmla="*/ 0 w 225"/>
                <a:gd name="T15" fmla="*/ 0 h 12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5" h="1276">
                  <a:moveTo>
                    <a:pt x="0" y="0"/>
                  </a:moveTo>
                  <a:cubicBezTo>
                    <a:pt x="74" y="0"/>
                    <a:pt x="148" y="0"/>
                    <a:pt x="225" y="0"/>
                  </a:cubicBezTo>
                  <a:cubicBezTo>
                    <a:pt x="225" y="8"/>
                    <a:pt x="225" y="15"/>
                    <a:pt x="225" y="22"/>
                  </a:cubicBezTo>
                  <a:cubicBezTo>
                    <a:pt x="225" y="432"/>
                    <a:pt x="225" y="841"/>
                    <a:pt x="225" y="1251"/>
                  </a:cubicBezTo>
                  <a:cubicBezTo>
                    <a:pt x="225" y="1271"/>
                    <a:pt x="220" y="1276"/>
                    <a:pt x="201" y="1275"/>
                  </a:cubicBezTo>
                  <a:cubicBezTo>
                    <a:pt x="141" y="1274"/>
                    <a:pt x="81" y="1275"/>
                    <a:pt x="21" y="1275"/>
                  </a:cubicBezTo>
                  <a:cubicBezTo>
                    <a:pt x="14" y="1275"/>
                    <a:pt x="8" y="1275"/>
                    <a:pt x="0" y="1275"/>
                  </a:cubicBezTo>
                  <a:cubicBezTo>
                    <a:pt x="0" y="850"/>
                    <a:pt x="0" y="426"/>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oppins" pitchFamily="2" charset="77"/>
                <a:ea typeface="+mn-ea"/>
                <a:cs typeface="Poppins" pitchFamily="2" charset="77"/>
              </a:endParaRPr>
            </a:p>
          </p:txBody>
        </p:sp>
        <p:sp>
          <p:nvSpPr>
            <p:cNvPr id="148" name="Freeform 119">
              <a:extLst>
                <a:ext uri="{FF2B5EF4-FFF2-40B4-BE49-F238E27FC236}">
                  <a16:creationId xmlns:a16="http://schemas.microsoft.com/office/drawing/2014/main" id="{546865FD-B02F-ED95-6FA1-1F60E7CDE15E}"/>
                </a:ext>
              </a:extLst>
            </p:cNvPr>
            <p:cNvSpPr>
              <a:spLocks noEditPoints="1"/>
            </p:cNvSpPr>
            <p:nvPr/>
          </p:nvSpPr>
          <p:spPr bwMode="auto">
            <a:xfrm>
              <a:off x="-1128713" y="3054350"/>
              <a:ext cx="328613" cy="328613"/>
            </a:xfrm>
            <a:custGeom>
              <a:avLst/>
              <a:gdLst>
                <a:gd name="T0" fmla="*/ 1127 w 1127"/>
                <a:gd name="T1" fmla="*/ 564 h 1127"/>
                <a:gd name="T2" fmla="*/ 564 w 1127"/>
                <a:gd name="T3" fmla="*/ 1127 h 1127"/>
                <a:gd name="T4" fmla="*/ 0 w 1127"/>
                <a:gd name="T5" fmla="*/ 564 h 1127"/>
                <a:gd name="T6" fmla="*/ 564 w 1127"/>
                <a:gd name="T7" fmla="*/ 0 h 1127"/>
                <a:gd name="T8" fmla="*/ 1127 w 1127"/>
                <a:gd name="T9" fmla="*/ 564 h 1127"/>
                <a:gd name="T10" fmla="*/ 76 w 1127"/>
                <a:gd name="T11" fmla="*/ 564 h 1127"/>
                <a:gd name="T12" fmla="*/ 563 w 1127"/>
                <a:gd name="T13" fmla="*/ 1051 h 1127"/>
                <a:gd name="T14" fmla="*/ 1051 w 1127"/>
                <a:gd name="T15" fmla="*/ 562 h 1127"/>
                <a:gd name="T16" fmla="*/ 563 w 1127"/>
                <a:gd name="T17" fmla="*/ 76 h 1127"/>
                <a:gd name="T18" fmla="*/ 76 w 1127"/>
                <a:gd name="T19" fmla="*/ 564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27" h="1127">
                  <a:moveTo>
                    <a:pt x="1127" y="564"/>
                  </a:moveTo>
                  <a:cubicBezTo>
                    <a:pt x="1127" y="872"/>
                    <a:pt x="873" y="1126"/>
                    <a:pt x="564" y="1127"/>
                  </a:cubicBezTo>
                  <a:cubicBezTo>
                    <a:pt x="255" y="1127"/>
                    <a:pt x="0" y="872"/>
                    <a:pt x="0" y="564"/>
                  </a:cubicBezTo>
                  <a:cubicBezTo>
                    <a:pt x="0" y="254"/>
                    <a:pt x="254" y="0"/>
                    <a:pt x="564" y="0"/>
                  </a:cubicBezTo>
                  <a:cubicBezTo>
                    <a:pt x="873" y="0"/>
                    <a:pt x="1126" y="254"/>
                    <a:pt x="1127" y="564"/>
                  </a:cubicBezTo>
                  <a:close/>
                  <a:moveTo>
                    <a:pt x="76" y="564"/>
                  </a:moveTo>
                  <a:cubicBezTo>
                    <a:pt x="77" y="832"/>
                    <a:pt x="296" y="1051"/>
                    <a:pt x="563" y="1051"/>
                  </a:cubicBezTo>
                  <a:cubicBezTo>
                    <a:pt x="831" y="1051"/>
                    <a:pt x="1052" y="830"/>
                    <a:pt x="1051" y="562"/>
                  </a:cubicBezTo>
                  <a:cubicBezTo>
                    <a:pt x="1050" y="294"/>
                    <a:pt x="830" y="75"/>
                    <a:pt x="563" y="76"/>
                  </a:cubicBezTo>
                  <a:cubicBezTo>
                    <a:pt x="294" y="77"/>
                    <a:pt x="76" y="296"/>
                    <a:pt x="76" y="5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oppins" pitchFamily="2" charset="77"/>
                <a:ea typeface="+mn-ea"/>
                <a:cs typeface="Poppins" pitchFamily="2" charset="77"/>
              </a:endParaRPr>
            </a:p>
          </p:txBody>
        </p:sp>
        <p:sp>
          <p:nvSpPr>
            <p:cNvPr id="149" name="Freeform 120">
              <a:extLst>
                <a:ext uri="{FF2B5EF4-FFF2-40B4-BE49-F238E27FC236}">
                  <a16:creationId xmlns:a16="http://schemas.microsoft.com/office/drawing/2014/main" id="{88329CEE-10CA-86B5-187A-48B156090772}"/>
                </a:ext>
              </a:extLst>
            </p:cNvPr>
            <p:cNvSpPr>
              <a:spLocks/>
            </p:cNvSpPr>
            <p:nvPr/>
          </p:nvSpPr>
          <p:spPr bwMode="auto">
            <a:xfrm>
              <a:off x="-755651" y="3351213"/>
              <a:ext cx="65088" cy="317500"/>
            </a:xfrm>
            <a:custGeom>
              <a:avLst/>
              <a:gdLst>
                <a:gd name="T0" fmla="*/ 0 w 225"/>
                <a:gd name="T1" fmla="*/ 0 h 1089"/>
                <a:gd name="T2" fmla="*/ 225 w 225"/>
                <a:gd name="T3" fmla="*/ 0 h 1089"/>
                <a:gd name="T4" fmla="*/ 225 w 225"/>
                <a:gd name="T5" fmla="*/ 23 h 1089"/>
                <a:gd name="T6" fmla="*/ 225 w 225"/>
                <a:gd name="T7" fmla="*/ 1064 h 1089"/>
                <a:gd name="T8" fmla="*/ 201 w 225"/>
                <a:gd name="T9" fmla="*/ 1088 h 1089"/>
                <a:gd name="T10" fmla="*/ 21 w 225"/>
                <a:gd name="T11" fmla="*/ 1088 h 1089"/>
                <a:gd name="T12" fmla="*/ 0 w 225"/>
                <a:gd name="T13" fmla="*/ 1088 h 1089"/>
                <a:gd name="T14" fmla="*/ 0 w 225"/>
                <a:gd name="T15" fmla="*/ 0 h 10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5" h="1089">
                  <a:moveTo>
                    <a:pt x="0" y="0"/>
                  </a:moveTo>
                  <a:cubicBezTo>
                    <a:pt x="74" y="0"/>
                    <a:pt x="148" y="0"/>
                    <a:pt x="225" y="0"/>
                  </a:cubicBezTo>
                  <a:cubicBezTo>
                    <a:pt x="225" y="9"/>
                    <a:pt x="225" y="16"/>
                    <a:pt x="225" y="23"/>
                  </a:cubicBezTo>
                  <a:cubicBezTo>
                    <a:pt x="225" y="370"/>
                    <a:pt x="225" y="717"/>
                    <a:pt x="225" y="1064"/>
                  </a:cubicBezTo>
                  <a:cubicBezTo>
                    <a:pt x="225" y="1084"/>
                    <a:pt x="220" y="1089"/>
                    <a:pt x="201" y="1088"/>
                  </a:cubicBezTo>
                  <a:cubicBezTo>
                    <a:pt x="141" y="1087"/>
                    <a:pt x="81" y="1088"/>
                    <a:pt x="21" y="1088"/>
                  </a:cubicBezTo>
                  <a:cubicBezTo>
                    <a:pt x="14" y="1088"/>
                    <a:pt x="8" y="1088"/>
                    <a:pt x="0" y="1088"/>
                  </a:cubicBezTo>
                  <a:cubicBezTo>
                    <a:pt x="0" y="725"/>
                    <a:pt x="0" y="36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oppins" pitchFamily="2" charset="77"/>
                <a:ea typeface="+mn-ea"/>
                <a:cs typeface="Poppins" pitchFamily="2" charset="77"/>
              </a:endParaRPr>
            </a:p>
          </p:txBody>
        </p:sp>
        <p:sp>
          <p:nvSpPr>
            <p:cNvPr id="150" name="Freeform 121">
              <a:extLst>
                <a:ext uri="{FF2B5EF4-FFF2-40B4-BE49-F238E27FC236}">
                  <a16:creationId xmlns:a16="http://schemas.microsoft.com/office/drawing/2014/main" id="{9DD33692-A8F4-361D-FECA-AFB67EA3825E}"/>
                </a:ext>
              </a:extLst>
            </p:cNvPr>
            <p:cNvSpPr>
              <a:spLocks/>
            </p:cNvSpPr>
            <p:nvPr/>
          </p:nvSpPr>
          <p:spPr bwMode="auto">
            <a:xfrm>
              <a:off x="-842963" y="3492500"/>
              <a:ext cx="65088" cy="176213"/>
            </a:xfrm>
            <a:custGeom>
              <a:avLst/>
              <a:gdLst>
                <a:gd name="T0" fmla="*/ 0 w 226"/>
                <a:gd name="T1" fmla="*/ 0 h 603"/>
                <a:gd name="T2" fmla="*/ 65 w 226"/>
                <a:gd name="T3" fmla="*/ 0 h 603"/>
                <a:gd name="T4" fmla="*/ 207 w 226"/>
                <a:gd name="T5" fmla="*/ 0 h 603"/>
                <a:gd name="T6" fmla="*/ 225 w 226"/>
                <a:gd name="T7" fmla="*/ 18 h 603"/>
                <a:gd name="T8" fmla="*/ 225 w 226"/>
                <a:gd name="T9" fmla="*/ 70 h 603"/>
                <a:gd name="T10" fmla="*/ 225 w 226"/>
                <a:gd name="T11" fmla="*/ 580 h 603"/>
                <a:gd name="T12" fmla="*/ 203 w 226"/>
                <a:gd name="T13" fmla="*/ 602 h 603"/>
                <a:gd name="T14" fmla="*/ 19 w 226"/>
                <a:gd name="T15" fmla="*/ 602 h 603"/>
                <a:gd name="T16" fmla="*/ 0 w 226"/>
                <a:gd name="T17" fmla="*/ 601 h 603"/>
                <a:gd name="T18" fmla="*/ 0 w 226"/>
                <a:gd name="T19" fmla="*/ 0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6" h="603">
                  <a:moveTo>
                    <a:pt x="0" y="0"/>
                  </a:moveTo>
                  <a:cubicBezTo>
                    <a:pt x="23" y="0"/>
                    <a:pt x="44" y="0"/>
                    <a:pt x="65" y="0"/>
                  </a:cubicBezTo>
                  <a:cubicBezTo>
                    <a:pt x="112" y="0"/>
                    <a:pt x="160" y="1"/>
                    <a:pt x="207" y="0"/>
                  </a:cubicBezTo>
                  <a:cubicBezTo>
                    <a:pt x="221" y="0"/>
                    <a:pt x="226" y="4"/>
                    <a:pt x="225" y="18"/>
                  </a:cubicBezTo>
                  <a:cubicBezTo>
                    <a:pt x="224" y="35"/>
                    <a:pt x="225" y="53"/>
                    <a:pt x="225" y="70"/>
                  </a:cubicBezTo>
                  <a:cubicBezTo>
                    <a:pt x="225" y="240"/>
                    <a:pt x="225" y="410"/>
                    <a:pt x="225" y="580"/>
                  </a:cubicBezTo>
                  <a:cubicBezTo>
                    <a:pt x="225" y="598"/>
                    <a:pt x="221" y="603"/>
                    <a:pt x="203" y="602"/>
                  </a:cubicBezTo>
                  <a:cubicBezTo>
                    <a:pt x="142" y="601"/>
                    <a:pt x="80" y="602"/>
                    <a:pt x="19" y="602"/>
                  </a:cubicBezTo>
                  <a:cubicBezTo>
                    <a:pt x="13" y="602"/>
                    <a:pt x="7" y="601"/>
                    <a:pt x="0" y="601"/>
                  </a:cubicBezTo>
                  <a:cubicBezTo>
                    <a:pt x="0" y="401"/>
                    <a:pt x="0" y="202"/>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oppins" pitchFamily="2" charset="77"/>
                <a:ea typeface="+mn-ea"/>
                <a:cs typeface="Poppins" pitchFamily="2" charset="77"/>
              </a:endParaRPr>
            </a:p>
          </p:txBody>
        </p:sp>
        <p:sp>
          <p:nvSpPr>
            <p:cNvPr id="151" name="Freeform 122">
              <a:extLst>
                <a:ext uri="{FF2B5EF4-FFF2-40B4-BE49-F238E27FC236}">
                  <a16:creationId xmlns:a16="http://schemas.microsoft.com/office/drawing/2014/main" id="{5B576E86-34BF-5F7A-9222-CCB4C1CA5DC1}"/>
                </a:ext>
              </a:extLst>
            </p:cNvPr>
            <p:cNvSpPr>
              <a:spLocks/>
            </p:cNvSpPr>
            <p:nvPr/>
          </p:nvSpPr>
          <p:spPr bwMode="auto">
            <a:xfrm>
              <a:off x="-996951" y="3492500"/>
              <a:ext cx="65088" cy="179388"/>
            </a:xfrm>
            <a:custGeom>
              <a:avLst/>
              <a:gdLst>
                <a:gd name="T0" fmla="*/ 3 w 226"/>
                <a:gd name="T1" fmla="*/ 0 h 608"/>
                <a:gd name="T2" fmla="*/ 225 w 226"/>
                <a:gd name="T3" fmla="*/ 0 h 608"/>
                <a:gd name="T4" fmla="*/ 226 w 226"/>
                <a:gd name="T5" fmla="*/ 20 h 608"/>
                <a:gd name="T6" fmla="*/ 226 w 226"/>
                <a:gd name="T7" fmla="*/ 482 h 608"/>
                <a:gd name="T8" fmla="*/ 124 w 226"/>
                <a:gd name="T9" fmla="*/ 600 h 608"/>
                <a:gd name="T10" fmla="*/ 2 w 226"/>
                <a:gd name="T11" fmla="*/ 498 h 608"/>
                <a:gd name="T12" fmla="*/ 1 w 226"/>
                <a:gd name="T13" fmla="*/ 6 h 608"/>
                <a:gd name="T14" fmla="*/ 3 w 226"/>
                <a:gd name="T15" fmla="*/ 0 h 60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6" h="608">
                  <a:moveTo>
                    <a:pt x="3" y="0"/>
                  </a:moveTo>
                  <a:cubicBezTo>
                    <a:pt x="77" y="0"/>
                    <a:pt x="150" y="0"/>
                    <a:pt x="225" y="0"/>
                  </a:cubicBezTo>
                  <a:cubicBezTo>
                    <a:pt x="225" y="7"/>
                    <a:pt x="226" y="14"/>
                    <a:pt x="226" y="20"/>
                  </a:cubicBezTo>
                  <a:cubicBezTo>
                    <a:pt x="226" y="174"/>
                    <a:pt x="226" y="328"/>
                    <a:pt x="226" y="482"/>
                  </a:cubicBezTo>
                  <a:cubicBezTo>
                    <a:pt x="226" y="547"/>
                    <a:pt x="187" y="591"/>
                    <a:pt x="124" y="600"/>
                  </a:cubicBezTo>
                  <a:cubicBezTo>
                    <a:pt x="65" y="608"/>
                    <a:pt x="2" y="558"/>
                    <a:pt x="2" y="498"/>
                  </a:cubicBezTo>
                  <a:cubicBezTo>
                    <a:pt x="0" y="334"/>
                    <a:pt x="1" y="170"/>
                    <a:pt x="1" y="6"/>
                  </a:cubicBezTo>
                  <a:cubicBezTo>
                    <a:pt x="1" y="5"/>
                    <a:pt x="2" y="3"/>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oppins" pitchFamily="2" charset="77"/>
                <a:ea typeface="+mn-ea"/>
                <a:cs typeface="Poppins" pitchFamily="2" charset="77"/>
              </a:endParaRPr>
            </a:p>
          </p:txBody>
        </p:sp>
        <p:sp>
          <p:nvSpPr>
            <p:cNvPr id="152" name="Freeform 123">
              <a:extLst>
                <a:ext uri="{FF2B5EF4-FFF2-40B4-BE49-F238E27FC236}">
                  <a16:creationId xmlns:a16="http://schemas.microsoft.com/office/drawing/2014/main" id="{E6B6C753-5824-06DA-0CF8-B56AD190E013}"/>
                </a:ext>
              </a:extLst>
            </p:cNvPr>
            <p:cNvSpPr>
              <a:spLocks/>
            </p:cNvSpPr>
            <p:nvPr/>
          </p:nvSpPr>
          <p:spPr bwMode="auto">
            <a:xfrm>
              <a:off x="-795338" y="3032125"/>
              <a:ext cx="301625" cy="177800"/>
            </a:xfrm>
            <a:custGeom>
              <a:avLst/>
              <a:gdLst>
                <a:gd name="T0" fmla="*/ 898 w 1032"/>
                <a:gd name="T1" fmla="*/ 76 h 606"/>
                <a:gd name="T2" fmla="*/ 771 w 1032"/>
                <a:gd name="T3" fmla="*/ 76 h 606"/>
                <a:gd name="T4" fmla="*/ 771 w 1032"/>
                <a:gd name="T5" fmla="*/ 1 h 606"/>
                <a:gd name="T6" fmla="*/ 787 w 1032"/>
                <a:gd name="T7" fmla="*/ 0 h 606"/>
                <a:gd name="T8" fmla="*/ 987 w 1032"/>
                <a:gd name="T9" fmla="*/ 0 h 606"/>
                <a:gd name="T10" fmla="*/ 1032 w 1032"/>
                <a:gd name="T11" fmla="*/ 45 h 606"/>
                <a:gd name="T12" fmla="*/ 1032 w 1032"/>
                <a:gd name="T13" fmla="*/ 246 h 606"/>
                <a:gd name="T14" fmla="*/ 1031 w 1032"/>
                <a:gd name="T15" fmla="*/ 262 h 606"/>
                <a:gd name="T16" fmla="*/ 957 w 1032"/>
                <a:gd name="T17" fmla="*/ 262 h 606"/>
                <a:gd name="T18" fmla="*/ 957 w 1032"/>
                <a:gd name="T19" fmla="*/ 130 h 606"/>
                <a:gd name="T20" fmla="*/ 937 w 1032"/>
                <a:gd name="T21" fmla="*/ 148 h 606"/>
                <a:gd name="T22" fmla="*/ 730 w 1032"/>
                <a:gd name="T23" fmla="*/ 356 h 606"/>
                <a:gd name="T24" fmla="*/ 668 w 1032"/>
                <a:gd name="T25" fmla="*/ 366 h 606"/>
                <a:gd name="T26" fmla="*/ 564 w 1032"/>
                <a:gd name="T27" fmla="*/ 314 h 606"/>
                <a:gd name="T28" fmla="*/ 538 w 1032"/>
                <a:gd name="T29" fmla="*/ 318 h 606"/>
                <a:gd name="T30" fmla="*/ 258 w 1032"/>
                <a:gd name="T31" fmla="*/ 568 h 606"/>
                <a:gd name="T32" fmla="*/ 241 w 1032"/>
                <a:gd name="T33" fmla="*/ 583 h 606"/>
                <a:gd name="T34" fmla="*/ 176 w 1032"/>
                <a:gd name="T35" fmla="*/ 587 h 606"/>
                <a:gd name="T36" fmla="*/ 117 w 1032"/>
                <a:gd name="T37" fmla="*/ 547 h 606"/>
                <a:gd name="T38" fmla="*/ 68 w 1032"/>
                <a:gd name="T39" fmla="*/ 546 h 606"/>
                <a:gd name="T40" fmla="*/ 38 w 1032"/>
                <a:gd name="T41" fmla="*/ 563 h 606"/>
                <a:gd name="T42" fmla="*/ 0 w 1032"/>
                <a:gd name="T43" fmla="*/ 497 h 606"/>
                <a:gd name="T44" fmla="*/ 82 w 1032"/>
                <a:gd name="T45" fmla="*/ 453 h 606"/>
                <a:gd name="T46" fmla="*/ 119 w 1032"/>
                <a:gd name="T47" fmla="*/ 459 h 606"/>
                <a:gd name="T48" fmla="*/ 189 w 1032"/>
                <a:gd name="T49" fmla="*/ 505 h 606"/>
                <a:gd name="T50" fmla="*/ 217 w 1032"/>
                <a:gd name="T51" fmla="*/ 503 h 606"/>
                <a:gd name="T52" fmla="*/ 512 w 1032"/>
                <a:gd name="T53" fmla="*/ 241 h 606"/>
                <a:gd name="T54" fmla="*/ 571 w 1032"/>
                <a:gd name="T55" fmla="*/ 233 h 606"/>
                <a:gd name="T56" fmla="*/ 675 w 1032"/>
                <a:gd name="T57" fmla="*/ 285 h 606"/>
                <a:gd name="T58" fmla="*/ 695 w 1032"/>
                <a:gd name="T59" fmla="*/ 283 h 606"/>
                <a:gd name="T60" fmla="*/ 896 w 1032"/>
                <a:gd name="T61" fmla="*/ 82 h 606"/>
                <a:gd name="T62" fmla="*/ 898 w 1032"/>
                <a:gd name="T63" fmla="*/ 76 h 6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32" h="606">
                  <a:moveTo>
                    <a:pt x="898" y="76"/>
                  </a:moveTo>
                  <a:cubicBezTo>
                    <a:pt x="855" y="76"/>
                    <a:pt x="814" y="76"/>
                    <a:pt x="771" y="76"/>
                  </a:cubicBezTo>
                  <a:cubicBezTo>
                    <a:pt x="771" y="50"/>
                    <a:pt x="771" y="26"/>
                    <a:pt x="771" y="1"/>
                  </a:cubicBezTo>
                  <a:cubicBezTo>
                    <a:pt x="776" y="1"/>
                    <a:pt x="782" y="0"/>
                    <a:pt x="787" y="0"/>
                  </a:cubicBezTo>
                  <a:cubicBezTo>
                    <a:pt x="853" y="0"/>
                    <a:pt x="920" y="0"/>
                    <a:pt x="987" y="0"/>
                  </a:cubicBezTo>
                  <a:cubicBezTo>
                    <a:pt x="1019" y="0"/>
                    <a:pt x="1032" y="13"/>
                    <a:pt x="1032" y="45"/>
                  </a:cubicBezTo>
                  <a:cubicBezTo>
                    <a:pt x="1032" y="112"/>
                    <a:pt x="1032" y="179"/>
                    <a:pt x="1032" y="246"/>
                  </a:cubicBezTo>
                  <a:cubicBezTo>
                    <a:pt x="1032" y="251"/>
                    <a:pt x="1031" y="256"/>
                    <a:pt x="1031" y="262"/>
                  </a:cubicBezTo>
                  <a:cubicBezTo>
                    <a:pt x="1007" y="262"/>
                    <a:pt x="983" y="262"/>
                    <a:pt x="957" y="262"/>
                  </a:cubicBezTo>
                  <a:cubicBezTo>
                    <a:pt x="957" y="219"/>
                    <a:pt x="957" y="177"/>
                    <a:pt x="957" y="130"/>
                  </a:cubicBezTo>
                  <a:cubicBezTo>
                    <a:pt x="948" y="139"/>
                    <a:pt x="942" y="143"/>
                    <a:pt x="937" y="148"/>
                  </a:cubicBezTo>
                  <a:cubicBezTo>
                    <a:pt x="868" y="217"/>
                    <a:pt x="799" y="287"/>
                    <a:pt x="730" y="356"/>
                  </a:cubicBezTo>
                  <a:cubicBezTo>
                    <a:pt x="706" y="379"/>
                    <a:pt x="697" y="381"/>
                    <a:pt x="668" y="366"/>
                  </a:cubicBezTo>
                  <a:cubicBezTo>
                    <a:pt x="633" y="349"/>
                    <a:pt x="598" y="332"/>
                    <a:pt x="564" y="314"/>
                  </a:cubicBezTo>
                  <a:cubicBezTo>
                    <a:pt x="554" y="309"/>
                    <a:pt x="547" y="310"/>
                    <a:pt x="538" y="318"/>
                  </a:cubicBezTo>
                  <a:cubicBezTo>
                    <a:pt x="445" y="402"/>
                    <a:pt x="351" y="485"/>
                    <a:pt x="258" y="568"/>
                  </a:cubicBezTo>
                  <a:cubicBezTo>
                    <a:pt x="252" y="573"/>
                    <a:pt x="247" y="578"/>
                    <a:pt x="241" y="583"/>
                  </a:cubicBezTo>
                  <a:cubicBezTo>
                    <a:pt x="215" y="606"/>
                    <a:pt x="205" y="606"/>
                    <a:pt x="176" y="587"/>
                  </a:cubicBezTo>
                  <a:cubicBezTo>
                    <a:pt x="156" y="574"/>
                    <a:pt x="135" y="562"/>
                    <a:pt x="117" y="547"/>
                  </a:cubicBezTo>
                  <a:cubicBezTo>
                    <a:pt x="99" y="532"/>
                    <a:pt x="85" y="533"/>
                    <a:pt x="68" y="546"/>
                  </a:cubicBezTo>
                  <a:cubicBezTo>
                    <a:pt x="59" y="552"/>
                    <a:pt x="49" y="557"/>
                    <a:pt x="38" y="563"/>
                  </a:cubicBezTo>
                  <a:cubicBezTo>
                    <a:pt x="25" y="541"/>
                    <a:pt x="13" y="520"/>
                    <a:pt x="0" y="497"/>
                  </a:cubicBezTo>
                  <a:cubicBezTo>
                    <a:pt x="29" y="482"/>
                    <a:pt x="54" y="465"/>
                    <a:pt x="82" y="453"/>
                  </a:cubicBezTo>
                  <a:cubicBezTo>
                    <a:pt x="92" y="449"/>
                    <a:pt x="108" y="453"/>
                    <a:pt x="119" y="459"/>
                  </a:cubicBezTo>
                  <a:cubicBezTo>
                    <a:pt x="143" y="473"/>
                    <a:pt x="166" y="489"/>
                    <a:pt x="189" y="505"/>
                  </a:cubicBezTo>
                  <a:cubicBezTo>
                    <a:pt x="200" y="514"/>
                    <a:pt x="207" y="512"/>
                    <a:pt x="217" y="503"/>
                  </a:cubicBezTo>
                  <a:cubicBezTo>
                    <a:pt x="315" y="415"/>
                    <a:pt x="413" y="328"/>
                    <a:pt x="512" y="241"/>
                  </a:cubicBezTo>
                  <a:cubicBezTo>
                    <a:pt x="535" y="221"/>
                    <a:pt x="544" y="220"/>
                    <a:pt x="571" y="233"/>
                  </a:cubicBezTo>
                  <a:cubicBezTo>
                    <a:pt x="605" y="250"/>
                    <a:pt x="640" y="268"/>
                    <a:pt x="675" y="285"/>
                  </a:cubicBezTo>
                  <a:cubicBezTo>
                    <a:pt x="680" y="287"/>
                    <a:pt x="691" y="287"/>
                    <a:pt x="695" y="283"/>
                  </a:cubicBezTo>
                  <a:cubicBezTo>
                    <a:pt x="762" y="216"/>
                    <a:pt x="829" y="149"/>
                    <a:pt x="896" y="82"/>
                  </a:cubicBezTo>
                  <a:cubicBezTo>
                    <a:pt x="896" y="81"/>
                    <a:pt x="897" y="80"/>
                    <a:pt x="898"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oppins" pitchFamily="2" charset="77"/>
                <a:ea typeface="+mn-ea"/>
                <a:cs typeface="Poppins" pitchFamily="2" charset="77"/>
              </a:endParaRPr>
            </a:p>
          </p:txBody>
        </p:sp>
        <p:sp>
          <p:nvSpPr>
            <p:cNvPr id="153" name="Freeform 124">
              <a:extLst>
                <a:ext uri="{FF2B5EF4-FFF2-40B4-BE49-F238E27FC236}">
                  <a16:creationId xmlns:a16="http://schemas.microsoft.com/office/drawing/2014/main" id="{F91EED72-E80C-37C8-5B1B-D387F034B32F}"/>
                </a:ext>
              </a:extLst>
            </p:cNvPr>
            <p:cNvSpPr>
              <a:spLocks/>
            </p:cNvSpPr>
            <p:nvPr/>
          </p:nvSpPr>
          <p:spPr bwMode="auto">
            <a:xfrm>
              <a:off x="-1008063" y="3449638"/>
              <a:ext cx="87313" cy="31750"/>
            </a:xfrm>
            <a:custGeom>
              <a:avLst/>
              <a:gdLst>
                <a:gd name="T0" fmla="*/ 0 w 299"/>
                <a:gd name="T1" fmla="*/ 110 h 110"/>
                <a:gd name="T2" fmla="*/ 0 w 299"/>
                <a:gd name="T3" fmla="*/ 0 h 110"/>
                <a:gd name="T4" fmla="*/ 299 w 299"/>
                <a:gd name="T5" fmla="*/ 0 h 110"/>
                <a:gd name="T6" fmla="*/ 299 w 299"/>
                <a:gd name="T7" fmla="*/ 110 h 110"/>
                <a:gd name="T8" fmla="*/ 0 w 299"/>
                <a:gd name="T9" fmla="*/ 110 h 110"/>
              </a:gdLst>
              <a:ahLst/>
              <a:cxnLst>
                <a:cxn ang="0">
                  <a:pos x="T0" y="T1"/>
                </a:cxn>
                <a:cxn ang="0">
                  <a:pos x="T2" y="T3"/>
                </a:cxn>
                <a:cxn ang="0">
                  <a:pos x="T4" y="T5"/>
                </a:cxn>
                <a:cxn ang="0">
                  <a:pos x="T6" y="T7"/>
                </a:cxn>
                <a:cxn ang="0">
                  <a:pos x="T8" y="T9"/>
                </a:cxn>
              </a:cxnLst>
              <a:rect l="0" t="0" r="r" b="b"/>
              <a:pathLst>
                <a:path w="299" h="110">
                  <a:moveTo>
                    <a:pt x="0" y="110"/>
                  </a:moveTo>
                  <a:cubicBezTo>
                    <a:pt x="0" y="73"/>
                    <a:pt x="0" y="37"/>
                    <a:pt x="0" y="0"/>
                  </a:cubicBezTo>
                  <a:cubicBezTo>
                    <a:pt x="100" y="0"/>
                    <a:pt x="199" y="0"/>
                    <a:pt x="299" y="0"/>
                  </a:cubicBezTo>
                  <a:cubicBezTo>
                    <a:pt x="299" y="37"/>
                    <a:pt x="299" y="72"/>
                    <a:pt x="299" y="110"/>
                  </a:cubicBezTo>
                  <a:cubicBezTo>
                    <a:pt x="200" y="110"/>
                    <a:pt x="100" y="110"/>
                    <a:pt x="0" y="1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oppins" pitchFamily="2" charset="77"/>
                <a:ea typeface="+mn-ea"/>
                <a:cs typeface="Poppins" pitchFamily="2" charset="77"/>
              </a:endParaRPr>
            </a:p>
          </p:txBody>
        </p:sp>
        <p:sp>
          <p:nvSpPr>
            <p:cNvPr id="154" name="Freeform 125">
              <a:extLst>
                <a:ext uri="{FF2B5EF4-FFF2-40B4-BE49-F238E27FC236}">
                  <a16:creationId xmlns:a16="http://schemas.microsoft.com/office/drawing/2014/main" id="{9B026987-CDBF-BCD4-F05A-CD9E72AAC082}"/>
                </a:ext>
              </a:extLst>
            </p:cNvPr>
            <p:cNvSpPr>
              <a:spLocks/>
            </p:cNvSpPr>
            <p:nvPr/>
          </p:nvSpPr>
          <p:spPr bwMode="auto">
            <a:xfrm>
              <a:off x="-985838" y="3394075"/>
              <a:ext cx="44450" cy="44450"/>
            </a:xfrm>
            <a:custGeom>
              <a:avLst/>
              <a:gdLst>
                <a:gd name="T0" fmla="*/ 149 w 149"/>
                <a:gd name="T1" fmla="*/ 0 h 149"/>
                <a:gd name="T2" fmla="*/ 148 w 149"/>
                <a:gd name="T3" fmla="*/ 132 h 149"/>
                <a:gd name="T4" fmla="*/ 147 w 149"/>
                <a:gd name="T5" fmla="*/ 149 h 149"/>
                <a:gd name="T6" fmla="*/ 0 w 149"/>
                <a:gd name="T7" fmla="*/ 149 h 149"/>
                <a:gd name="T8" fmla="*/ 0 w 149"/>
                <a:gd name="T9" fmla="*/ 0 h 149"/>
                <a:gd name="T10" fmla="*/ 149 w 149"/>
                <a:gd name="T11" fmla="*/ 0 h 149"/>
              </a:gdLst>
              <a:ahLst/>
              <a:cxnLst>
                <a:cxn ang="0">
                  <a:pos x="T0" y="T1"/>
                </a:cxn>
                <a:cxn ang="0">
                  <a:pos x="T2" y="T3"/>
                </a:cxn>
                <a:cxn ang="0">
                  <a:pos x="T4" y="T5"/>
                </a:cxn>
                <a:cxn ang="0">
                  <a:pos x="T6" y="T7"/>
                </a:cxn>
                <a:cxn ang="0">
                  <a:pos x="T8" y="T9"/>
                </a:cxn>
                <a:cxn ang="0">
                  <a:pos x="T10" y="T11"/>
                </a:cxn>
              </a:cxnLst>
              <a:rect l="0" t="0" r="r" b="b"/>
              <a:pathLst>
                <a:path w="149" h="149">
                  <a:moveTo>
                    <a:pt x="149" y="0"/>
                  </a:moveTo>
                  <a:cubicBezTo>
                    <a:pt x="149" y="45"/>
                    <a:pt x="149" y="89"/>
                    <a:pt x="148" y="132"/>
                  </a:cubicBezTo>
                  <a:cubicBezTo>
                    <a:pt x="148" y="137"/>
                    <a:pt x="148" y="143"/>
                    <a:pt x="147" y="149"/>
                  </a:cubicBezTo>
                  <a:cubicBezTo>
                    <a:pt x="98" y="149"/>
                    <a:pt x="50" y="149"/>
                    <a:pt x="0" y="149"/>
                  </a:cubicBezTo>
                  <a:cubicBezTo>
                    <a:pt x="0" y="100"/>
                    <a:pt x="0" y="50"/>
                    <a:pt x="0" y="0"/>
                  </a:cubicBezTo>
                  <a:cubicBezTo>
                    <a:pt x="49" y="0"/>
                    <a:pt x="97" y="0"/>
                    <a:pt x="14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oppins" pitchFamily="2" charset="77"/>
                <a:ea typeface="+mn-ea"/>
                <a:cs typeface="Poppins" pitchFamily="2" charset="77"/>
              </a:endParaRPr>
            </a:p>
          </p:txBody>
        </p:sp>
        <p:sp>
          <p:nvSpPr>
            <p:cNvPr id="155" name="Freeform 127">
              <a:extLst>
                <a:ext uri="{FF2B5EF4-FFF2-40B4-BE49-F238E27FC236}">
                  <a16:creationId xmlns:a16="http://schemas.microsoft.com/office/drawing/2014/main" id="{07482017-E8F1-2AFC-C47D-870959856895}"/>
                </a:ext>
              </a:extLst>
            </p:cNvPr>
            <p:cNvSpPr>
              <a:spLocks/>
            </p:cNvSpPr>
            <p:nvPr/>
          </p:nvSpPr>
          <p:spPr bwMode="auto">
            <a:xfrm>
              <a:off x="-1093788" y="3087688"/>
              <a:ext cx="249238" cy="255588"/>
            </a:xfrm>
            <a:custGeom>
              <a:avLst/>
              <a:gdLst>
                <a:gd name="T0" fmla="*/ 313 w 855"/>
                <a:gd name="T1" fmla="*/ 715 h 874"/>
                <a:gd name="T2" fmla="*/ 350 w 855"/>
                <a:gd name="T3" fmla="*/ 778 h 874"/>
                <a:gd name="T4" fmla="*/ 849 w 855"/>
                <a:gd name="T5" fmla="*/ 493 h 874"/>
                <a:gd name="T6" fmla="*/ 855 w 855"/>
                <a:gd name="T7" fmla="*/ 496 h 874"/>
                <a:gd name="T8" fmla="*/ 834 w 855"/>
                <a:gd name="T9" fmla="*/ 577 h 874"/>
                <a:gd name="T10" fmla="*/ 401 w 855"/>
                <a:gd name="T11" fmla="*/ 857 h 874"/>
                <a:gd name="T12" fmla="*/ 36 w 855"/>
                <a:gd name="T13" fmla="*/ 513 h 874"/>
                <a:gd name="T14" fmla="*/ 375 w 855"/>
                <a:gd name="T15" fmla="*/ 39 h 874"/>
                <a:gd name="T16" fmla="*/ 853 w 855"/>
                <a:gd name="T17" fmla="*/ 393 h 874"/>
                <a:gd name="T18" fmla="*/ 840 w 855"/>
                <a:gd name="T19" fmla="*/ 413 h 874"/>
                <a:gd name="T20" fmla="*/ 510 w 855"/>
                <a:gd name="T21" fmla="*/ 601 h 874"/>
                <a:gd name="T22" fmla="*/ 332 w 855"/>
                <a:gd name="T23" fmla="*/ 703 h 874"/>
                <a:gd name="T24" fmla="*/ 313 w 855"/>
                <a:gd name="T25" fmla="*/ 715 h 8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5" h="874">
                  <a:moveTo>
                    <a:pt x="313" y="715"/>
                  </a:moveTo>
                  <a:cubicBezTo>
                    <a:pt x="326" y="737"/>
                    <a:pt x="338" y="757"/>
                    <a:pt x="350" y="778"/>
                  </a:cubicBezTo>
                  <a:cubicBezTo>
                    <a:pt x="517" y="683"/>
                    <a:pt x="683" y="588"/>
                    <a:pt x="849" y="493"/>
                  </a:cubicBezTo>
                  <a:cubicBezTo>
                    <a:pt x="851" y="494"/>
                    <a:pt x="853" y="495"/>
                    <a:pt x="855" y="496"/>
                  </a:cubicBezTo>
                  <a:cubicBezTo>
                    <a:pt x="848" y="523"/>
                    <a:pt x="843" y="551"/>
                    <a:pt x="834" y="577"/>
                  </a:cubicBezTo>
                  <a:cubicBezTo>
                    <a:pt x="775" y="760"/>
                    <a:pt x="597" y="874"/>
                    <a:pt x="401" y="857"/>
                  </a:cubicBezTo>
                  <a:cubicBezTo>
                    <a:pt x="221" y="842"/>
                    <a:pt x="65" y="695"/>
                    <a:pt x="36" y="513"/>
                  </a:cubicBezTo>
                  <a:cubicBezTo>
                    <a:pt x="0" y="289"/>
                    <a:pt x="151" y="78"/>
                    <a:pt x="375" y="39"/>
                  </a:cubicBezTo>
                  <a:cubicBezTo>
                    <a:pt x="603" y="0"/>
                    <a:pt x="824" y="163"/>
                    <a:pt x="853" y="393"/>
                  </a:cubicBezTo>
                  <a:cubicBezTo>
                    <a:pt x="855" y="406"/>
                    <a:pt x="847" y="409"/>
                    <a:pt x="840" y="413"/>
                  </a:cubicBezTo>
                  <a:cubicBezTo>
                    <a:pt x="730" y="476"/>
                    <a:pt x="620" y="539"/>
                    <a:pt x="510" y="601"/>
                  </a:cubicBezTo>
                  <a:cubicBezTo>
                    <a:pt x="451" y="635"/>
                    <a:pt x="391" y="669"/>
                    <a:pt x="332" y="703"/>
                  </a:cubicBezTo>
                  <a:cubicBezTo>
                    <a:pt x="326" y="707"/>
                    <a:pt x="321" y="710"/>
                    <a:pt x="313" y="7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Poppins" pitchFamily="2" charset="77"/>
                <a:ea typeface="+mn-ea"/>
                <a:cs typeface="Poppins" pitchFamily="2" charset="77"/>
              </a:endParaRPr>
            </a:p>
          </p:txBody>
        </p:sp>
      </p:grpSp>
      <p:grpSp>
        <p:nvGrpSpPr>
          <p:cNvPr id="156" name="Group 155">
            <a:extLst>
              <a:ext uri="{FF2B5EF4-FFF2-40B4-BE49-F238E27FC236}">
                <a16:creationId xmlns:a16="http://schemas.microsoft.com/office/drawing/2014/main" id="{19E3637B-69A3-2EE5-E7B9-7811D146BB17}"/>
              </a:ext>
            </a:extLst>
          </p:cNvPr>
          <p:cNvGrpSpPr/>
          <p:nvPr/>
        </p:nvGrpSpPr>
        <p:grpSpPr>
          <a:xfrm>
            <a:off x="10534667" y="1219296"/>
            <a:ext cx="1593886" cy="506676"/>
            <a:chOff x="6279728" y="2803376"/>
            <a:chExt cx="1398543" cy="506676"/>
          </a:xfrm>
        </p:grpSpPr>
        <p:sp>
          <p:nvSpPr>
            <p:cNvPr id="157" name="Pentagon 43">
              <a:extLst>
                <a:ext uri="{FF2B5EF4-FFF2-40B4-BE49-F238E27FC236}">
                  <a16:creationId xmlns:a16="http://schemas.microsoft.com/office/drawing/2014/main" id="{9CDFEA15-C911-D0FF-6130-2C34DAB132F0}"/>
                </a:ext>
              </a:extLst>
            </p:cNvPr>
            <p:cNvSpPr/>
            <p:nvPr/>
          </p:nvSpPr>
          <p:spPr>
            <a:xfrm>
              <a:off x="6279728" y="2803376"/>
              <a:ext cx="1398543" cy="50610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Poppins" pitchFamily="2" charset="77"/>
                <a:ea typeface="+mn-ea"/>
                <a:cs typeface="Poppins" pitchFamily="2" charset="77"/>
              </a:endParaRPr>
            </a:p>
          </p:txBody>
        </p:sp>
        <p:sp>
          <p:nvSpPr>
            <p:cNvPr id="158" name="Pentagon 42">
              <a:extLst>
                <a:ext uri="{FF2B5EF4-FFF2-40B4-BE49-F238E27FC236}">
                  <a16:creationId xmlns:a16="http://schemas.microsoft.com/office/drawing/2014/main" id="{27001B4E-BE6B-7D18-D57E-48402450A841}"/>
                </a:ext>
              </a:extLst>
            </p:cNvPr>
            <p:cNvSpPr/>
            <p:nvPr/>
          </p:nvSpPr>
          <p:spPr>
            <a:xfrm>
              <a:off x="6279728" y="2803664"/>
              <a:ext cx="1307636" cy="506101"/>
            </a:xfrm>
            <a:prstGeom prst="roundRect">
              <a:avLst/>
            </a:prstGeom>
            <a:solidFill>
              <a:srgbClr val="002E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Poppins" pitchFamily="2" charset="77"/>
                <a:ea typeface="+mn-ea"/>
                <a:cs typeface="Poppins" pitchFamily="2" charset="77"/>
              </a:endParaRPr>
            </a:p>
          </p:txBody>
        </p:sp>
        <p:sp>
          <p:nvSpPr>
            <p:cNvPr id="159" name="Pentagon 40">
              <a:extLst>
                <a:ext uri="{FF2B5EF4-FFF2-40B4-BE49-F238E27FC236}">
                  <a16:creationId xmlns:a16="http://schemas.microsoft.com/office/drawing/2014/main" id="{DE097DEB-38AA-5AD2-E3B8-9B165C44829E}"/>
                </a:ext>
              </a:extLst>
            </p:cNvPr>
            <p:cNvSpPr/>
            <p:nvPr/>
          </p:nvSpPr>
          <p:spPr>
            <a:xfrm>
              <a:off x="6279728" y="2803951"/>
              <a:ext cx="1216729" cy="506101"/>
            </a:xfrm>
            <a:prstGeom prst="round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2060"/>
                  </a:solidFill>
                  <a:effectLst/>
                  <a:uLnTx/>
                  <a:uFillTx/>
                  <a:latin typeface="Poppins" pitchFamily="2" charset="77"/>
                  <a:ea typeface="+mn-ea"/>
                  <a:cs typeface="Poppins" pitchFamily="2" charset="77"/>
                </a:rPr>
                <a:t>DATA</a:t>
              </a:r>
            </a:p>
          </p:txBody>
        </p:sp>
      </p:grpSp>
      <p:grpSp>
        <p:nvGrpSpPr>
          <p:cNvPr id="164" name="Group 163">
            <a:extLst>
              <a:ext uri="{FF2B5EF4-FFF2-40B4-BE49-F238E27FC236}">
                <a16:creationId xmlns:a16="http://schemas.microsoft.com/office/drawing/2014/main" id="{0B78423E-17F7-6985-AF46-E02761617CF7}"/>
              </a:ext>
            </a:extLst>
          </p:cNvPr>
          <p:cNvGrpSpPr/>
          <p:nvPr/>
        </p:nvGrpSpPr>
        <p:grpSpPr>
          <a:xfrm>
            <a:off x="10546780" y="3770153"/>
            <a:ext cx="1593886" cy="506676"/>
            <a:chOff x="6279728" y="2803376"/>
            <a:chExt cx="1398543" cy="506676"/>
          </a:xfrm>
        </p:grpSpPr>
        <p:sp>
          <p:nvSpPr>
            <p:cNvPr id="165" name="Pentagon 43">
              <a:extLst>
                <a:ext uri="{FF2B5EF4-FFF2-40B4-BE49-F238E27FC236}">
                  <a16:creationId xmlns:a16="http://schemas.microsoft.com/office/drawing/2014/main" id="{361D54F1-8C6A-2140-A0CF-E82BCE82FAEC}"/>
                </a:ext>
              </a:extLst>
            </p:cNvPr>
            <p:cNvSpPr/>
            <p:nvPr/>
          </p:nvSpPr>
          <p:spPr>
            <a:xfrm>
              <a:off x="6279728" y="2803376"/>
              <a:ext cx="1398543" cy="50610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Poppins" pitchFamily="2" charset="77"/>
                <a:ea typeface="+mn-ea"/>
                <a:cs typeface="Poppins" pitchFamily="2" charset="77"/>
              </a:endParaRPr>
            </a:p>
          </p:txBody>
        </p:sp>
        <p:sp>
          <p:nvSpPr>
            <p:cNvPr id="166" name="Pentagon 42">
              <a:extLst>
                <a:ext uri="{FF2B5EF4-FFF2-40B4-BE49-F238E27FC236}">
                  <a16:creationId xmlns:a16="http://schemas.microsoft.com/office/drawing/2014/main" id="{89A64453-3BFF-3F92-500C-468409188BDA}"/>
                </a:ext>
              </a:extLst>
            </p:cNvPr>
            <p:cNvSpPr/>
            <p:nvPr/>
          </p:nvSpPr>
          <p:spPr>
            <a:xfrm>
              <a:off x="6279728" y="2803664"/>
              <a:ext cx="1307636" cy="506101"/>
            </a:xfrm>
            <a:prstGeom prst="roundRect">
              <a:avLst/>
            </a:prstGeom>
            <a:solidFill>
              <a:srgbClr val="002E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Poppins" pitchFamily="2" charset="77"/>
                <a:ea typeface="+mn-ea"/>
                <a:cs typeface="Poppins" pitchFamily="2" charset="77"/>
              </a:endParaRPr>
            </a:p>
          </p:txBody>
        </p:sp>
        <p:sp>
          <p:nvSpPr>
            <p:cNvPr id="167" name="Pentagon 40">
              <a:extLst>
                <a:ext uri="{FF2B5EF4-FFF2-40B4-BE49-F238E27FC236}">
                  <a16:creationId xmlns:a16="http://schemas.microsoft.com/office/drawing/2014/main" id="{F6AFCF6D-F497-ECA1-E24F-C03B95435124}"/>
                </a:ext>
              </a:extLst>
            </p:cNvPr>
            <p:cNvSpPr/>
            <p:nvPr/>
          </p:nvSpPr>
          <p:spPr>
            <a:xfrm>
              <a:off x="6279728" y="2803951"/>
              <a:ext cx="1216729" cy="506101"/>
            </a:xfrm>
            <a:prstGeom prst="round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2060"/>
                  </a:solidFill>
                  <a:effectLst/>
                  <a:uLnTx/>
                  <a:uFillTx/>
                  <a:latin typeface="Poppins" pitchFamily="2" charset="77"/>
                  <a:ea typeface="+mn-ea"/>
                  <a:cs typeface="Poppins" pitchFamily="2" charset="77"/>
                </a:rPr>
                <a:t>TECH STACK</a:t>
              </a:r>
            </a:p>
          </p:txBody>
        </p:sp>
      </p:grpSp>
      <p:pic>
        <p:nvPicPr>
          <p:cNvPr id="95" name="Picture 94">
            <a:extLst>
              <a:ext uri="{FF2B5EF4-FFF2-40B4-BE49-F238E27FC236}">
                <a16:creationId xmlns:a16="http://schemas.microsoft.com/office/drawing/2014/main" id="{1077BDC2-C421-F0C9-59F0-AB4F63C12D51}"/>
              </a:ext>
            </a:extLst>
          </p:cNvPr>
          <p:cNvPicPr>
            <a:picLocks noChangeAspect="1"/>
          </p:cNvPicPr>
          <p:nvPr/>
        </p:nvPicPr>
        <p:blipFill>
          <a:blip r:embed="rId11"/>
          <a:stretch>
            <a:fillRect/>
          </a:stretch>
        </p:blipFill>
        <p:spPr>
          <a:xfrm>
            <a:off x="6993194" y="1798630"/>
            <a:ext cx="1670854" cy="1820541"/>
          </a:xfrm>
          <a:prstGeom prst="rect">
            <a:avLst/>
          </a:prstGeom>
        </p:spPr>
      </p:pic>
      <p:pic>
        <p:nvPicPr>
          <p:cNvPr id="84" name="Picture 83">
            <a:extLst>
              <a:ext uri="{FF2B5EF4-FFF2-40B4-BE49-F238E27FC236}">
                <a16:creationId xmlns:a16="http://schemas.microsoft.com/office/drawing/2014/main" id="{DF043715-ABCE-3B1A-F7C1-8808B3E34598}"/>
              </a:ext>
            </a:extLst>
          </p:cNvPr>
          <p:cNvPicPr>
            <a:picLocks noChangeAspect="1"/>
          </p:cNvPicPr>
          <p:nvPr/>
        </p:nvPicPr>
        <p:blipFill>
          <a:blip r:embed="rId12"/>
          <a:stretch>
            <a:fillRect/>
          </a:stretch>
        </p:blipFill>
        <p:spPr>
          <a:xfrm>
            <a:off x="3303182" y="4298018"/>
            <a:ext cx="2018256" cy="1413597"/>
          </a:xfrm>
          <a:prstGeom prst="rect">
            <a:avLst/>
          </a:prstGeom>
        </p:spPr>
      </p:pic>
      <p:pic>
        <p:nvPicPr>
          <p:cNvPr id="96" name="Picture 95">
            <a:extLst>
              <a:ext uri="{FF2B5EF4-FFF2-40B4-BE49-F238E27FC236}">
                <a16:creationId xmlns:a16="http://schemas.microsoft.com/office/drawing/2014/main" id="{E53B294E-33ED-A93C-454C-941AC2A4B144}"/>
              </a:ext>
            </a:extLst>
          </p:cNvPr>
          <p:cNvPicPr>
            <a:picLocks noChangeAspect="1"/>
          </p:cNvPicPr>
          <p:nvPr/>
        </p:nvPicPr>
        <p:blipFill rotWithShape="1">
          <a:blip r:embed="rId13"/>
          <a:srcRect r="59685" b="12433"/>
          <a:stretch/>
        </p:blipFill>
        <p:spPr>
          <a:xfrm>
            <a:off x="5447153" y="4488555"/>
            <a:ext cx="1188720" cy="919703"/>
          </a:xfrm>
          <a:prstGeom prst="rect">
            <a:avLst/>
          </a:prstGeom>
        </p:spPr>
      </p:pic>
      <p:pic>
        <p:nvPicPr>
          <p:cNvPr id="2052" name="Picture 4" descr="OpenStack expands both its customer ...">
            <a:extLst>
              <a:ext uri="{FF2B5EF4-FFF2-40B4-BE49-F238E27FC236}">
                <a16:creationId xmlns:a16="http://schemas.microsoft.com/office/drawing/2014/main" id="{920852AA-FA00-AC14-9EFD-94FD6405253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625619" y="5673425"/>
            <a:ext cx="1463040" cy="399016"/>
          </a:xfrm>
          <a:prstGeom prst="rect">
            <a:avLst/>
          </a:prstGeom>
          <a:noFill/>
          <a:extLst>
            <a:ext uri="{909E8E84-426E-40DD-AFC4-6F175D3DCCD1}">
              <a14:hiddenFill xmlns:a14="http://schemas.microsoft.com/office/drawing/2010/main">
                <a:solidFill>
                  <a:srgbClr val="FFFFFF"/>
                </a:solidFill>
              </a14:hiddenFill>
            </a:ext>
          </a:extLst>
        </p:spPr>
      </p:pic>
      <p:sp>
        <p:nvSpPr>
          <p:cNvPr id="99" name="TextBox 98">
            <a:extLst>
              <a:ext uri="{FF2B5EF4-FFF2-40B4-BE49-F238E27FC236}">
                <a16:creationId xmlns:a16="http://schemas.microsoft.com/office/drawing/2014/main" id="{BB1CF55A-6EAE-3F0D-E4C0-5A65B8CBD5C0}"/>
              </a:ext>
            </a:extLst>
          </p:cNvPr>
          <p:cNvSpPr txBox="1"/>
          <p:nvPr/>
        </p:nvSpPr>
        <p:spPr>
          <a:xfrm>
            <a:off x="10546779" y="2197155"/>
            <a:ext cx="1502157" cy="846386"/>
          </a:xfrm>
          <a:prstGeom prst="rect">
            <a:avLst/>
          </a:prstGeom>
          <a:noFill/>
        </p:spPr>
        <p:txBody>
          <a:bodyPr wrap="square" lIns="0" tIns="0" rIns="0" bIns="0" rtlCol="0" anchor="ctr">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2060"/>
                </a:solidFill>
                <a:effectLst/>
                <a:uLnTx/>
                <a:uFillTx/>
                <a:latin typeface="Poppins" pitchFamily="2" charset="77"/>
                <a:ea typeface="+mn-ea"/>
                <a:cs typeface="Poppins" pitchFamily="2" charset="77"/>
              </a:rPr>
              <a:t>BOOKING DATA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2060"/>
                </a:solidFill>
                <a:effectLst/>
                <a:uLnTx/>
                <a:uFillTx/>
                <a:latin typeface="Poppins" pitchFamily="2" charset="77"/>
                <a:ea typeface="+mn-ea"/>
                <a:cs typeface="Poppins" pitchFamily="2" charset="77"/>
              </a:rPr>
              <a:t>FIRMOGRAPHIC DATA (DnB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2060"/>
                </a:solidFill>
                <a:effectLst/>
                <a:uLnTx/>
                <a:uFillTx/>
                <a:latin typeface="Poppins" pitchFamily="2" charset="77"/>
                <a:ea typeface="+mn-ea"/>
                <a:cs typeface="Poppins" pitchFamily="2" charset="77"/>
              </a:rPr>
              <a:t>ENGAGEMENT DATA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2060"/>
                </a:solidFill>
                <a:effectLst/>
                <a:uLnTx/>
                <a:uFillTx/>
                <a:latin typeface="Poppins" pitchFamily="2" charset="77"/>
                <a:ea typeface="+mn-ea"/>
                <a:cs typeface="Poppins" pitchFamily="2" charset="77"/>
              </a:rPr>
              <a:t>COMPETITION DATA</a:t>
            </a:r>
          </a:p>
        </p:txBody>
      </p:sp>
      <p:pic>
        <p:nvPicPr>
          <p:cNvPr id="100" name="Picture 99">
            <a:extLst>
              <a:ext uri="{FF2B5EF4-FFF2-40B4-BE49-F238E27FC236}">
                <a16:creationId xmlns:a16="http://schemas.microsoft.com/office/drawing/2014/main" id="{24440C3A-E94C-164E-4884-5755D85F02AC}"/>
              </a:ext>
            </a:extLst>
          </p:cNvPr>
          <p:cNvPicPr>
            <a:picLocks noChangeAspect="1"/>
          </p:cNvPicPr>
          <p:nvPr/>
        </p:nvPicPr>
        <p:blipFill>
          <a:blip r:embed="rId15"/>
          <a:stretch>
            <a:fillRect/>
          </a:stretch>
        </p:blipFill>
        <p:spPr>
          <a:xfrm>
            <a:off x="3420755" y="1816984"/>
            <a:ext cx="3200400" cy="136638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