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17B33F41-F667-85C6-2A6F-3573E84BAEB7}"/>
              </a:ext>
            </a:extLst>
          </p:cNvPr>
          <p:cNvSpPr>
            <a:spLocks noGrp="1"/>
          </p:cNvSpPr>
          <p:nvPr>
            <p:ph type="title"/>
          </p:nvPr>
        </p:nvSpPr>
        <p:spPr>
          <a:xfrm>
            <a:off x="592668" y="257992"/>
            <a:ext cx="6045876" cy="559260"/>
          </a:xfrm>
        </p:spPr>
        <p:txBody>
          <a:bodyPr>
            <a:noAutofit/>
          </a:bodyPr>
          <a:lstStyle/>
          <a:p>
            <a:r>
              <a:rPr lang="en-US" sz="2400" b="1"/>
              <a:t>Gen AI-Based Sales Co-Pilot Chatbot</a:t>
            </a:r>
          </a:p>
        </p:txBody>
      </p:sp>
      <p:sp>
        <p:nvSpPr>
          <p:cNvPr id="3" name="Rectangle 2">
            <a:extLst>
              <a:ext uri="{FF2B5EF4-FFF2-40B4-BE49-F238E27FC236}">
                <a16:creationId xmlns:a16="http://schemas.microsoft.com/office/drawing/2014/main" id="{BF8402D9-B384-EE58-448C-978051FA8D1F}"/>
              </a:ext>
            </a:extLst>
          </p:cNvPr>
          <p:cNvSpPr/>
          <p:nvPr/>
        </p:nvSpPr>
        <p:spPr>
          <a:xfrm>
            <a:off x="478520" y="898058"/>
            <a:ext cx="7111893" cy="956142"/>
          </a:xfrm>
          <a:prstGeom prst="rect">
            <a:avLst/>
          </a:prstGeom>
          <a:solidFill>
            <a:srgbClr val="002E8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705F082F-F140-6B6C-9827-D1A7BF1CEF02}"/>
              </a:ext>
            </a:extLst>
          </p:cNvPr>
          <p:cNvSpPr txBox="1"/>
          <p:nvPr/>
        </p:nvSpPr>
        <p:spPr>
          <a:xfrm>
            <a:off x="478519" y="888106"/>
            <a:ext cx="7263759" cy="95410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Poppins "/>
                <a:ea typeface="+mn-ea"/>
                <a:cs typeface="Calibri" panose="020F0502020204030204" pitchFamily="34" charset="0"/>
              </a:rPr>
              <a:t>Business Context: </a:t>
            </a:r>
            <a:r>
              <a:rPr kumimoji="0" lang="en-US" sz="1100" b="0" i="0" u="none" strike="noStrike" kern="1200" cap="none" spc="0" normalizeH="0" baseline="0" noProof="0">
                <a:ln>
                  <a:noFill/>
                </a:ln>
                <a:solidFill>
                  <a:prstClr val="white"/>
                </a:solidFill>
                <a:effectLst/>
                <a:uLnTx/>
                <a:uFillTx/>
                <a:latin typeface="Poppins "/>
                <a:ea typeface="+mn-ea"/>
                <a:cs typeface="+mn-cs"/>
              </a:rPr>
              <a:t>A leading technology company required a dynamic solution to provide instant access to crucial sales information for their professionals. The objective was to develop a chatbot tailored specifically for sales personnel, enabling them to query key metrics such as renewals, target compensation, comparisons, and sales forecasting. Leveraging both structured and unstructured data, the bot aimed to provide seamless access to information, enhancing sales efficiency.</a:t>
            </a:r>
            <a:endParaRPr kumimoji="0" lang="en-US" sz="1100" b="1" i="0" u="none" strike="noStrike" kern="1200" cap="none" spc="0" normalizeH="0" baseline="0" noProof="0">
              <a:ln>
                <a:noFill/>
              </a:ln>
              <a:solidFill>
                <a:prstClr val="white"/>
              </a:solidFill>
              <a:effectLst/>
              <a:uLnTx/>
              <a:uFillTx/>
              <a:latin typeface="Poppins "/>
              <a:ea typeface="+mn-ea"/>
              <a:cs typeface="Calibri" panose="020F0502020204030204" pitchFamily="34" charset="0"/>
            </a:endParaRPr>
          </a:p>
        </p:txBody>
      </p:sp>
      <p:sp>
        <p:nvSpPr>
          <p:cNvPr id="6" name="Rectangle 5">
            <a:extLst>
              <a:ext uri="{FF2B5EF4-FFF2-40B4-BE49-F238E27FC236}">
                <a16:creationId xmlns:a16="http://schemas.microsoft.com/office/drawing/2014/main" id="{592E148D-0166-6312-D1BE-35660DB70603}"/>
              </a:ext>
            </a:extLst>
          </p:cNvPr>
          <p:cNvSpPr/>
          <p:nvPr/>
        </p:nvSpPr>
        <p:spPr bwMode="auto">
          <a:xfrm>
            <a:off x="7986181" y="1258770"/>
            <a:ext cx="3913129" cy="2908930"/>
          </a:xfrm>
          <a:prstGeom prst="rect">
            <a:avLst/>
          </a:prstGeom>
          <a:solidFill>
            <a:schemeClr val="bg1">
              <a:lumMod val="95000"/>
            </a:schemeClr>
          </a:solidFill>
          <a:ln w="9525">
            <a:noFill/>
            <a:round/>
            <a:headEnd/>
            <a:tailEn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7" name="Group 6">
            <a:extLst>
              <a:ext uri="{FF2B5EF4-FFF2-40B4-BE49-F238E27FC236}">
                <a16:creationId xmlns:a16="http://schemas.microsoft.com/office/drawing/2014/main" id="{B34AE2BE-E536-A9DF-666F-7F3B22864BA2}"/>
              </a:ext>
            </a:extLst>
          </p:cNvPr>
          <p:cNvGrpSpPr/>
          <p:nvPr/>
        </p:nvGrpSpPr>
        <p:grpSpPr>
          <a:xfrm>
            <a:off x="7744415" y="898058"/>
            <a:ext cx="2979921" cy="658812"/>
            <a:chOff x="7555266" y="1214168"/>
            <a:chExt cx="2979921" cy="658812"/>
          </a:xfrm>
        </p:grpSpPr>
        <p:sp>
          <p:nvSpPr>
            <p:cNvPr id="8" name="Right Triangle 7">
              <a:extLst>
                <a:ext uri="{FF2B5EF4-FFF2-40B4-BE49-F238E27FC236}">
                  <a16:creationId xmlns:a16="http://schemas.microsoft.com/office/drawing/2014/main" id="{E8C9E3BE-CE73-965C-1F5A-8DE5259DBD16}"/>
                </a:ext>
              </a:extLst>
            </p:cNvPr>
            <p:cNvSpPr/>
            <p:nvPr/>
          </p:nvSpPr>
          <p:spPr bwMode="auto">
            <a:xfrm>
              <a:off x="10287623" y="1224031"/>
              <a:ext cx="247564" cy="350848"/>
            </a:xfrm>
            <a:prstGeom prst="rtTriangle">
              <a:avLst/>
            </a:prstGeom>
            <a:solidFill>
              <a:srgbClr val="288886"/>
            </a:solidFill>
            <a:ln w="9525">
              <a:noFill/>
              <a:round/>
              <a:headEnd/>
              <a:tailEnd/>
            </a:ln>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Right Triangle 8">
              <a:extLst>
                <a:ext uri="{FF2B5EF4-FFF2-40B4-BE49-F238E27FC236}">
                  <a16:creationId xmlns:a16="http://schemas.microsoft.com/office/drawing/2014/main" id="{C3A6A9FE-CFB6-CCCB-2DB8-322863F54162}"/>
                </a:ext>
              </a:extLst>
            </p:cNvPr>
            <p:cNvSpPr/>
            <p:nvPr/>
          </p:nvSpPr>
          <p:spPr bwMode="auto">
            <a:xfrm rot="10800000">
              <a:off x="7555266" y="1683704"/>
              <a:ext cx="247564" cy="189276"/>
            </a:xfrm>
            <a:prstGeom prst="rtTriangle">
              <a:avLst/>
            </a:prstGeom>
            <a:solidFill>
              <a:srgbClr val="288886"/>
            </a:solidFill>
            <a:ln w="9525">
              <a:noFill/>
              <a:round/>
              <a:headEnd/>
              <a:tailEnd/>
            </a:ln>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E464FB2A-332E-D147-C025-0D442B7A7A92}"/>
                </a:ext>
              </a:extLst>
            </p:cNvPr>
            <p:cNvSpPr/>
            <p:nvPr/>
          </p:nvSpPr>
          <p:spPr bwMode="auto">
            <a:xfrm>
              <a:off x="7555266" y="1214168"/>
              <a:ext cx="2732357" cy="469537"/>
            </a:xfrm>
            <a:prstGeom prst="rect">
              <a:avLst/>
            </a:prstGeom>
            <a:solidFill>
              <a:srgbClr val="39C1BF"/>
            </a:solidFill>
            <a:ln w="9525">
              <a:noFill/>
              <a:round/>
              <a:headEnd/>
              <a:tailEnd/>
            </a:ln>
            <a:effectLst>
              <a:outerShdw blurRad="50800" dist="38100" dir="5400000" algn="t"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prstClr val="white"/>
                  </a:solidFill>
                  <a:effectLst/>
                  <a:uLnTx/>
                  <a:uFillTx/>
                  <a:latin typeface="Poppins"/>
                  <a:ea typeface="+mn-ea"/>
                  <a:cs typeface="+mn-cs"/>
                </a:rPr>
                <a:t> Value Delivered</a:t>
              </a:r>
              <a:endParaRPr kumimoji="0" lang="en-US" sz="1600" b="1" i="0" u="none" strike="noStrike" kern="1200" cap="none" spc="0" normalizeH="0" baseline="0" noProof="0">
                <a:ln>
                  <a:noFill/>
                </a:ln>
                <a:solidFill>
                  <a:prstClr val="white"/>
                </a:solidFill>
                <a:effectLst/>
                <a:uLnTx/>
                <a:uFillTx/>
                <a:latin typeface="Poppins"/>
                <a:ea typeface="+mn-ea"/>
                <a:cs typeface="+mn-cs"/>
              </a:endParaRPr>
            </a:p>
          </p:txBody>
        </p:sp>
      </p:grpSp>
      <p:sp>
        <p:nvSpPr>
          <p:cNvPr id="11" name="TextBox 10">
            <a:extLst>
              <a:ext uri="{FF2B5EF4-FFF2-40B4-BE49-F238E27FC236}">
                <a16:creationId xmlns:a16="http://schemas.microsoft.com/office/drawing/2014/main" id="{E2ED7081-ECBF-2D2F-1792-F72E7D2A4163}"/>
              </a:ext>
            </a:extLst>
          </p:cNvPr>
          <p:cNvSpPr txBox="1"/>
          <p:nvPr/>
        </p:nvSpPr>
        <p:spPr>
          <a:xfrm>
            <a:off x="8085055" y="1498486"/>
            <a:ext cx="3812118" cy="2146229"/>
          </a:xfrm>
          <a:prstGeom prst="rect">
            <a:avLst/>
          </a:prstGeom>
          <a:noFill/>
        </p:spPr>
        <p:txBody>
          <a:bodyPr wrap="square" lIns="91440" tIns="45720" rIns="91440" bIns="45720" rtlCol="0" anchor="t">
            <a:spAutoFit/>
          </a:bodyPr>
          <a:lstStyle/>
          <a:p>
            <a:pPr marL="285750" marR="0" lvl="0" indent="-285750" algn="l" defTabSz="1218987" rtl="0" eaLnBrk="1" fontAlgn="auto" latinLnBrk="0" hangingPunct="0">
              <a:lnSpc>
                <a:spcPct val="120000"/>
              </a:lnSpc>
              <a:spcBef>
                <a:spcPts val="0"/>
              </a:spcBef>
              <a:spcAft>
                <a:spcPts val="0"/>
              </a:spcAft>
              <a:buClrTx/>
              <a:buSzPct val="60000"/>
              <a:buFont typeface="Arial" panose="020B0604020202020204" pitchFamily="34" charset="0"/>
              <a:buChar char="•"/>
              <a:tabLst/>
              <a:defRPr/>
            </a:pPr>
            <a:r>
              <a:rPr kumimoji="0" lang="en-US" sz="1400" b="0" i="0" u="none" strike="noStrike" kern="0" cap="none" spc="0" normalizeH="0" baseline="0" noProof="0">
                <a:ln>
                  <a:noFill/>
                </a:ln>
                <a:solidFill>
                  <a:srgbClr val="002060"/>
                </a:solidFill>
                <a:effectLst/>
                <a:uLnTx/>
                <a:uFillTx/>
                <a:latin typeface="Poppins "/>
                <a:ea typeface="ＭＳ Ｐゴシック"/>
                <a:cs typeface="Helvetica"/>
              </a:rPr>
              <a:t> Self-service access to sales data  right at their fingertips </a:t>
            </a:r>
          </a:p>
          <a:p>
            <a:pPr marL="285750" marR="0" lvl="0" indent="-285750" algn="l" defTabSz="1218987" rtl="0" eaLnBrk="1" fontAlgn="auto" latinLnBrk="0" hangingPunct="0">
              <a:lnSpc>
                <a:spcPct val="120000"/>
              </a:lnSpc>
              <a:spcBef>
                <a:spcPts val="0"/>
              </a:spcBef>
              <a:spcAft>
                <a:spcPts val="0"/>
              </a:spcAft>
              <a:buClrTx/>
              <a:buSzPct val="60000"/>
              <a:buFont typeface="Arial" panose="020B0604020202020204" pitchFamily="34" charset="0"/>
              <a:buChar char="•"/>
              <a:tabLst/>
              <a:defRPr/>
            </a:pPr>
            <a:r>
              <a:rPr kumimoji="0" lang="en-US" sz="1400" b="0" i="0" u="none" strike="noStrike" kern="0" cap="none" spc="0" normalizeH="0" baseline="0" noProof="0">
                <a:ln>
                  <a:noFill/>
                </a:ln>
                <a:solidFill>
                  <a:srgbClr val="002060"/>
                </a:solidFill>
                <a:effectLst/>
                <a:uLnTx/>
                <a:uFillTx/>
                <a:latin typeface="Poppins "/>
                <a:ea typeface="ＭＳ Ｐゴシック"/>
                <a:cs typeface="Helvetica"/>
              </a:rPr>
              <a:t>Improved sales performance  and customer relationships</a:t>
            </a:r>
          </a:p>
          <a:p>
            <a:pPr marL="285750" marR="0" lvl="0" indent="-285750" algn="l" defTabSz="1218987" rtl="0" eaLnBrk="1" fontAlgn="auto" latinLnBrk="0" hangingPunct="0">
              <a:lnSpc>
                <a:spcPct val="120000"/>
              </a:lnSpc>
              <a:spcBef>
                <a:spcPts val="0"/>
              </a:spcBef>
              <a:spcAft>
                <a:spcPts val="0"/>
              </a:spcAft>
              <a:buClrTx/>
              <a:buSzPct val="60000"/>
              <a:buFont typeface="Arial" panose="020B0604020202020204" pitchFamily="34" charset="0"/>
              <a:buChar char="•"/>
              <a:tabLst/>
              <a:defRPr/>
            </a:pPr>
            <a:r>
              <a:rPr kumimoji="0" lang="en-US" sz="1400" b="0" i="0" u="none" strike="noStrike" kern="0" cap="none" spc="0" normalizeH="0" baseline="0" noProof="0">
                <a:ln>
                  <a:noFill/>
                </a:ln>
                <a:solidFill>
                  <a:srgbClr val="002060"/>
                </a:solidFill>
                <a:effectLst/>
                <a:uLnTx/>
                <a:uFillTx/>
                <a:latin typeface="Poppins "/>
                <a:ea typeface="ＭＳ Ｐゴシック"/>
                <a:cs typeface="Helvetica"/>
              </a:rPr>
              <a:t>R</a:t>
            </a:r>
            <a:r>
              <a:rPr kumimoji="0" lang="en-US" sz="1400" b="0" i="0" u="none" strike="noStrike" kern="0" cap="none" spc="0" normalizeH="0" baseline="0" noProof="0" err="1">
                <a:ln>
                  <a:noFill/>
                </a:ln>
                <a:solidFill>
                  <a:srgbClr val="002060"/>
                </a:solidFill>
                <a:effectLst/>
                <a:uLnTx/>
                <a:uFillTx/>
                <a:latin typeface="Poppins "/>
                <a:ea typeface="ＭＳ Ｐゴシック"/>
                <a:cs typeface="Helvetica"/>
              </a:rPr>
              <a:t>eal</a:t>
            </a:r>
            <a:r>
              <a:rPr kumimoji="0" lang="en-US" sz="1400" b="0" i="0" u="none" strike="noStrike" kern="0" cap="none" spc="0" normalizeH="0" baseline="0" noProof="0">
                <a:ln>
                  <a:noFill/>
                </a:ln>
                <a:solidFill>
                  <a:srgbClr val="002060"/>
                </a:solidFill>
                <a:effectLst/>
                <a:uLnTx/>
                <a:uFillTx/>
                <a:latin typeface="Poppins "/>
                <a:ea typeface="ＭＳ Ｐゴシック"/>
                <a:cs typeface="Helvetica"/>
              </a:rPr>
              <a:t>-time sales data and forecasts  bettered Decision-Making</a:t>
            </a:r>
          </a:p>
          <a:p>
            <a:pPr marL="285750" marR="0" lvl="0" indent="-285750" algn="l" defTabSz="1218987" rtl="0" eaLnBrk="1" fontAlgn="auto" latinLnBrk="0" hangingPunct="0">
              <a:lnSpc>
                <a:spcPct val="120000"/>
              </a:lnSpc>
              <a:spcBef>
                <a:spcPts val="0"/>
              </a:spcBef>
              <a:spcAft>
                <a:spcPts val="0"/>
              </a:spcAft>
              <a:buClrTx/>
              <a:buSzPct val="60000"/>
              <a:buFont typeface="Arial" panose="020B0604020202020204" pitchFamily="34" charset="0"/>
              <a:buChar char="•"/>
              <a:tabLst/>
              <a:defRPr/>
            </a:pPr>
            <a:r>
              <a:rPr kumimoji="0" lang="en-US" sz="1400" b="0" i="0" u="none" strike="noStrike" kern="0" cap="none" spc="0" normalizeH="0" baseline="0" noProof="0">
                <a:ln>
                  <a:noFill/>
                </a:ln>
                <a:solidFill>
                  <a:srgbClr val="002060"/>
                </a:solidFill>
                <a:effectLst/>
                <a:uLnTx/>
                <a:uFillTx/>
                <a:latin typeface="Poppins "/>
                <a:ea typeface="ＭＳ Ｐゴシック"/>
                <a:cs typeface="Helvetica"/>
              </a:rPr>
              <a:t> Data-driven insights and Faster Response</a:t>
            </a:r>
          </a:p>
        </p:txBody>
      </p:sp>
      <p:sp>
        <p:nvSpPr>
          <p:cNvPr id="12" name="Rectangle 11">
            <a:extLst>
              <a:ext uri="{FF2B5EF4-FFF2-40B4-BE49-F238E27FC236}">
                <a16:creationId xmlns:a16="http://schemas.microsoft.com/office/drawing/2014/main" id="{DBCCA228-D5A5-3545-C40F-D528498CC984}"/>
              </a:ext>
            </a:extLst>
          </p:cNvPr>
          <p:cNvSpPr/>
          <p:nvPr/>
        </p:nvSpPr>
        <p:spPr bwMode="auto">
          <a:xfrm>
            <a:off x="7986180" y="4739338"/>
            <a:ext cx="3913129" cy="1689542"/>
          </a:xfrm>
          <a:prstGeom prst="rect">
            <a:avLst/>
          </a:prstGeom>
          <a:solidFill>
            <a:schemeClr val="bg1">
              <a:lumMod val="95000"/>
            </a:schemeClr>
          </a:solidFill>
          <a:ln w="9525">
            <a:noFill/>
            <a:round/>
            <a:headEnd/>
            <a:tailEn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13" name="Group 12">
            <a:extLst>
              <a:ext uri="{FF2B5EF4-FFF2-40B4-BE49-F238E27FC236}">
                <a16:creationId xmlns:a16="http://schemas.microsoft.com/office/drawing/2014/main" id="{4C72ADC4-41A1-6D45-E6B5-66957286870C}"/>
              </a:ext>
            </a:extLst>
          </p:cNvPr>
          <p:cNvGrpSpPr/>
          <p:nvPr/>
        </p:nvGrpSpPr>
        <p:grpSpPr>
          <a:xfrm>
            <a:off x="7737324" y="4356976"/>
            <a:ext cx="2979921" cy="658812"/>
            <a:chOff x="7555266" y="1214168"/>
            <a:chExt cx="2979921" cy="658812"/>
          </a:xfrm>
        </p:grpSpPr>
        <p:sp>
          <p:nvSpPr>
            <p:cNvPr id="14" name="Right Triangle 13">
              <a:extLst>
                <a:ext uri="{FF2B5EF4-FFF2-40B4-BE49-F238E27FC236}">
                  <a16:creationId xmlns:a16="http://schemas.microsoft.com/office/drawing/2014/main" id="{5205685E-4F3B-E805-02D1-B986E271BC4F}"/>
                </a:ext>
              </a:extLst>
            </p:cNvPr>
            <p:cNvSpPr/>
            <p:nvPr/>
          </p:nvSpPr>
          <p:spPr bwMode="auto">
            <a:xfrm>
              <a:off x="10287623" y="1224031"/>
              <a:ext cx="247564" cy="350848"/>
            </a:xfrm>
            <a:prstGeom prst="rtTriangle">
              <a:avLst/>
            </a:prstGeom>
            <a:solidFill>
              <a:srgbClr val="288886"/>
            </a:solidFill>
            <a:ln w="9525">
              <a:noFill/>
              <a:round/>
              <a:headEnd/>
              <a:tailEnd/>
            </a:ln>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Right Triangle 14">
              <a:extLst>
                <a:ext uri="{FF2B5EF4-FFF2-40B4-BE49-F238E27FC236}">
                  <a16:creationId xmlns:a16="http://schemas.microsoft.com/office/drawing/2014/main" id="{1EDE7A0A-EB58-7D29-7FAE-F1CF6C44F6D3}"/>
                </a:ext>
              </a:extLst>
            </p:cNvPr>
            <p:cNvSpPr/>
            <p:nvPr/>
          </p:nvSpPr>
          <p:spPr bwMode="auto">
            <a:xfrm rot="10800000">
              <a:off x="7555266" y="1683704"/>
              <a:ext cx="247564" cy="189276"/>
            </a:xfrm>
            <a:prstGeom prst="rtTriangle">
              <a:avLst/>
            </a:prstGeom>
            <a:solidFill>
              <a:srgbClr val="288886"/>
            </a:solidFill>
            <a:ln w="9525">
              <a:noFill/>
              <a:round/>
              <a:headEnd/>
              <a:tailEnd/>
            </a:ln>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7A27D2DD-C7C3-D438-43BF-817DA9A5BE2E}"/>
                </a:ext>
              </a:extLst>
            </p:cNvPr>
            <p:cNvSpPr/>
            <p:nvPr/>
          </p:nvSpPr>
          <p:spPr bwMode="auto">
            <a:xfrm>
              <a:off x="7555266" y="1214168"/>
              <a:ext cx="2732357" cy="469537"/>
            </a:xfrm>
            <a:prstGeom prst="rect">
              <a:avLst/>
            </a:prstGeom>
            <a:solidFill>
              <a:srgbClr val="39C1BF"/>
            </a:solidFill>
            <a:ln w="9525">
              <a:noFill/>
              <a:round/>
              <a:headEnd/>
              <a:tailEnd/>
            </a:ln>
            <a:effectLst>
              <a:outerShdw blurRad="50800" dist="38100" dir="5400000" algn="t"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prstClr val="white"/>
                  </a:solidFill>
                  <a:effectLst/>
                  <a:uLnTx/>
                  <a:uFillTx/>
                  <a:latin typeface="Poppins "/>
                  <a:ea typeface="+mn-ea"/>
                  <a:cs typeface="+mn-cs"/>
                </a:rPr>
                <a:t>Technology Stack </a:t>
              </a:r>
            </a:p>
          </p:txBody>
        </p:sp>
      </p:grpSp>
      <p:sp>
        <p:nvSpPr>
          <p:cNvPr id="4" name="Rectangle 3">
            <a:extLst>
              <a:ext uri="{FF2B5EF4-FFF2-40B4-BE49-F238E27FC236}">
                <a16:creationId xmlns:a16="http://schemas.microsoft.com/office/drawing/2014/main" id="{87B7291E-09B0-7B3D-5E97-87E84192EFF5}"/>
              </a:ext>
            </a:extLst>
          </p:cNvPr>
          <p:cNvSpPr/>
          <p:nvPr/>
        </p:nvSpPr>
        <p:spPr>
          <a:xfrm>
            <a:off x="4085266" y="2824664"/>
            <a:ext cx="3505147" cy="3604216"/>
          </a:xfrm>
          <a:prstGeom prst="rect">
            <a:avLst/>
          </a:prstGeom>
          <a:solidFill>
            <a:srgbClr val="F1F4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7" name="Rectangle 16">
            <a:extLst>
              <a:ext uri="{FF2B5EF4-FFF2-40B4-BE49-F238E27FC236}">
                <a16:creationId xmlns:a16="http://schemas.microsoft.com/office/drawing/2014/main" id="{C230EEC2-230B-3772-9D81-74B5F5DD09A4}"/>
              </a:ext>
            </a:extLst>
          </p:cNvPr>
          <p:cNvSpPr/>
          <p:nvPr/>
        </p:nvSpPr>
        <p:spPr>
          <a:xfrm>
            <a:off x="455084" y="2824662"/>
            <a:ext cx="3505147" cy="3604216"/>
          </a:xfrm>
          <a:prstGeom prst="rect">
            <a:avLst/>
          </a:prstGeom>
          <a:solidFill>
            <a:srgbClr val="F1F4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21" name="TextBox 20">
            <a:extLst>
              <a:ext uri="{FF2B5EF4-FFF2-40B4-BE49-F238E27FC236}">
                <a16:creationId xmlns:a16="http://schemas.microsoft.com/office/drawing/2014/main" id="{8B5D49A1-F212-548F-9720-12CA9AE8E413}"/>
              </a:ext>
            </a:extLst>
          </p:cNvPr>
          <p:cNvSpPr txBox="1"/>
          <p:nvPr/>
        </p:nvSpPr>
        <p:spPr>
          <a:xfrm>
            <a:off x="449111" y="1903076"/>
            <a:ext cx="3094278"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2E87"/>
                </a:solidFill>
                <a:effectLst/>
                <a:uLnTx/>
                <a:uFillTx/>
                <a:latin typeface="Poppins SemiBold"/>
                <a:ea typeface="+mn-ea"/>
                <a:cs typeface="+mn-cs"/>
              </a:rPr>
              <a:t>Solution Implemented</a:t>
            </a:r>
          </a:p>
        </p:txBody>
      </p:sp>
      <p:sp>
        <p:nvSpPr>
          <p:cNvPr id="27" name="TextBox 26">
            <a:extLst>
              <a:ext uri="{FF2B5EF4-FFF2-40B4-BE49-F238E27FC236}">
                <a16:creationId xmlns:a16="http://schemas.microsoft.com/office/drawing/2014/main" id="{817EA096-A01D-C578-EAA0-B0028D643B5C}"/>
              </a:ext>
            </a:extLst>
          </p:cNvPr>
          <p:cNvSpPr txBox="1"/>
          <p:nvPr/>
        </p:nvSpPr>
        <p:spPr>
          <a:xfrm>
            <a:off x="460547" y="2903815"/>
            <a:ext cx="3494710" cy="3631763"/>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000" b="0" i="0" u="none" strike="noStrike" kern="1200" cap="none" spc="0" normalizeH="0" baseline="0" noProof="0">
                <a:ln>
                  <a:noFill/>
                </a:ln>
                <a:solidFill>
                  <a:prstClr val="black"/>
                </a:solidFill>
                <a:effectLst/>
                <a:uLnTx/>
                <a:uFillTx/>
                <a:latin typeface="Poppins"/>
                <a:ea typeface="+mn-ea"/>
                <a:cs typeface="+mn-cs"/>
              </a:rPr>
              <a:t>Developed AI-driven chatbot designed to process/handle queries sales-related questions, covering inquiries regarding renewals, target adjustments, compensation details, sales metric comparisons, and sales forecasting</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000" b="0" i="0" u="none" strike="noStrike" kern="1200" cap="none" spc="0" normalizeH="0" baseline="0" noProof="0">
              <a:ln>
                <a:noFill/>
              </a:ln>
              <a:solidFill>
                <a:prstClr val="black"/>
              </a:solidFill>
              <a:effectLst/>
              <a:uLnTx/>
              <a:uFillTx/>
              <a:latin typeface="Poppins"/>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000" b="0" i="0" u="none" strike="noStrike" kern="1200" cap="none" spc="0" normalizeH="0" baseline="0" noProof="0">
                <a:ln>
                  <a:noFill/>
                </a:ln>
                <a:solidFill>
                  <a:prstClr val="black"/>
                </a:solidFill>
                <a:effectLst/>
                <a:uLnTx/>
                <a:uFillTx/>
                <a:latin typeface="Poppins"/>
                <a:ea typeface="+mn-ea"/>
                <a:cs typeface="+mn-cs"/>
              </a:rPr>
              <a:t>Integrated Azure OpenAI's Large Language Model for advanced natural language processing and generating responses, ensuring seamless interaction during conversations with users.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000" b="0" i="0" u="none" strike="noStrike" kern="1200" cap="none" spc="0" normalizeH="0" baseline="0" noProof="0">
              <a:ln>
                <a:noFill/>
              </a:ln>
              <a:solidFill>
                <a:prstClr val="black"/>
              </a:solidFill>
              <a:effectLst/>
              <a:uLnTx/>
              <a:uFillTx/>
              <a:latin typeface="Poppins"/>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000" b="0" i="0" u="none" strike="noStrike" kern="1200" cap="none" spc="0" normalizeH="0" baseline="0" noProof="0">
                <a:ln>
                  <a:noFill/>
                </a:ln>
                <a:solidFill>
                  <a:prstClr val="black"/>
                </a:solidFill>
                <a:effectLst/>
                <a:uLnTx/>
                <a:uFillTx/>
                <a:latin typeface="Poppins"/>
                <a:ea typeface="+mn-ea"/>
                <a:cs typeface="+mn-cs"/>
              </a:rPr>
              <a:t>Implemented RAG (Retrieval Augmented Generation) to enhance chatbot responses with relevant information retrieved from structured and unstructured data sources to provide thorough and contextually relevant answers to user queries.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Poppins"/>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000" b="0" i="0" u="none" strike="noStrike" kern="1200" cap="none" spc="0" normalizeH="0" baseline="0" noProof="0">
                <a:ln>
                  <a:noFill/>
                </a:ln>
                <a:solidFill>
                  <a:prstClr val="black"/>
                </a:solidFill>
                <a:effectLst/>
                <a:uLnTx/>
                <a:uFillTx/>
                <a:latin typeface="Poppins"/>
                <a:ea typeface="+mn-ea"/>
                <a:cs typeface="+mn-cs"/>
              </a:rPr>
              <a:t>Integrated </a:t>
            </a:r>
            <a:r>
              <a:rPr kumimoji="0" lang="en-US" sz="1000" b="0" i="0" u="none" strike="noStrike" kern="1200" cap="none" spc="0" normalizeH="0" baseline="0" noProof="0" err="1">
                <a:ln>
                  <a:noFill/>
                </a:ln>
                <a:solidFill>
                  <a:prstClr val="black"/>
                </a:solidFill>
                <a:effectLst/>
                <a:uLnTx/>
                <a:uFillTx/>
                <a:latin typeface="Poppins"/>
                <a:ea typeface="+mn-ea"/>
                <a:cs typeface="+mn-cs"/>
              </a:rPr>
              <a:t>Langchain</a:t>
            </a:r>
            <a:r>
              <a:rPr kumimoji="0" lang="en-US" sz="1000" b="0" i="0" u="none" strike="noStrike" kern="1200" cap="none" spc="0" normalizeH="0" baseline="0" noProof="0">
                <a:ln>
                  <a:noFill/>
                </a:ln>
                <a:solidFill>
                  <a:prstClr val="black"/>
                </a:solidFill>
                <a:effectLst/>
                <a:uLnTx/>
                <a:uFillTx/>
                <a:latin typeface="Poppins"/>
                <a:ea typeface="+mn-ea"/>
                <a:cs typeface="+mn-cs"/>
              </a:rPr>
              <a:t> and Llama Index for efficient retrieval of information, ensuring rapid response times.</a:t>
            </a:r>
          </a:p>
        </p:txBody>
      </p:sp>
      <p:sp>
        <p:nvSpPr>
          <p:cNvPr id="28" name="TextBox 27">
            <a:extLst>
              <a:ext uri="{FF2B5EF4-FFF2-40B4-BE49-F238E27FC236}">
                <a16:creationId xmlns:a16="http://schemas.microsoft.com/office/drawing/2014/main" id="{5A00E1D7-855D-3CBC-4937-368682B0C3B1}"/>
              </a:ext>
            </a:extLst>
          </p:cNvPr>
          <p:cNvSpPr txBox="1"/>
          <p:nvPr/>
        </p:nvSpPr>
        <p:spPr>
          <a:xfrm>
            <a:off x="4066880" y="2982778"/>
            <a:ext cx="3505147" cy="3210879"/>
          </a:xfrm>
          <a:prstGeom prst="rect">
            <a:avLst/>
          </a:prstGeom>
          <a:noFill/>
        </p:spPr>
        <p:txBody>
          <a:bodyPr wrap="square">
            <a:spAutoFit/>
          </a:bodyPr>
          <a:lstStyle/>
          <a:p>
            <a:pPr marL="285750" marR="0" lvl="0" indent="-285750" algn="l" defTabSz="914400" rtl="0" eaLnBrk="1" fontAlgn="auto" latinLnBrk="0" hangingPunct="1">
              <a:lnSpc>
                <a:spcPct val="107000"/>
              </a:lnSpc>
              <a:spcBef>
                <a:spcPts val="0"/>
              </a:spcBef>
              <a:spcAft>
                <a:spcPts val="800"/>
              </a:spcAft>
              <a:buClrTx/>
              <a:buSzTx/>
              <a:buFont typeface="Wingdings" panose="05000000000000000000" pitchFamily="2" charset="2"/>
              <a:buChar char="Ø"/>
              <a:tabLst/>
              <a:defRPr/>
            </a:pPr>
            <a:r>
              <a:rPr kumimoji="0" lang="en-US" sz="900" b="0" i="0" u="none" strike="noStrike" kern="1200" cap="none" spc="0" normalizeH="0" baseline="0" noProof="0">
                <a:ln>
                  <a:noFill/>
                </a:ln>
                <a:solidFill>
                  <a:prstClr val="black"/>
                </a:solidFill>
                <a:effectLst/>
                <a:uLnTx/>
                <a:uFillTx/>
                <a:latin typeface="Poppins"/>
                <a:ea typeface="Calibri" panose="020F0502020204030204" pitchFamily="34" charset="0"/>
                <a:cs typeface="Times New Roman" panose="02020603050405020304" pitchFamily="18" charset="0"/>
              </a:rPr>
              <a:t>Integrated structured databases (e.g., MySQL) to store various sales-related datasets, including historical sales records, customer profiles, target metrics, compensation structures, and buying patterns..</a:t>
            </a:r>
          </a:p>
          <a:p>
            <a:pPr marL="285750" marR="0" lvl="0" indent="-285750" algn="l" defTabSz="914400" rtl="0" eaLnBrk="1" fontAlgn="auto" latinLnBrk="0" hangingPunct="1">
              <a:lnSpc>
                <a:spcPct val="107000"/>
              </a:lnSpc>
              <a:spcBef>
                <a:spcPts val="0"/>
              </a:spcBef>
              <a:spcAft>
                <a:spcPts val="800"/>
              </a:spcAft>
              <a:buClrTx/>
              <a:buSzTx/>
              <a:buFont typeface="Wingdings" panose="05000000000000000000" pitchFamily="2" charset="2"/>
              <a:buChar char="Ø"/>
              <a:tabLst/>
              <a:defRPr/>
            </a:pPr>
            <a:r>
              <a:rPr kumimoji="0" lang="en-US" sz="900" b="0" i="0" u="none" strike="noStrike" kern="1200" cap="none" spc="0" normalizeH="0" baseline="0" noProof="0">
                <a:ln>
                  <a:noFill/>
                </a:ln>
                <a:solidFill>
                  <a:prstClr val="black"/>
                </a:solidFill>
                <a:effectLst/>
                <a:uLnTx/>
                <a:uFillTx/>
                <a:latin typeface="Poppins"/>
                <a:ea typeface="Calibri" panose="020F0502020204030204" pitchFamily="34" charset="0"/>
                <a:cs typeface="Times New Roman" panose="02020603050405020304" pitchFamily="18" charset="0"/>
              </a:rPr>
              <a:t>Utilized Chroma Vector Database to effectively manage unstructured data from diverse sources, such as PDF documents containing sales forecasts, market analyses, competitor reports, and customer feedback.</a:t>
            </a:r>
          </a:p>
          <a:p>
            <a:pPr marL="285750" marR="0" lvl="0" indent="-285750" algn="l" defTabSz="914400" rtl="0" eaLnBrk="1" fontAlgn="auto" latinLnBrk="0" hangingPunct="1">
              <a:lnSpc>
                <a:spcPct val="107000"/>
              </a:lnSpc>
              <a:spcBef>
                <a:spcPts val="0"/>
              </a:spcBef>
              <a:spcAft>
                <a:spcPts val="800"/>
              </a:spcAft>
              <a:buClrTx/>
              <a:buSzTx/>
              <a:buFont typeface="Wingdings" panose="05000000000000000000" pitchFamily="2" charset="2"/>
              <a:buChar char="Ø"/>
              <a:tabLst/>
              <a:defRPr/>
            </a:pPr>
            <a:r>
              <a:rPr kumimoji="0" lang="en-US" sz="900" b="0" i="0" u="none" strike="noStrike" kern="1200" cap="none" spc="0" normalizeH="0" baseline="0" noProof="0">
                <a:ln>
                  <a:noFill/>
                </a:ln>
                <a:solidFill>
                  <a:prstClr val="black"/>
                </a:solidFill>
                <a:effectLst/>
                <a:uLnTx/>
                <a:uFillTx/>
                <a:latin typeface="Poppins"/>
                <a:ea typeface="Calibri" panose="020F0502020204030204" pitchFamily="34" charset="0"/>
                <a:cs typeface="Times New Roman" panose="02020603050405020304" pitchFamily="18" charset="0"/>
              </a:rPr>
              <a:t>Established robust connections to structured databases for real-time data synchronization and implemented automated document parsing for efficient indexing and retrieval of relevant content from PDFs..</a:t>
            </a:r>
          </a:p>
          <a:p>
            <a:pPr marL="285750" marR="0" lvl="0" indent="-285750" algn="l" defTabSz="914400" rtl="0" eaLnBrk="1" fontAlgn="auto" latinLnBrk="0" hangingPunct="1">
              <a:lnSpc>
                <a:spcPct val="107000"/>
              </a:lnSpc>
              <a:spcBef>
                <a:spcPts val="0"/>
              </a:spcBef>
              <a:spcAft>
                <a:spcPts val="800"/>
              </a:spcAft>
              <a:buClrTx/>
              <a:buSzTx/>
              <a:buFont typeface="Wingdings" panose="05000000000000000000" pitchFamily="2" charset="2"/>
              <a:buChar char="Ø"/>
              <a:tabLst/>
              <a:defRPr/>
            </a:pPr>
            <a:r>
              <a:rPr kumimoji="0" lang="en-US" sz="900" b="0" i="0" u="none" strike="noStrike" kern="1200" cap="none" spc="0" normalizeH="0" baseline="0" noProof="0">
                <a:ln>
                  <a:noFill/>
                </a:ln>
                <a:solidFill>
                  <a:prstClr val="black"/>
                </a:solidFill>
                <a:effectLst/>
                <a:uLnTx/>
                <a:uFillTx/>
                <a:latin typeface="Poppins"/>
                <a:ea typeface="Calibri" panose="020F0502020204030204" pitchFamily="34" charset="0"/>
                <a:cs typeface="Times New Roman" panose="02020603050405020304" pitchFamily="18" charset="0"/>
              </a:rPr>
              <a:t>Developed intelligent query routing algorithms within the chatbot to identify the appropriate data source (structured or unstructured) based on the nature of the inquiry.</a:t>
            </a:r>
          </a:p>
        </p:txBody>
      </p:sp>
      <p:grpSp>
        <p:nvGrpSpPr>
          <p:cNvPr id="30" name="Group 29">
            <a:extLst>
              <a:ext uri="{FF2B5EF4-FFF2-40B4-BE49-F238E27FC236}">
                <a16:creationId xmlns:a16="http://schemas.microsoft.com/office/drawing/2014/main" id="{4EFB427B-9229-D276-0AB1-E347C7400EC3}"/>
              </a:ext>
            </a:extLst>
          </p:cNvPr>
          <p:cNvGrpSpPr/>
          <p:nvPr/>
        </p:nvGrpSpPr>
        <p:grpSpPr>
          <a:xfrm>
            <a:off x="454840" y="2251949"/>
            <a:ext cx="3505147" cy="506676"/>
            <a:chOff x="377675" y="2790487"/>
            <a:chExt cx="3075565" cy="506676"/>
          </a:xfrm>
        </p:grpSpPr>
        <p:sp>
          <p:nvSpPr>
            <p:cNvPr id="31" name="Pentagon 43">
              <a:extLst>
                <a:ext uri="{FF2B5EF4-FFF2-40B4-BE49-F238E27FC236}">
                  <a16:creationId xmlns:a16="http://schemas.microsoft.com/office/drawing/2014/main" id="{9A7299B6-6150-4864-9089-E85F1AD9BEF5}"/>
                </a:ext>
              </a:extLst>
            </p:cNvPr>
            <p:cNvSpPr/>
            <p:nvPr/>
          </p:nvSpPr>
          <p:spPr>
            <a:xfrm>
              <a:off x="559489" y="2790487"/>
              <a:ext cx="2893751" cy="506101"/>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2" name="Pentagon 42">
              <a:extLst>
                <a:ext uri="{FF2B5EF4-FFF2-40B4-BE49-F238E27FC236}">
                  <a16:creationId xmlns:a16="http://schemas.microsoft.com/office/drawing/2014/main" id="{711F5E5E-EEF4-6E9D-A8D4-3B60D8D8F17F}"/>
                </a:ext>
              </a:extLst>
            </p:cNvPr>
            <p:cNvSpPr/>
            <p:nvPr/>
          </p:nvSpPr>
          <p:spPr>
            <a:xfrm>
              <a:off x="468582" y="2790775"/>
              <a:ext cx="2893751" cy="506101"/>
            </a:xfrm>
            <a:prstGeom prst="roundRect">
              <a:avLst/>
            </a:prstGeom>
            <a:solidFill>
              <a:srgbClr val="002E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3" name="Pentagon 40">
              <a:extLst>
                <a:ext uri="{FF2B5EF4-FFF2-40B4-BE49-F238E27FC236}">
                  <a16:creationId xmlns:a16="http://schemas.microsoft.com/office/drawing/2014/main" id="{B31B539E-A0EF-4DD7-3AAA-028B09D2DC88}"/>
                </a:ext>
              </a:extLst>
            </p:cNvPr>
            <p:cNvSpPr/>
            <p:nvPr/>
          </p:nvSpPr>
          <p:spPr>
            <a:xfrm>
              <a:off x="377675" y="2791062"/>
              <a:ext cx="2893751" cy="506101"/>
            </a:xfrm>
            <a:prstGeom prst="roundRect">
              <a:avLst/>
            </a:prstGeom>
            <a:solidFill>
              <a:srgbClr val="9DC3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2E87"/>
                  </a:solidFill>
                  <a:effectLst/>
                  <a:uLnTx/>
                  <a:uFillTx/>
                  <a:latin typeface="Poppins SemiBold"/>
                  <a:ea typeface="+mn-ea"/>
                  <a:cs typeface="Calibri" panose="020F0502020204030204" pitchFamily="34" charset="0"/>
                </a:rPr>
                <a:t>Advanced AI Integration</a:t>
              </a:r>
            </a:p>
          </p:txBody>
        </p:sp>
      </p:grpSp>
      <p:grpSp>
        <p:nvGrpSpPr>
          <p:cNvPr id="38" name="Group 37">
            <a:extLst>
              <a:ext uri="{FF2B5EF4-FFF2-40B4-BE49-F238E27FC236}">
                <a16:creationId xmlns:a16="http://schemas.microsoft.com/office/drawing/2014/main" id="{49B97168-E2E9-9364-5B20-FB8D9270BC2F}"/>
              </a:ext>
            </a:extLst>
          </p:cNvPr>
          <p:cNvGrpSpPr/>
          <p:nvPr/>
        </p:nvGrpSpPr>
        <p:grpSpPr>
          <a:xfrm>
            <a:off x="4085265" y="2283405"/>
            <a:ext cx="3505147" cy="506676"/>
            <a:chOff x="377675" y="2790487"/>
            <a:chExt cx="3075565" cy="506676"/>
          </a:xfrm>
        </p:grpSpPr>
        <p:sp>
          <p:nvSpPr>
            <p:cNvPr id="39" name="Pentagon 43">
              <a:extLst>
                <a:ext uri="{FF2B5EF4-FFF2-40B4-BE49-F238E27FC236}">
                  <a16:creationId xmlns:a16="http://schemas.microsoft.com/office/drawing/2014/main" id="{07F8590A-0C6D-37BB-2FF1-E48A0477A3C9}"/>
                </a:ext>
              </a:extLst>
            </p:cNvPr>
            <p:cNvSpPr/>
            <p:nvPr/>
          </p:nvSpPr>
          <p:spPr>
            <a:xfrm>
              <a:off x="559489" y="2790487"/>
              <a:ext cx="2893751" cy="506101"/>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0" name="Pentagon 42">
              <a:extLst>
                <a:ext uri="{FF2B5EF4-FFF2-40B4-BE49-F238E27FC236}">
                  <a16:creationId xmlns:a16="http://schemas.microsoft.com/office/drawing/2014/main" id="{9D2B759E-FB8B-E718-2A6D-5F13423FA885}"/>
                </a:ext>
              </a:extLst>
            </p:cNvPr>
            <p:cNvSpPr/>
            <p:nvPr/>
          </p:nvSpPr>
          <p:spPr>
            <a:xfrm>
              <a:off x="468582" y="2790775"/>
              <a:ext cx="2893751" cy="506101"/>
            </a:xfrm>
            <a:prstGeom prst="roundRect">
              <a:avLst/>
            </a:prstGeom>
            <a:solidFill>
              <a:srgbClr val="002E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1" name="Pentagon 40">
              <a:extLst>
                <a:ext uri="{FF2B5EF4-FFF2-40B4-BE49-F238E27FC236}">
                  <a16:creationId xmlns:a16="http://schemas.microsoft.com/office/drawing/2014/main" id="{D89BB247-9E71-D4F8-F44A-7ED94AA5E0DC}"/>
                </a:ext>
              </a:extLst>
            </p:cNvPr>
            <p:cNvSpPr/>
            <p:nvPr/>
          </p:nvSpPr>
          <p:spPr>
            <a:xfrm>
              <a:off x="377675" y="2791062"/>
              <a:ext cx="2893751" cy="506101"/>
            </a:xfrm>
            <a:prstGeom prst="roundRect">
              <a:avLst/>
            </a:prstGeom>
            <a:solidFill>
              <a:srgbClr val="9DC3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2E87"/>
                  </a:solidFill>
                  <a:effectLst/>
                  <a:uLnTx/>
                  <a:uFillTx/>
                  <a:latin typeface="Poppins SemiBold"/>
                  <a:ea typeface="+mn-ea"/>
                  <a:cs typeface="+mn-cs"/>
                </a:rPr>
                <a:t>Data Integration and Processing</a:t>
              </a:r>
            </a:p>
          </p:txBody>
        </p:sp>
      </p:grpSp>
      <p:pic>
        <p:nvPicPr>
          <p:cNvPr id="23" name="Picture 2" descr="Azure OpenAI and Neural Networks: Empowering AI-driven Solutions on Azure |  LinkedIn">
            <a:extLst>
              <a:ext uri="{FF2B5EF4-FFF2-40B4-BE49-F238E27FC236}">
                <a16:creationId xmlns:a16="http://schemas.microsoft.com/office/drawing/2014/main" id="{CC4DBBD9-EBEC-106E-B62B-79B74F3ABF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85055" y="4926750"/>
            <a:ext cx="1097575" cy="61738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28EE3E4A-B7DC-28AD-48A4-97A60EE0FD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17827" y="4923296"/>
            <a:ext cx="401978" cy="493898"/>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
            <a:extLst>
              <a:ext uri="{FF2B5EF4-FFF2-40B4-BE49-F238E27FC236}">
                <a16:creationId xmlns:a16="http://schemas.microsoft.com/office/drawing/2014/main" id="{ECB51E60-B145-488B-56B5-AF7B4BD35D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67925" y="4889297"/>
            <a:ext cx="649320" cy="64932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LangChain Announces Partnership with deepsense.ai - deepsense.ai">
            <a:extLst>
              <a:ext uri="{FF2B5EF4-FFF2-40B4-BE49-F238E27FC236}">
                <a16:creationId xmlns:a16="http://schemas.microsoft.com/office/drawing/2014/main" id="{49BB4877-7881-9922-4711-F1BD6C96DBE5}"/>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9900" t="29988" r="10225" b="32629"/>
          <a:stretch/>
        </p:blipFill>
        <p:spPr bwMode="auto">
          <a:xfrm>
            <a:off x="8140466" y="5838720"/>
            <a:ext cx="1850648" cy="332927"/>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Vector database icon in green | U.S. Geological Survey">
            <a:extLst>
              <a:ext uri="{FF2B5EF4-FFF2-40B4-BE49-F238E27FC236}">
                <a16:creationId xmlns:a16="http://schemas.microsoft.com/office/drawing/2014/main" id="{978DE4A5-CE0D-E6EC-3E3A-31227A3BC25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784166" y="4841399"/>
            <a:ext cx="657692" cy="657692"/>
          </a:xfrm>
          <a:prstGeom prst="rect">
            <a:avLst/>
          </a:prstGeom>
          <a:noFill/>
          <a:extLst>
            <a:ext uri="{909E8E84-426E-40DD-AFC4-6F175D3DCCD1}">
              <a14:hiddenFill xmlns:a14="http://schemas.microsoft.com/office/drawing/2010/main">
                <a:solidFill>
                  <a:srgbClr val="FFFFFF"/>
                </a:solidFill>
              </a14:hiddenFill>
            </a:ext>
          </a:extLst>
        </p:spPr>
      </p:pic>
      <p:sp>
        <p:nvSpPr>
          <p:cNvPr id="49" name="TextBox 48">
            <a:extLst>
              <a:ext uri="{FF2B5EF4-FFF2-40B4-BE49-F238E27FC236}">
                <a16:creationId xmlns:a16="http://schemas.microsoft.com/office/drawing/2014/main" id="{C4E5885D-6B25-128A-B020-39E528C45E64}"/>
              </a:ext>
            </a:extLst>
          </p:cNvPr>
          <p:cNvSpPr txBox="1"/>
          <p:nvPr/>
        </p:nvSpPr>
        <p:spPr>
          <a:xfrm>
            <a:off x="10705100" y="5599230"/>
            <a:ext cx="761476" cy="43088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ptos" panose="02110004020202020204"/>
                <a:ea typeface="+mn-ea"/>
                <a:cs typeface="+mn-cs"/>
              </a:rPr>
              <a:t>Vector DB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