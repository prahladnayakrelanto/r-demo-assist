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17B33F41-F667-85C6-2A6F-3573E84BAEB7}"/>
              </a:ext>
            </a:extLst>
          </p:cNvPr>
          <p:cNvSpPr>
            <a:spLocks noGrp="1"/>
          </p:cNvSpPr>
          <p:nvPr>
            <p:ph type="title"/>
          </p:nvPr>
        </p:nvSpPr>
        <p:spPr>
          <a:xfrm>
            <a:off x="592666" y="257992"/>
            <a:ext cx="9826062" cy="559260"/>
          </a:xfrm>
        </p:spPr>
        <p:txBody>
          <a:bodyPr>
            <a:noAutofit/>
          </a:bodyPr>
          <a:lstStyle/>
          <a:p>
            <a:r>
              <a:rPr lang="en-US" b="1">
                <a:latin typeface="Poppins" panose="00000500000000000000" pitchFamily="2" charset="0"/>
                <a:cs typeface="Poppins" panose="00000500000000000000" pitchFamily="2" charset="0"/>
              </a:rPr>
              <a:t>AI-Powered Incident Resolution System</a:t>
            </a:r>
          </a:p>
        </p:txBody>
      </p:sp>
      <p:sp>
        <p:nvSpPr>
          <p:cNvPr id="3" name="Rectangle 2">
            <a:extLst>
              <a:ext uri="{FF2B5EF4-FFF2-40B4-BE49-F238E27FC236}">
                <a16:creationId xmlns:a16="http://schemas.microsoft.com/office/drawing/2014/main" id="{BF8402D9-B384-EE58-448C-978051FA8D1F}"/>
              </a:ext>
            </a:extLst>
          </p:cNvPr>
          <p:cNvSpPr/>
          <p:nvPr/>
        </p:nvSpPr>
        <p:spPr>
          <a:xfrm>
            <a:off x="478520" y="898057"/>
            <a:ext cx="7093507" cy="1150125"/>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5" name="TextBox 4">
            <a:extLst>
              <a:ext uri="{FF2B5EF4-FFF2-40B4-BE49-F238E27FC236}">
                <a16:creationId xmlns:a16="http://schemas.microsoft.com/office/drawing/2014/main" id="{705F082F-F140-6B6C-9827-D1A7BF1CEF02}"/>
              </a:ext>
            </a:extLst>
          </p:cNvPr>
          <p:cNvSpPr txBox="1"/>
          <p:nvPr/>
        </p:nvSpPr>
        <p:spPr>
          <a:xfrm>
            <a:off x="433721" y="894395"/>
            <a:ext cx="7156691" cy="106952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Business Context: </a:t>
            </a:r>
            <a:r>
              <a:rPr kumimoji="0" lang="en-US" sz="105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A global enterprise Hi-Tech leader, sought an advanced solution to improve their incident management system. The objective was to develop a Gen AI-powered chatbot capable of diagnosing and resolving incidents in real-time, providing accurate solutions, and reducing response times. This system aimed to automate routine incident resolution, enhance operational efficiency, and reduce the burden on IT support teams, ensuring faster and more accurate issue resolution for both internal teams and users.</a:t>
            </a:r>
          </a:p>
        </p:txBody>
      </p:sp>
      <p:sp>
        <p:nvSpPr>
          <p:cNvPr id="6" name="Rectangle 5">
            <a:extLst>
              <a:ext uri="{FF2B5EF4-FFF2-40B4-BE49-F238E27FC236}">
                <a16:creationId xmlns:a16="http://schemas.microsoft.com/office/drawing/2014/main" id="{592E148D-0166-6312-D1BE-35660DB70603}"/>
              </a:ext>
            </a:extLst>
          </p:cNvPr>
          <p:cNvSpPr/>
          <p:nvPr/>
        </p:nvSpPr>
        <p:spPr bwMode="auto">
          <a:xfrm>
            <a:off x="7986181" y="1258770"/>
            <a:ext cx="3913129" cy="29089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grpSp>
        <p:nvGrpSpPr>
          <p:cNvPr id="7" name="Group 6">
            <a:extLst>
              <a:ext uri="{FF2B5EF4-FFF2-40B4-BE49-F238E27FC236}">
                <a16:creationId xmlns:a16="http://schemas.microsoft.com/office/drawing/2014/main" id="{B34AE2BE-E536-A9DF-666F-7F3B22864BA2}"/>
              </a:ext>
            </a:extLst>
          </p:cNvPr>
          <p:cNvGrpSpPr/>
          <p:nvPr/>
        </p:nvGrpSpPr>
        <p:grpSpPr>
          <a:xfrm>
            <a:off x="7744415" y="898058"/>
            <a:ext cx="2979921" cy="658812"/>
            <a:chOff x="7555266" y="1214168"/>
            <a:chExt cx="2979921" cy="658812"/>
          </a:xfrm>
        </p:grpSpPr>
        <p:sp>
          <p:nvSpPr>
            <p:cNvPr id="8" name="Right Triangle 7">
              <a:extLst>
                <a:ext uri="{FF2B5EF4-FFF2-40B4-BE49-F238E27FC236}">
                  <a16:creationId xmlns:a16="http://schemas.microsoft.com/office/drawing/2014/main" id="{E8C9E3BE-CE73-965C-1F5A-8DE5259DBD16}"/>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 name="Right Triangle 8">
              <a:extLst>
                <a:ext uri="{FF2B5EF4-FFF2-40B4-BE49-F238E27FC236}">
                  <a16:creationId xmlns:a16="http://schemas.microsoft.com/office/drawing/2014/main" id="{C3A6A9FE-CFB6-CCCB-2DB8-322863F54162}"/>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0" name="Rectangle 9">
              <a:extLst>
                <a:ext uri="{FF2B5EF4-FFF2-40B4-BE49-F238E27FC236}">
                  <a16:creationId xmlns:a16="http://schemas.microsoft.com/office/drawing/2014/main" id="{E464FB2A-332E-D147-C025-0D442B7A7A9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 Value Delivered</a:t>
              </a:r>
              <a:endParaRPr kumimoji="0" lang="en-US" sz="14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grpSp>
      <p:sp>
        <p:nvSpPr>
          <p:cNvPr id="11" name="TextBox 10">
            <a:extLst>
              <a:ext uri="{FF2B5EF4-FFF2-40B4-BE49-F238E27FC236}">
                <a16:creationId xmlns:a16="http://schemas.microsoft.com/office/drawing/2014/main" id="{E2ED7081-ECBF-2D2F-1792-F72E7D2A4163}"/>
              </a:ext>
            </a:extLst>
          </p:cNvPr>
          <p:cNvSpPr txBox="1"/>
          <p:nvPr/>
        </p:nvSpPr>
        <p:spPr>
          <a:xfrm>
            <a:off x="8071399" y="1418739"/>
            <a:ext cx="3827909" cy="2517612"/>
          </a:xfrm>
          <a:prstGeom prst="rect">
            <a:avLst/>
          </a:prstGeom>
          <a:noFill/>
        </p:spPr>
        <p:txBody>
          <a:bodyPr wrap="square" lIns="91440" tIns="45720" rIns="91440" bIns="45720" rtlCol="0" anchor="t">
            <a:spAutoFit/>
          </a:bodyPr>
          <a:lstStyle/>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rPr>
              <a:t>Optimized user experience through a smart, AI-driven chatbot that offers real-time, tailored incident resolutions.</a:t>
            </a: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endParaRP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rPr>
              <a:t>Automated issue diagnosis and resolution, freeing up IT support teams to focus on more complex tasks.</a:t>
            </a: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endParaRP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rPr>
              <a:t>Seamless and secure integration with Client's infrastructure, meeting all technical requirements.</a:t>
            </a:r>
          </a:p>
        </p:txBody>
      </p:sp>
      <p:sp>
        <p:nvSpPr>
          <p:cNvPr id="12" name="Rectangle 11">
            <a:extLst>
              <a:ext uri="{FF2B5EF4-FFF2-40B4-BE49-F238E27FC236}">
                <a16:creationId xmlns:a16="http://schemas.microsoft.com/office/drawing/2014/main" id="{DBCCA228-D5A5-3545-C40F-D528498CC984}"/>
              </a:ext>
            </a:extLst>
          </p:cNvPr>
          <p:cNvSpPr/>
          <p:nvPr/>
        </p:nvSpPr>
        <p:spPr bwMode="auto">
          <a:xfrm>
            <a:off x="7986180" y="4739338"/>
            <a:ext cx="3913129" cy="1689542"/>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grpSp>
        <p:nvGrpSpPr>
          <p:cNvPr id="13" name="Group 12">
            <a:extLst>
              <a:ext uri="{FF2B5EF4-FFF2-40B4-BE49-F238E27FC236}">
                <a16:creationId xmlns:a16="http://schemas.microsoft.com/office/drawing/2014/main" id="{4C72ADC4-41A1-6D45-E6B5-66957286870C}"/>
              </a:ext>
            </a:extLst>
          </p:cNvPr>
          <p:cNvGrpSpPr/>
          <p:nvPr/>
        </p:nvGrpSpPr>
        <p:grpSpPr>
          <a:xfrm>
            <a:off x="7737324" y="4356976"/>
            <a:ext cx="2979921" cy="658812"/>
            <a:chOff x="7555266" y="1214168"/>
            <a:chExt cx="2979921" cy="658812"/>
          </a:xfrm>
        </p:grpSpPr>
        <p:sp>
          <p:nvSpPr>
            <p:cNvPr id="14" name="Right Triangle 13">
              <a:extLst>
                <a:ext uri="{FF2B5EF4-FFF2-40B4-BE49-F238E27FC236}">
                  <a16:creationId xmlns:a16="http://schemas.microsoft.com/office/drawing/2014/main" id="{5205685E-4F3B-E805-02D1-B986E271BC4F}"/>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5" name="Right Triangle 14">
              <a:extLst>
                <a:ext uri="{FF2B5EF4-FFF2-40B4-BE49-F238E27FC236}">
                  <a16:creationId xmlns:a16="http://schemas.microsoft.com/office/drawing/2014/main" id="{1EDE7A0A-EB58-7D29-7FAE-F1CF6C44F6D3}"/>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6" name="Rectangle 15">
              <a:extLst>
                <a:ext uri="{FF2B5EF4-FFF2-40B4-BE49-F238E27FC236}">
                  <a16:creationId xmlns:a16="http://schemas.microsoft.com/office/drawing/2014/main" id="{7A27D2DD-C7C3-D438-43BF-817DA9A5BE2E}"/>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Technology Stack </a:t>
              </a:r>
            </a:p>
          </p:txBody>
        </p:sp>
      </p:grpSp>
      <p:sp>
        <p:nvSpPr>
          <p:cNvPr id="4" name="Rectangle 3">
            <a:extLst>
              <a:ext uri="{FF2B5EF4-FFF2-40B4-BE49-F238E27FC236}">
                <a16:creationId xmlns:a16="http://schemas.microsoft.com/office/drawing/2014/main" id="{87B7291E-09B0-7B3D-5E97-87E84192EFF5}"/>
              </a:ext>
            </a:extLst>
          </p:cNvPr>
          <p:cNvSpPr/>
          <p:nvPr/>
        </p:nvSpPr>
        <p:spPr>
          <a:xfrm>
            <a:off x="4085266" y="2824664"/>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Calibri" panose="020F0502020204030204" pitchFamily="34" charset="0"/>
              <a:cs typeface="Poppins" panose="00000500000000000000" pitchFamily="2" charset="0"/>
            </a:endParaRPr>
          </a:p>
        </p:txBody>
      </p:sp>
      <p:sp>
        <p:nvSpPr>
          <p:cNvPr id="17" name="Rectangle 16">
            <a:extLst>
              <a:ext uri="{FF2B5EF4-FFF2-40B4-BE49-F238E27FC236}">
                <a16:creationId xmlns:a16="http://schemas.microsoft.com/office/drawing/2014/main" id="{C230EEC2-230B-3772-9D81-74B5F5DD09A4}"/>
              </a:ext>
            </a:extLst>
          </p:cNvPr>
          <p:cNvSpPr/>
          <p:nvPr/>
        </p:nvSpPr>
        <p:spPr>
          <a:xfrm>
            <a:off x="455084" y="2824662"/>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Calibri" panose="020F0502020204030204" pitchFamily="34" charset="0"/>
              <a:cs typeface="Poppins" panose="00000500000000000000" pitchFamily="2" charset="0"/>
            </a:endParaRPr>
          </a:p>
        </p:txBody>
      </p:sp>
      <p:sp>
        <p:nvSpPr>
          <p:cNvPr id="27" name="TextBox 26">
            <a:extLst>
              <a:ext uri="{FF2B5EF4-FFF2-40B4-BE49-F238E27FC236}">
                <a16:creationId xmlns:a16="http://schemas.microsoft.com/office/drawing/2014/main" id="{817EA096-A01D-C578-EAA0-B0028D643B5C}"/>
              </a:ext>
            </a:extLst>
          </p:cNvPr>
          <p:cNvSpPr txBox="1"/>
          <p:nvPr/>
        </p:nvSpPr>
        <p:spPr>
          <a:xfrm>
            <a:off x="460547" y="2844823"/>
            <a:ext cx="3494710" cy="3277820"/>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One of the major challenges was gaining a deep understanding of Client's business needs, identifying the various types of incidents, and mapping them to suitable AI-driven solutions to ensure accurate and effective incident resolution.</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Another challenge involved designing a system capable of intelligently routing user inputs through the chatbot to the appropriate solution type, such as unstructured responses, text-to-SQL queries, or other specialized solutions based on the incident type.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Understanding Client’s complex infrastructure and ensuring the AI solution met stringent security standards posed a significant challenge, requiring seamless integration and compliance with their environment.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Successfully deploying the AI-driven chatbot on client’s environment while ensuring scalability, performance, and minimal downtime was another key challenge that required meticulous planning and execution.</a:t>
            </a:r>
          </a:p>
        </p:txBody>
      </p:sp>
      <p:sp>
        <p:nvSpPr>
          <p:cNvPr id="28" name="TextBox 27">
            <a:extLst>
              <a:ext uri="{FF2B5EF4-FFF2-40B4-BE49-F238E27FC236}">
                <a16:creationId xmlns:a16="http://schemas.microsoft.com/office/drawing/2014/main" id="{5A00E1D7-855D-3CBC-4937-368682B0C3B1}"/>
              </a:ext>
            </a:extLst>
          </p:cNvPr>
          <p:cNvSpPr txBox="1"/>
          <p:nvPr/>
        </p:nvSpPr>
        <p:spPr>
          <a:xfrm>
            <a:off x="4066880" y="2903815"/>
            <a:ext cx="3505147" cy="3139321"/>
          </a:xfrm>
          <a:prstGeom prst="rect">
            <a:avLst/>
          </a:prstGeom>
          <a:noFill/>
        </p:spPr>
        <p:txBody>
          <a:bodyPr wrap="square">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Client's knowledge documents and incident data were analyzed, with incident descriptions and summaries being matched to relevant knowledge using cosine similarity and vector embeddings, ensuring accurate incident resolution suggestions.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A routing mechanism using a Large Language Model (LLM) was developed to classify user queries and direct them to the appropriate solution type, such as unstructured responses or text-to-SQL queries, ensuring precise resolutions.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The solution was successfully deployed following Client’s deployment criteria and compliance with technical specifications.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Training on Client's infrastructure and security protocols was undertaken to ensure a proper understanding of their environment. This knowledge enabled the integration of the AI-driven chatbot with Client’s systems while meeting all necessary security and compliance requirements.</a:t>
            </a:r>
          </a:p>
        </p:txBody>
      </p:sp>
      <p:grpSp>
        <p:nvGrpSpPr>
          <p:cNvPr id="30" name="Group 29">
            <a:extLst>
              <a:ext uri="{FF2B5EF4-FFF2-40B4-BE49-F238E27FC236}">
                <a16:creationId xmlns:a16="http://schemas.microsoft.com/office/drawing/2014/main" id="{4EFB427B-9229-D276-0AB1-E347C7400EC3}"/>
              </a:ext>
            </a:extLst>
          </p:cNvPr>
          <p:cNvGrpSpPr/>
          <p:nvPr/>
        </p:nvGrpSpPr>
        <p:grpSpPr>
          <a:xfrm>
            <a:off x="454840" y="2251949"/>
            <a:ext cx="3505147" cy="506676"/>
            <a:chOff x="377675" y="2790487"/>
            <a:chExt cx="3075565" cy="506676"/>
          </a:xfrm>
        </p:grpSpPr>
        <p:sp>
          <p:nvSpPr>
            <p:cNvPr id="31" name="Pentagon 43">
              <a:extLst>
                <a:ext uri="{FF2B5EF4-FFF2-40B4-BE49-F238E27FC236}">
                  <a16:creationId xmlns:a16="http://schemas.microsoft.com/office/drawing/2014/main" id="{9A7299B6-6150-4864-9089-E85F1AD9BEF5}"/>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2" name="Pentagon 42">
              <a:extLst>
                <a:ext uri="{FF2B5EF4-FFF2-40B4-BE49-F238E27FC236}">
                  <a16:creationId xmlns:a16="http://schemas.microsoft.com/office/drawing/2014/main" id="{711F5E5E-EEF4-6E9D-A8D4-3B60D8D8F17F}"/>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3" name="Pentagon 40">
              <a:extLst>
                <a:ext uri="{FF2B5EF4-FFF2-40B4-BE49-F238E27FC236}">
                  <a16:creationId xmlns:a16="http://schemas.microsoft.com/office/drawing/2014/main" id="{B31B539E-A0EF-4DD7-3AAA-028B09D2DC88}"/>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2E87"/>
                  </a:solidFill>
                  <a:effectLst/>
                  <a:uLnTx/>
                  <a:uFillTx/>
                  <a:latin typeface="Poppins" panose="00000500000000000000" pitchFamily="2" charset="0"/>
                  <a:ea typeface="+mn-ea"/>
                  <a:cs typeface="Poppins" panose="00000500000000000000" pitchFamily="2" charset="0"/>
                </a:rPr>
                <a:t>Challenges</a:t>
              </a:r>
            </a:p>
          </p:txBody>
        </p:sp>
      </p:grpSp>
      <p:grpSp>
        <p:nvGrpSpPr>
          <p:cNvPr id="38" name="Group 37">
            <a:extLst>
              <a:ext uri="{FF2B5EF4-FFF2-40B4-BE49-F238E27FC236}">
                <a16:creationId xmlns:a16="http://schemas.microsoft.com/office/drawing/2014/main" id="{49B97168-E2E9-9364-5B20-FB8D9270BC2F}"/>
              </a:ext>
            </a:extLst>
          </p:cNvPr>
          <p:cNvGrpSpPr/>
          <p:nvPr/>
        </p:nvGrpSpPr>
        <p:grpSpPr>
          <a:xfrm>
            <a:off x="4085265" y="2283405"/>
            <a:ext cx="3505147" cy="506676"/>
            <a:chOff x="377675" y="2790487"/>
            <a:chExt cx="3075565" cy="506676"/>
          </a:xfrm>
        </p:grpSpPr>
        <p:sp>
          <p:nvSpPr>
            <p:cNvPr id="39" name="Pentagon 43">
              <a:extLst>
                <a:ext uri="{FF2B5EF4-FFF2-40B4-BE49-F238E27FC236}">
                  <a16:creationId xmlns:a16="http://schemas.microsoft.com/office/drawing/2014/main" id="{07F8590A-0C6D-37BB-2FF1-E48A0477A3C9}"/>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40" name="Pentagon 42">
              <a:extLst>
                <a:ext uri="{FF2B5EF4-FFF2-40B4-BE49-F238E27FC236}">
                  <a16:creationId xmlns:a16="http://schemas.microsoft.com/office/drawing/2014/main" id="{9D2B759E-FB8B-E718-2A6D-5F13423FA885}"/>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41" name="Pentagon 40">
              <a:extLst>
                <a:ext uri="{FF2B5EF4-FFF2-40B4-BE49-F238E27FC236}">
                  <a16:creationId xmlns:a16="http://schemas.microsoft.com/office/drawing/2014/main" id="{D89BB247-9E71-D4F8-F44A-7ED94AA5E0DC}"/>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2E87"/>
                  </a:solidFill>
                  <a:effectLst/>
                  <a:uLnTx/>
                  <a:uFillTx/>
                  <a:latin typeface="Poppins" panose="00000500000000000000" pitchFamily="2" charset="0"/>
                  <a:ea typeface="+mn-ea"/>
                  <a:cs typeface="Poppins" panose="00000500000000000000" pitchFamily="2" charset="0"/>
                </a:rPr>
                <a:t>Solutions</a:t>
              </a:r>
            </a:p>
          </p:txBody>
        </p:sp>
      </p:grpSp>
      <p:pic>
        <p:nvPicPr>
          <p:cNvPr id="18" name="Picture 17" descr="A blue and yellow snake&#10;&#10;Description automatically generated">
            <a:extLst>
              <a:ext uri="{FF2B5EF4-FFF2-40B4-BE49-F238E27FC236}">
                <a16:creationId xmlns:a16="http://schemas.microsoft.com/office/drawing/2014/main" id="{E6290675-348D-E8AA-4484-C628EBBFC2D5}"/>
              </a:ext>
            </a:extLst>
          </p:cNvPr>
          <p:cNvPicPr>
            <a:picLocks noChangeAspect="1"/>
          </p:cNvPicPr>
          <p:nvPr/>
        </p:nvPicPr>
        <p:blipFill>
          <a:blip r:embed="rId2"/>
          <a:stretch>
            <a:fillRect/>
          </a:stretch>
        </p:blipFill>
        <p:spPr>
          <a:xfrm>
            <a:off x="8111782" y="4921150"/>
            <a:ext cx="701307" cy="692724"/>
          </a:xfrm>
          <a:prstGeom prst="rect">
            <a:avLst/>
          </a:prstGeom>
        </p:spPr>
      </p:pic>
      <p:pic>
        <p:nvPicPr>
          <p:cNvPr id="1028" name="Picture 4" descr="SVG icon not parsed correctly? - Support - Discourse Meta">
            <a:extLst>
              <a:ext uri="{FF2B5EF4-FFF2-40B4-BE49-F238E27FC236}">
                <a16:creationId xmlns:a16="http://schemas.microsoft.com/office/drawing/2014/main" id="{0C728928-F7F7-E599-D124-0C9A43D4E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3147" y="4827834"/>
            <a:ext cx="936682" cy="7620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wnload OpenShift Logo in SVG Vector or PNG File Format ...">
            <a:extLst>
              <a:ext uri="{FF2B5EF4-FFF2-40B4-BE49-F238E27FC236}">
                <a16:creationId xmlns:a16="http://schemas.microsoft.com/office/drawing/2014/main" id="{1F914483-655B-B01B-B4B7-03BAADE2B8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16" y="5613874"/>
            <a:ext cx="1365072" cy="91004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Top 5 Large Language Models | 2023 - PyCodeMates">
            <a:extLst>
              <a:ext uri="{FF2B5EF4-FFF2-40B4-BE49-F238E27FC236}">
                <a16:creationId xmlns:a16="http://schemas.microsoft.com/office/drawing/2014/main" id="{306C722A-F9F3-B8CB-170B-F0E158360F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30475" y="5439261"/>
            <a:ext cx="1729508" cy="97437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act Logo PNG Transparent &amp; SVG Vector - Freebie Supply">
            <a:extLst>
              <a:ext uri="{FF2B5EF4-FFF2-40B4-BE49-F238E27FC236}">
                <a16:creationId xmlns:a16="http://schemas.microsoft.com/office/drawing/2014/main" id="{5E20A433-CBD2-CC04-F05E-88362CC55C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68216" y="5654559"/>
            <a:ext cx="737831" cy="69442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GitHub - containers/podman: Podman: A tool for managing OCI ...">
            <a:extLst>
              <a:ext uri="{FF2B5EF4-FFF2-40B4-BE49-F238E27FC236}">
                <a16:creationId xmlns:a16="http://schemas.microsoft.com/office/drawing/2014/main" id="{CCEB22C8-D5AD-1808-99B1-972AE0DD2F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18728" y="4725297"/>
            <a:ext cx="1153001" cy="938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