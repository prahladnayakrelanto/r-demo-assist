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 name="Rectangle 22">
            <a:extLst>
              <a:ext uri="{FF2B5EF4-FFF2-40B4-BE49-F238E27FC236}">
                <a16:creationId xmlns:a16="http://schemas.microsoft.com/office/drawing/2014/main" id="{6179331F-3A15-A4F1-1641-D8417B96D297}"/>
              </a:ext>
            </a:extLst>
          </p:cNvPr>
          <p:cNvSpPr/>
          <p:nvPr/>
        </p:nvSpPr>
        <p:spPr bwMode="auto">
          <a:xfrm>
            <a:off x="8005473" y="5043045"/>
            <a:ext cx="3913129" cy="1385833"/>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182563" marR="0" lvl="0" indent="-171450" algn="l" defTabSz="914400" rtl="0" eaLnBrk="1" fontAlgn="auto" latinLnBrk="0" hangingPunct="1">
              <a:lnSpc>
                <a:spcPct val="110000"/>
              </a:lnSpc>
              <a:spcBef>
                <a:spcPts val="0"/>
              </a:spcBef>
              <a:spcAft>
                <a:spcPts val="1800"/>
              </a:spcAft>
              <a:buClrTx/>
              <a:buSzPct val="60000"/>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Sharpe Ratio of the ML/AI-driven portfolio was reflected a better risk-adjusted return.</a:t>
            </a:r>
          </a:p>
          <a:p>
            <a:pPr marL="182563" marR="0" lvl="0" indent="-171450" algn="l" defTabSz="914400" rtl="0" eaLnBrk="1" fontAlgn="auto" latinLnBrk="0" hangingPunct="1">
              <a:lnSpc>
                <a:spcPct val="110000"/>
              </a:lnSpc>
              <a:spcBef>
                <a:spcPts val="0"/>
              </a:spcBef>
              <a:spcAft>
                <a:spcPts val="1800"/>
              </a:spcAft>
              <a:buClrTx/>
              <a:buSzPct val="60000"/>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RL model's ability to adapt to changing market conditions was evident during periods of high volatility, where it reallocated assets to more stable investments.</a:t>
            </a:r>
          </a:p>
        </p:txBody>
      </p:sp>
      <p:sp>
        <p:nvSpPr>
          <p:cNvPr id="2" name="Title 1">
            <a:extLst>
              <a:ext uri="{FF2B5EF4-FFF2-40B4-BE49-F238E27FC236}">
                <a16:creationId xmlns:a16="http://schemas.microsoft.com/office/drawing/2014/main" id="{17B33F41-F667-85C6-2A6F-3573E84BAEB7}"/>
              </a:ext>
            </a:extLst>
          </p:cNvPr>
          <p:cNvSpPr>
            <a:spLocks noGrp="1"/>
          </p:cNvSpPr>
          <p:nvPr>
            <p:ph type="title"/>
          </p:nvPr>
        </p:nvSpPr>
        <p:spPr>
          <a:xfrm>
            <a:off x="592668" y="257992"/>
            <a:ext cx="9137120" cy="559260"/>
          </a:xfrm>
        </p:spPr>
        <p:txBody>
          <a:bodyPr>
            <a:noAutofit/>
          </a:bodyPr>
          <a:lstStyle/>
          <a:p>
            <a:pPr algn="l"/>
            <a:r>
              <a:rPr lang="en-US" b="1" dirty="0">
                <a:latin typeface="Poppins SemiBold" panose="00000700000000000000" pitchFamily="2" charset="0"/>
                <a:cs typeface="Poppins SemiBold" panose="00000700000000000000" pitchFamily="2" charset="0"/>
              </a:rPr>
              <a:t>Portfolio Optimization using Machine Learning/AI</a:t>
            </a:r>
          </a:p>
        </p:txBody>
      </p:sp>
      <p:sp>
        <p:nvSpPr>
          <p:cNvPr id="3" name="Rectangle 2">
            <a:extLst>
              <a:ext uri="{FF2B5EF4-FFF2-40B4-BE49-F238E27FC236}">
                <a16:creationId xmlns:a16="http://schemas.microsoft.com/office/drawing/2014/main" id="{BF8402D9-B384-EE58-448C-978051FA8D1F}"/>
              </a:ext>
            </a:extLst>
          </p:cNvPr>
          <p:cNvSpPr/>
          <p:nvPr/>
        </p:nvSpPr>
        <p:spPr>
          <a:xfrm>
            <a:off x="478520" y="955210"/>
            <a:ext cx="7111893" cy="1040850"/>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Business Context: </a:t>
            </a: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An asset management firm sought to enhance its portfolio optimization process by leveraging machine learning (ML) and AI. The traditional methods, primarily based on Modern Portfolio Theory (MPT), were found to be suboptimal due to their inability to adapt quickly to changing market conditions and incorporate non-linear relationships among assets.</a:t>
            </a:r>
          </a:p>
        </p:txBody>
      </p:sp>
      <p:grpSp>
        <p:nvGrpSpPr>
          <p:cNvPr id="7" name="Group 6">
            <a:extLst>
              <a:ext uri="{FF2B5EF4-FFF2-40B4-BE49-F238E27FC236}">
                <a16:creationId xmlns:a16="http://schemas.microsoft.com/office/drawing/2014/main" id="{B34AE2BE-E536-A9DF-666F-7F3B22864BA2}"/>
              </a:ext>
            </a:extLst>
          </p:cNvPr>
          <p:cNvGrpSpPr/>
          <p:nvPr/>
        </p:nvGrpSpPr>
        <p:grpSpPr>
          <a:xfrm>
            <a:off x="7763708" y="4585165"/>
            <a:ext cx="2979921" cy="658812"/>
            <a:chOff x="7555266" y="1214168"/>
            <a:chExt cx="2979921" cy="658812"/>
          </a:xfrm>
        </p:grpSpPr>
        <p:sp>
          <p:nvSpPr>
            <p:cNvPr id="8" name="Right Triangle 7">
              <a:extLst>
                <a:ext uri="{FF2B5EF4-FFF2-40B4-BE49-F238E27FC236}">
                  <a16:creationId xmlns:a16="http://schemas.microsoft.com/office/drawing/2014/main" id="{E8C9E3BE-CE73-965C-1F5A-8DE5259DBD16}"/>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ight Triangle 8">
              <a:extLst>
                <a:ext uri="{FF2B5EF4-FFF2-40B4-BE49-F238E27FC236}">
                  <a16:creationId xmlns:a16="http://schemas.microsoft.com/office/drawing/2014/main" id="{C3A6A9FE-CFB6-CCCB-2DB8-322863F54162}"/>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464FB2A-332E-D147-C025-0D442B7A7A9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 Value Delivered</a:t>
              </a:r>
              <a:endParaRPr kumimoji="0" lang="en-US" sz="1400" b="1" i="0" u="none" strike="noStrike" kern="1200" cap="none" spc="0" normalizeH="0" baseline="0" noProof="0" dirty="0">
                <a:ln>
                  <a:noFill/>
                </a:ln>
                <a:solidFill>
                  <a:prstClr val="white"/>
                </a:solidFill>
                <a:effectLst/>
                <a:uLnTx/>
                <a:uFillTx/>
                <a:latin typeface="Poppins"/>
                <a:ea typeface="+mn-ea"/>
                <a:cs typeface="+mn-cs"/>
              </a:endParaRPr>
            </a:p>
          </p:txBody>
        </p:sp>
      </p:grpSp>
      <p:sp>
        <p:nvSpPr>
          <p:cNvPr id="12" name="Rectangle 11">
            <a:extLst>
              <a:ext uri="{FF2B5EF4-FFF2-40B4-BE49-F238E27FC236}">
                <a16:creationId xmlns:a16="http://schemas.microsoft.com/office/drawing/2014/main" id="{DBCCA228-D5A5-3545-C40F-D528498CC984}"/>
              </a:ext>
            </a:extLst>
          </p:cNvPr>
          <p:cNvSpPr/>
          <p:nvPr/>
        </p:nvSpPr>
        <p:spPr bwMode="auto">
          <a:xfrm>
            <a:off x="8005474" y="1262453"/>
            <a:ext cx="3913129" cy="3235405"/>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a:p>
            <a:pPr marL="0" marR="0" lvl="0" indent="1270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Improved Returns:</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RL model effectively identified and capitalized on market opportunities, adjusting allocations dynamically.</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a:p>
            <a:pPr marL="0" marR="0" lvl="0" indent="1270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Risk Management:</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volatility of the ML/AI-driven portfolio was lower than the traditional portfolio, indicating better risk management.</a:t>
            </a:r>
          </a:p>
          <a:p>
            <a:pPr marL="466725"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maximum drawdown was reduced, demonstrating the model's ability to mitigate losses during market downturns.</a:t>
            </a:r>
          </a:p>
        </p:txBody>
      </p:sp>
      <p:grpSp>
        <p:nvGrpSpPr>
          <p:cNvPr id="13" name="Group 12">
            <a:extLst>
              <a:ext uri="{FF2B5EF4-FFF2-40B4-BE49-F238E27FC236}">
                <a16:creationId xmlns:a16="http://schemas.microsoft.com/office/drawing/2014/main" id="{4C72ADC4-41A1-6D45-E6B5-66957286870C}"/>
              </a:ext>
            </a:extLst>
          </p:cNvPr>
          <p:cNvGrpSpPr/>
          <p:nvPr/>
        </p:nvGrpSpPr>
        <p:grpSpPr>
          <a:xfrm>
            <a:off x="7763709" y="904237"/>
            <a:ext cx="2979921" cy="658812"/>
            <a:chOff x="7555266" y="1214168"/>
            <a:chExt cx="2979921" cy="658812"/>
          </a:xfrm>
        </p:grpSpPr>
        <p:sp>
          <p:nvSpPr>
            <p:cNvPr id="14" name="Right Triangle 13">
              <a:extLst>
                <a:ext uri="{FF2B5EF4-FFF2-40B4-BE49-F238E27FC236}">
                  <a16:creationId xmlns:a16="http://schemas.microsoft.com/office/drawing/2014/main" id="{5205685E-4F3B-E805-02D1-B986E271BC4F}"/>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Right Triangle 14">
              <a:extLst>
                <a:ext uri="{FF2B5EF4-FFF2-40B4-BE49-F238E27FC236}">
                  <a16:creationId xmlns:a16="http://schemas.microsoft.com/office/drawing/2014/main" id="{1EDE7A0A-EB58-7D29-7FAE-F1CF6C44F6D3}"/>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A27D2DD-C7C3-D438-43BF-817DA9A5BE2E}"/>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Results</a:t>
              </a:r>
            </a:p>
          </p:txBody>
        </p:sp>
      </p:grpSp>
      <p:sp>
        <p:nvSpPr>
          <p:cNvPr id="4" name="Rectangle 3">
            <a:extLst>
              <a:ext uri="{FF2B5EF4-FFF2-40B4-BE49-F238E27FC236}">
                <a16:creationId xmlns:a16="http://schemas.microsoft.com/office/drawing/2014/main" id="{87B7291E-09B0-7B3D-5E97-87E84192EFF5}"/>
              </a:ext>
            </a:extLst>
          </p:cNvPr>
          <p:cNvSpPr/>
          <p:nvPr/>
        </p:nvSpPr>
        <p:spPr>
          <a:xfrm>
            <a:off x="2750708" y="2696071"/>
            <a:ext cx="4839706" cy="3732807"/>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0" marR="0" lvl="0" indent="1841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Model Selection and Training: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Reinforcement Learning</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A reinforcement learning (RL) approach, specifically a Deep Q-Network (DQN), was chosen for its ability to learn and adapt to dynamic market conditions. The RL model was trained to maximize the cumulative reward, defined as the risk-adjusted return of the portfolio.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Supervised Learning</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A Random Forest Regressor was used to predict expected returns and risk (volatility) for each asset, based on the engineered features.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Clustering</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 K-means clustering was applied to group similar assets based on historical performance and risk characteristics, aiding in diversification.</a:t>
            </a:r>
          </a:p>
          <a:p>
            <a:pPr marL="2413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Portfolio Optimization Framework: The </a:t>
            </a:r>
            <a:r>
              <a:rPr kumimoji="0" lang="en-US" sz="11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Reinforcement learning </a:t>
            </a: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model was used to dynamically adjust portfolio weights based on market conditions and the predicted returns and risks from the Random Forest model. Constraints such as maximum exposure to any single asset, sector, or asset class were incorporated to ensure diversification and compliance with investment guidelines.</a:t>
            </a:r>
          </a:p>
          <a:p>
            <a:pPr marL="0" marR="0" lvl="0" indent="2413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Sharpe Ratio was used as the primary performance metric, balancing return and risk.</a:t>
            </a:r>
          </a:p>
        </p:txBody>
      </p:sp>
      <p:sp>
        <p:nvSpPr>
          <p:cNvPr id="17" name="Rectangle 16">
            <a:extLst>
              <a:ext uri="{FF2B5EF4-FFF2-40B4-BE49-F238E27FC236}">
                <a16:creationId xmlns:a16="http://schemas.microsoft.com/office/drawing/2014/main" id="{C230EEC2-230B-3772-9D81-74B5F5DD09A4}"/>
              </a:ext>
            </a:extLst>
          </p:cNvPr>
          <p:cNvSpPr/>
          <p:nvPr/>
        </p:nvSpPr>
        <p:spPr>
          <a:xfrm>
            <a:off x="455085" y="2696069"/>
            <a:ext cx="2116666" cy="3732807"/>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The main objectives were to: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Optimize portfolio allocation to maximize returns while minimizing risks.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Incorporate non-linear relationships and interactions among assets using ML/AI.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t>Adapt to changing market conditions dynamically.</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200" b="0" i="0" u="none" strike="noStrike" kern="1200" cap="none" spc="0" normalizeH="0" baseline="0" noProof="0" dirty="0">
                <a:ln>
                  <a:noFill/>
                </a:ln>
                <a:solidFill>
                  <a:srgbClr val="002060"/>
                </a:solidFill>
                <a:effectLst/>
                <a:uLnTx/>
                <a:uFillTx/>
                <a:latin typeface="Poppins" pitchFamily="2" charset="77"/>
                <a:ea typeface="+mn-ea"/>
                <a:cs typeface="Poppins" pitchFamily="2" charset="77"/>
              </a:rPr>
            </a:br>
            <a:endParaRPr kumimoji="0" lang="en-US" sz="1200" b="1" i="0" u="none" strike="noStrike" kern="1200" cap="none" spc="0" normalizeH="0" baseline="0" noProof="0" dirty="0">
              <a:ln>
                <a:noFill/>
              </a:ln>
              <a:solidFill>
                <a:srgbClr val="002060"/>
              </a:solidFill>
              <a:effectLst/>
              <a:uLnTx/>
              <a:uFillTx/>
              <a:latin typeface="Poppins" pitchFamily="2" charset="77"/>
              <a:ea typeface="+mn-ea"/>
              <a:cs typeface="Poppins" pitchFamily="2" charset="77"/>
            </a:endParaRPr>
          </a:p>
        </p:txBody>
      </p:sp>
      <p:grpSp>
        <p:nvGrpSpPr>
          <p:cNvPr id="30" name="Group 29">
            <a:extLst>
              <a:ext uri="{FF2B5EF4-FFF2-40B4-BE49-F238E27FC236}">
                <a16:creationId xmlns:a16="http://schemas.microsoft.com/office/drawing/2014/main" id="{4EFB427B-9229-D276-0AB1-E347C7400EC3}"/>
              </a:ext>
            </a:extLst>
          </p:cNvPr>
          <p:cNvGrpSpPr/>
          <p:nvPr/>
        </p:nvGrpSpPr>
        <p:grpSpPr>
          <a:xfrm>
            <a:off x="454841" y="2123357"/>
            <a:ext cx="2116666" cy="506677"/>
            <a:chOff x="377675" y="2790487"/>
            <a:chExt cx="3075565" cy="506677"/>
          </a:xfrm>
        </p:grpSpPr>
        <p:sp>
          <p:nvSpPr>
            <p:cNvPr id="31" name="Pentagon 43">
              <a:extLst>
                <a:ext uri="{FF2B5EF4-FFF2-40B4-BE49-F238E27FC236}">
                  <a16:creationId xmlns:a16="http://schemas.microsoft.com/office/drawing/2014/main" id="{9A7299B6-6150-4864-9089-E85F1AD9BEF5}"/>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Pentagon 42">
              <a:extLst>
                <a:ext uri="{FF2B5EF4-FFF2-40B4-BE49-F238E27FC236}">
                  <a16:creationId xmlns:a16="http://schemas.microsoft.com/office/drawing/2014/main" id="{711F5E5E-EEF4-6E9D-A8D4-3B60D8D8F17F}"/>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Pentagon 40">
              <a:extLst>
                <a:ext uri="{FF2B5EF4-FFF2-40B4-BE49-F238E27FC236}">
                  <a16:creationId xmlns:a16="http://schemas.microsoft.com/office/drawing/2014/main" id="{B31B539E-A0EF-4DD7-3AAA-028B09D2DC88}"/>
                </a:ext>
              </a:extLst>
            </p:cNvPr>
            <p:cNvSpPr/>
            <p:nvPr/>
          </p:nvSpPr>
          <p:spPr>
            <a:xfrm>
              <a:off x="377675" y="2790488"/>
              <a:ext cx="2893751" cy="506676"/>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E87"/>
                  </a:solidFill>
                  <a:effectLst/>
                  <a:uLnTx/>
                  <a:uFillTx/>
                  <a:latin typeface="Poppins SemiBold"/>
                  <a:ea typeface="+mn-ea"/>
                  <a:cs typeface="+mn-cs"/>
                </a:rPr>
                <a:t>Objectives</a:t>
              </a:r>
            </a:p>
          </p:txBody>
        </p:sp>
      </p:grpSp>
      <p:grpSp>
        <p:nvGrpSpPr>
          <p:cNvPr id="38" name="Group 37">
            <a:extLst>
              <a:ext uri="{FF2B5EF4-FFF2-40B4-BE49-F238E27FC236}">
                <a16:creationId xmlns:a16="http://schemas.microsoft.com/office/drawing/2014/main" id="{49B97168-E2E9-9364-5B20-FB8D9270BC2F}"/>
              </a:ext>
            </a:extLst>
          </p:cNvPr>
          <p:cNvGrpSpPr/>
          <p:nvPr/>
        </p:nvGrpSpPr>
        <p:grpSpPr>
          <a:xfrm>
            <a:off x="2750708" y="2154813"/>
            <a:ext cx="4839705" cy="506676"/>
            <a:chOff x="377675" y="2790487"/>
            <a:chExt cx="3075565" cy="506676"/>
          </a:xfrm>
        </p:grpSpPr>
        <p:sp>
          <p:nvSpPr>
            <p:cNvPr id="39" name="Pentagon 43">
              <a:extLst>
                <a:ext uri="{FF2B5EF4-FFF2-40B4-BE49-F238E27FC236}">
                  <a16:creationId xmlns:a16="http://schemas.microsoft.com/office/drawing/2014/main" id="{07F8590A-0C6D-37BB-2FF1-E48A0477A3C9}"/>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Pentagon 42">
              <a:extLst>
                <a:ext uri="{FF2B5EF4-FFF2-40B4-BE49-F238E27FC236}">
                  <a16:creationId xmlns:a16="http://schemas.microsoft.com/office/drawing/2014/main" id="{9D2B759E-FB8B-E718-2A6D-5F13423FA885}"/>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1" name="Pentagon 40">
              <a:extLst>
                <a:ext uri="{FF2B5EF4-FFF2-40B4-BE49-F238E27FC236}">
                  <a16:creationId xmlns:a16="http://schemas.microsoft.com/office/drawing/2014/main" id="{D89BB247-9E71-D4F8-F44A-7ED94AA5E0DC}"/>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E87"/>
                  </a:solidFill>
                  <a:effectLst/>
                  <a:uLnTx/>
                  <a:uFillTx/>
                  <a:latin typeface="Poppins SemiBold"/>
                  <a:ea typeface="+mn-ea"/>
                  <a:cs typeface="+mn-cs"/>
                </a:rPr>
                <a:t>Methodology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