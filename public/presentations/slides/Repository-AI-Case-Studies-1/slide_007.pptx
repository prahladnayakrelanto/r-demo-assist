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Picture 2">
            <a:extLst>
              <a:ext uri="{FF2B5EF4-FFF2-40B4-BE49-F238E27FC236}">
                <a16:creationId xmlns:a16="http://schemas.microsoft.com/office/drawing/2014/main" id="{127A16C3-86E0-692F-E219-879AE80686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06" y="979042"/>
            <a:ext cx="3579641" cy="2013548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9C1F0B9-896F-43DF-B7D5-F4EBC58E3EAE}"/>
              </a:ext>
            </a:extLst>
          </p:cNvPr>
          <p:cNvSpPr txBox="1"/>
          <p:nvPr/>
        </p:nvSpPr>
        <p:spPr>
          <a:xfrm>
            <a:off x="362792" y="3140270"/>
            <a:ext cx="377088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Data Insight – Learning &amp; Development  | Leveraging Bridge IT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C47CE3D-EB13-600B-8AD8-74BD0E6F16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388952" y="979040"/>
            <a:ext cx="3579642" cy="2013549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684E607-FE1A-A398-96BF-BB453D5643D6}"/>
              </a:ext>
            </a:extLst>
          </p:cNvPr>
          <p:cNvSpPr txBox="1"/>
          <p:nvPr/>
        </p:nvSpPr>
        <p:spPr>
          <a:xfrm>
            <a:off x="4081493" y="3124366"/>
            <a:ext cx="40290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err="1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VizBot</a:t>
            </a: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 – Seller Comp | Leveraging Bridge IT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5FEBFEB-F01D-A5C8-BFFB-2692C18D911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14648" y="979041"/>
            <a:ext cx="3579642" cy="2013548"/>
          </a:xfrm>
          <a:prstGeom prst="rect">
            <a:avLst/>
          </a:prstGeom>
          <a:ln>
            <a:solidFill>
              <a:srgbClr val="002060"/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446D7CE-10F8-CE59-C479-1DE6DD3B6C26}"/>
              </a:ext>
            </a:extLst>
          </p:cNvPr>
          <p:cNvSpPr txBox="1"/>
          <p:nvPr/>
        </p:nvSpPr>
        <p:spPr>
          <a:xfrm>
            <a:off x="8162987" y="3124366"/>
            <a:ext cx="402901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156082"/>
                </a:solidFill>
                <a:effectLst/>
                <a:uLnTx/>
                <a:uFillTx/>
                <a:latin typeface="Poppins SemiBold"/>
                <a:ea typeface="+mn-ea"/>
                <a:cs typeface="+mn-cs"/>
              </a:rPr>
              <a:t>PRM - AI Ops/Case Assist | Leveraging CAMP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73EB9A5-B2BC-724A-E19B-1ED85A52ACEA}"/>
              </a:ext>
            </a:extLst>
          </p:cNvPr>
          <p:cNvSpPr txBox="1"/>
          <p:nvPr/>
        </p:nvSpPr>
        <p:spPr>
          <a:xfrm>
            <a:off x="538798" y="3564949"/>
            <a:ext cx="3269182" cy="2800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Challenge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How can non-technical users easily explore and analyze data using everyday language?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Solution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Simplify data access with natural language queries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Enable direct, informed decision-making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Benefits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Faster, streamlined decisions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Reduce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reliance on technical teams for routine data retrieval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User-centric, dynamic insights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Greater query flexibility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8A61DB-60DB-7906-7E40-B27EC1F5C6BD}"/>
              </a:ext>
            </a:extLst>
          </p:cNvPr>
          <p:cNvSpPr txBox="1"/>
          <p:nvPr/>
        </p:nvSpPr>
        <p:spPr>
          <a:xfrm>
            <a:off x="8469878" y="3456636"/>
            <a:ext cx="3269182" cy="313932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Challenge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Rapidly evolving PXP drives higher case counts, causing delays, inefficiencies, and rising support costs due to manual, layered processes.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1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Solution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Co-Pilot: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NLP conversational bot for real-time answers and guided troubleshooting.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Automated Ticketing: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Real-time tracking, classification, and routing via ServiceNow.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Benefits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Improved efficiency and reduced manual work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Lower operational costs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Faster, more accurate support leading to higher customer satisfaction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C27987-9AEE-63AC-5935-156D35791AE3}"/>
              </a:ext>
            </a:extLst>
          </p:cNvPr>
          <p:cNvSpPr txBox="1"/>
          <p:nvPr/>
        </p:nvSpPr>
        <p:spPr>
          <a:xfrm>
            <a:off x="4546624" y="3564949"/>
            <a:ext cx="3269182" cy="280076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Challenge</a:t>
            </a:r>
            <a:b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</a:b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How can partners easily explore and analyze their sales compensation data using everyday language?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Solution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Simplify data access with natural language queries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lt"/>
                <a:cs typeface="Poppins"/>
              </a:rPr>
              <a:t>Instantaneous 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FAQ resolution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>
                <a:ln>
                  <a:noFill/>
                </a:ln>
                <a:solidFill>
                  <a:srgbClr val="0E2841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Benefits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srgbClr val="0E2841"/>
              </a:solidFill>
              <a:effectLst/>
              <a:uLnTx/>
              <a:uFillTx/>
              <a:latin typeface="Poppins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Faster, streamlined decisions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Reduce</a:t>
            </a: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Poppins"/>
              </a:rPr>
              <a:t> reliance on technical teams for routine data retrieval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User-centric, dynamic insights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Poppins"/>
                <a:ea typeface="+mn-ea"/>
                <a:cs typeface="+mn-cs"/>
              </a:rPr>
              <a:t>Greater query flexibility</a:t>
            </a:r>
            <a:endParaRPr kumimoji="0" lang="en-US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Poppins"/>
              <a:ea typeface="+mn-ea"/>
              <a:cs typeface="Poppins"/>
            </a:endParaRPr>
          </a:p>
        </p:txBody>
      </p:sp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DF04AFAA-08B1-E790-525E-4CA20CE8A36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38798" y="244475"/>
            <a:ext cx="8944457" cy="558625"/>
          </a:xfrm>
        </p:spPr>
        <p:txBody>
          <a:bodyPr/>
          <a:lstStyle/>
          <a:p>
            <a:r>
              <a:rPr lang="en-IN"/>
              <a:t>AI Use Cases Implemented at Cisco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